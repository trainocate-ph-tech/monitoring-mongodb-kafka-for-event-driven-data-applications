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6.xml"/><Relationship Id="rId10" Type="http://schemas.openxmlformats.org/officeDocument/2006/relationships/slide" Target="slides/slide17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slide" Target="slides/slide23.xml"/><Relationship Id="rId17" Type="http://schemas.openxmlformats.org/officeDocument/2006/relationships/slide" Target="slides/slide24.xml"/><Relationship Id="rId18" Type="http://schemas.openxmlformats.org/officeDocument/2006/relationships/slide" Target="slides/slide25.xml"/><Relationship Id="rId19" Type="http://schemas.openxmlformats.org/officeDocument/2006/relationships/slide" Target="slides/slide26.xml"/><Relationship Id="rId20" Type="http://schemas.openxmlformats.org/officeDocument/2006/relationships/slide" Target="slides/slide27.xml"/><Relationship Id="rId21" Type="http://schemas.openxmlformats.org/officeDocument/2006/relationships/slide" Target="slides/slide28.xml"/><Relationship Id="rId22" Type="http://schemas.openxmlformats.org/officeDocument/2006/relationships/slide" Target="slides/slide29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8.xml"/><Relationship Id="rId32" Type="http://schemas.openxmlformats.org/officeDocument/2006/relationships/slide" Target="slides/slide39.xml"/><Relationship Id="rId33" Type="http://schemas.openxmlformats.org/officeDocument/2006/relationships/slide" Target="slides/slide40.xml"/><Relationship Id="rId34" Type="http://schemas.openxmlformats.org/officeDocument/2006/relationships/slide" Target="slides/slide41.xml"/><Relationship Id="rId35" Type="http://schemas.openxmlformats.org/officeDocument/2006/relationships/slide" Target="slides/slide42.xml"/><Relationship Id="rId36" Type="http://schemas.openxmlformats.org/officeDocument/2006/relationships/slide" Target="slides/slide43.xml"/><Relationship Id="rId37" Type="http://schemas.openxmlformats.org/officeDocument/2006/relationships/slide" Target="slides/slide44.xml"/><Relationship Id="rId38" Type="http://schemas.openxmlformats.org/officeDocument/2006/relationships/slide" Target="slides/slide45.xml"/><Relationship Id="rId39" Type="http://schemas.openxmlformats.org/officeDocument/2006/relationships/slide" Target="slides/slide46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49.xml"/><Relationship Id="rId43" Type="http://schemas.openxmlformats.org/officeDocument/2006/relationships/slide" Target="slides/slide50.xml"/><Relationship Id="rId44" Type="http://schemas.openxmlformats.org/officeDocument/2006/relationships/slide" Target="slides/slide51.xml"/><Relationship Id="rId45" Type="http://schemas.openxmlformats.org/officeDocument/2006/relationships/slide" Target="slides/slide52.xml"/><Relationship Id="rId46" Type="http://schemas.openxmlformats.org/officeDocument/2006/relationships/slide" Target="slides/slide53.xml"/><Relationship Id="rId47" Type="http://schemas.openxmlformats.org/officeDocument/2006/relationships/slide" Target="slides/slide54.xml"/><Relationship Id="rId48" Type="http://schemas.openxmlformats.org/officeDocument/2006/relationships/slide" Target="slides/slide55.xml"/><Relationship Id="rId49" Type="http://schemas.openxmlformats.org/officeDocument/2006/relationships/slide" Target="slides/slide56.xml"/><Relationship Id="rId50" Type="http://schemas.openxmlformats.org/officeDocument/2006/relationships/slide" Target="slides/slide57.xml"/><Relationship Id="rId51" Type="http://schemas.openxmlformats.org/officeDocument/2006/relationships/slide" Target="slides/slide58.xml"/><Relationship Id="rId52" Type="http://schemas.openxmlformats.org/officeDocument/2006/relationships/slide" Target="slides/slide59.xml"/><Relationship Id="rId53" Type="http://schemas.openxmlformats.org/officeDocument/2006/relationships/slide" Target="slides/slide60.xml"/><Relationship Id="rId54" Type="http://schemas.openxmlformats.org/officeDocument/2006/relationships/slide" Target="slides/slide61.xml"/><Relationship Id="rId55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65.xml"/><Relationship Id="rId59" Type="http://schemas.openxmlformats.org/officeDocument/2006/relationships/slide" Target="slides/slide66.xml"/><Relationship Id="rId60" Type="http://schemas.openxmlformats.org/officeDocument/2006/relationships/slide" Target="slides/slide67.xml"/><Relationship Id="rId61" Type="http://schemas.openxmlformats.org/officeDocument/2006/relationships/slide" Target="slides/slide68.xml"/><Relationship Id="rId62" Type="http://schemas.openxmlformats.org/officeDocument/2006/relationships/slide" Target="slides/slide69.xml"/><Relationship Id="rId63" Type="http://schemas.openxmlformats.org/officeDocument/2006/relationships/slide" Target="slides/slide70.xml"/><Relationship Id="rId64" Type="http://schemas.openxmlformats.org/officeDocument/2006/relationships/slide" Target="slides/slide71.xml"/><Relationship Id="rId65" Type="http://schemas.openxmlformats.org/officeDocument/2006/relationships/slide" Target="slides/slide72.xml"/><Relationship Id="rId66" Type="http://schemas.openxmlformats.org/officeDocument/2006/relationships/slide" Target="slides/slide73.xml"/><Relationship Id="rId67" Type="http://schemas.openxmlformats.org/officeDocument/2006/relationships/slide" Target="slides/slide74.xml"/><Relationship Id="rId68" Type="http://schemas.openxmlformats.org/officeDocument/2006/relationships/slide" Target="slides/slide75.xml"/><Relationship Id="rId69" Type="http://schemas.openxmlformats.org/officeDocument/2006/relationships/slide" Target="slides/slide76.xml"/><Relationship Id="rId70" Type="http://schemas.openxmlformats.org/officeDocument/2006/relationships/slide" Target="slides/slide77.xml"/><Relationship Id="rId71" Type="http://schemas.openxmlformats.org/officeDocument/2006/relationships/slide" Target="slides/slide78.xml"/><Relationship Id="rId72" Type="http://schemas.openxmlformats.org/officeDocument/2006/relationships/slide" Target="slides/slide79.xml"/><Relationship Id="rId73" Type="http://schemas.openxmlformats.org/officeDocument/2006/relationships/slide" Target="slides/slide80.xml"/><Relationship Id="rId74" Type="http://schemas.openxmlformats.org/officeDocument/2006/relationships/slide" Target="slides/slide81.xml"/><Relationship Id="rId75" Type="http://schemas.openxmlformats.org/officeDocument/2006/relationships/slide" Target="slides/slide82.xml"/><Relationship Id="rId76" Type="http://schemas.openxmlformats.org/officeDocument/2006/relationships/slide" Target="slides/slide83.xml"/><Relationship Id="rId77" Type="http://schemas.openxmlformats.org/officeDocument/2006/relationships/slide" Target="slides/slide84.xml"/><Relationship Id="rId78" Type="http://schemas.openxmlformats.org/officeDocument/2006/relationships/slide" Target="slides/slide85.xml"/><Relationship Id="rId79" Type="http://schemas.openxmlformats.org/officeDocument/2006/relationships/slide" Target="slides/slide86.xml"/><Relationship Id="rId80" Type="http://schemas.openxmlformats.org/officeDocument/2006/relationships/slide" Target="slides/slide87.xml"/><Relationship Id="rId81" Type="http://schemas.openxmlformats.org/officeDocument/2006/relationships/slide" Target="slides/slide2.xml"/><Relationship Id="rId82" Type="http://schemas.openxmlformats.org/officeDocument/2006/relationships/slide" Target="slides/slide3.xml"/><Relationship Id="rId83" Type="http://schemas.openxmlformats.org/officeDocument/2006/relationships/slide" Target="slides/slide4.xml"/><Relationship Id="rId84" Type="http://schemas.openxmlformats.org/officeDocument/2006/relationships/slide" Target="slides/slide5.xml"/><Relationship Id="rId85" Type="http://schemas.openxmlformats.org/officeDocument/2006/relationships/slide" Target="slides/slide6.xml"/><Relationship Id="rId86" Type="http://schemas.openxmlformats.org/officeDocument/2006/relationships/slide" Target="slides/slide7.xml"/><Relationship Id="rId87" Type="http://schemas.openxmlformats.org/officeDocument/2006/relationships/slide" Target="slides/slide8.xml"/><Relationship Id="rId88" Type="http://schemas.openxmlformats.org/officeDocument/2006/relationships/slide" Target="slides/slide9.xml"/><Relationship Id="rId89" Type="http://schemas.openxmlformats.org/officeDocument/2006/relationships/slide" Target="slides/slide10.xml"/><Relationship Id="rId90" Type="http://schemas.openxmlformats.org/officeDocument/2006/relationships/slide" Target="slides/slide11.xml"/><Relationship Id="rId91" Type="http://schemas.openxmlformats.org/officeDocument/2006/relationships/slide" Target="slides/slide12.xml"/><Relationship Id="rId92" Type="http://schemas.openxmlformats.org/officeDocument/2006/relationships/slide" Target="slides/slide13.xml"/><Relationship Id="rId93" Type="http://schemas.openxmlformats.org/officeDocument/2006/relationships/slide" Target="slides/slide14.xml"/><Relationship Id="rId94" Type="http://schemas.openxmlformats.org/officeDocument/2006/relationships/slide" Target="slides/slide15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[DRAFT] course PDF; README.md; USECASE.md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[DRAFT] course PDF; USECASE.md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Course primer; MongoDB concepts used throughout the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MongoDB primer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USECASE.md; Module2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MongoDB primer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MongoDB primer modeling guidance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MongoDB CRUD primer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README.md; mongodb/docker-compose.yml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KAFKA_UI_GUIDE.md; Kafbat UI v1.5.0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kafka/docker-compose.yml;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KAFKA_UI_EXERCISES.md Exercises 2–3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KAFKA_UI_GUIDE.md; Module3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KAFKA_UI_GUIDE.md; Module3/02-Consumer-Lag.md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KAFKA_UI_EXERCISES.md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F374E"/>
                </a:solidFill>
                <a:latin typeface="Aptos"/>
              </a:rPr>
              <a:t>Monitoring MongoDB and Apache Kafka
for Event-Driven Data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0632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One-day operations, monitoring, maintenance, and troubleshooting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822191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Northwind Outfitters order-processing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60167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Instructor deck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9601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47088"/>
            <a:ext cx="10332720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MongoDB for complete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320040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8F6EF"/>
                </a:solidFill>
                <a:latin typeface="Aptos"/>
              </a:rPr>
              <a:t>Documents, collections, relational-database comparisons, and basic CRUD with mongosh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" y="5358384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6052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Use the local mongodb_primer database; workshop data stays separate.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MongoDB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98480" cy="4983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MongoDB is a database that stores records as flexible, JSON-like documents rather than rows in fixed tables.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Documents are grouped into collections; collections belong to databases.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A document can contain strings, numbers, dates, arrays, nested objects, and references to other documents.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MongoDB provides indexes, aggregation, transactions, replication, security, and operational tooling expected from a production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44068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2297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Think: database → collection → document →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MongoDB compared with a relational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251960"/>
                <a:gridCol w="4572000"/>
              </a:tblGrid>
              <a:tr h="565785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Relational database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MongoDB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Primary structure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Tables containing rows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Collections containing documents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Record shape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Columns defined by a table schema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Fields can vary between documents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Relationships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Foreign keys and JOINs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Embedding, references, and $lookup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Query style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SQL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Document query and aggregation syntax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Identity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Primary key chosen by schema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Every document has a unique 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Transactions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A central modeling tool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Supported; often scoped around document/aggregate design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Scaling pattern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Often scale-up; vendor-specific scale-out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Built for replica sets and sharding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Neither model is universally better: choose based on data shape, access patterns, consistency, and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Translate familiar relational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37560"/>
                <a:gridCol w="5349240"/>
              </a:tblGrid>
              <a:tr h="565785"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Relational term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MongoDB term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Example in this course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Database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Database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workshop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Collection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orders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Document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One stored order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Column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customer_id or status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_id (plus business keys)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_id and unique order_id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Index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Index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customer_id_1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JOIN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$lookup or application/modeling choice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Usually not needed for the simple order flow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Collection names and field names are case-sensitive; use exact names in commands and runbooks.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A MongoDB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166360" cy="443484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08176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BSON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4800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{
  _id: ObjectId('...'),
  name: 'Ada Rivera',
  email: 'ada@example.com',
  active: true,
  skills: ['MongoDB', 'Kafka'],
  address: { city: 'Manila', country: 'PH' },
  enrolledAt: ISODate('2026-08-27T00:00:00Z')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98448"/>
            <a:ext cx="5349240" cy="44348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298448"/>
            <a:ext cx="73152" cy="44348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39"/>
            <a:ext cx="495604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What to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956815"/>
            <a:ext cx="4965192" cy="3630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Field names describe the data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Values have types—not just text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Arrays and nested objects are native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_id uniquely identifies the document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MongoDB stores BSON, a binary document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Flexible schema does not mean no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98448"/>
            <a:ext cx="3438144" cy="434340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73152" cy="4343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Relational instinct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56815"/>
            <a:ext cx="3054096" cy="35387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Normalize repeated data into tables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Use foreign keys for integrity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Join tables when reading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Apply one schema to every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298448"/>
            <a:ext cx="3438144" cy="434340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298448"/>
            <a:ext cx="73152" cy="434340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MongoDB choices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56815"/>
            <a:ext cx="3054096" cy="35387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Embed data read and changed together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Reference independent or unbounded data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Design around common access patterns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Use validation when fields must conform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298448"/>
            <a:ext cx="3438144" cy="434340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298448"/>
            <a:ext cx="73152" cy="434340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Operational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56815"/>
            <a:ext cx="3054096" cy="35387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Large documents have cost and limits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Indexes speed reads but cost writes/storage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Shape changes need compatibility planning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Correctness still needs explicit invariants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77900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861304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Start with the application’s read/write patterns, then choose embedding, references, and indexes.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CRUD: SQL and mongosh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60520"/>
                <a:gridCol w="5394960"/>
              </a:tblGrid>
              <a:tr h="754380"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Operation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Relational SQL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MongoDB / mongosh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Create container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CREATE TABLE learners (...);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db.createCollection('learners')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Insert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INSERT INTO learners ...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db.learners.insertOne({...})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Fetch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SELECT * FROM learners WHERE active=true;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db.learners.find({active: true})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UPDATE learners SET active=false WHERE email=...;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db.learners.updateOne({email: ...}, {$set: {active:false}})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DELETE FROM learners WHERE email=...;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db.learners.deleteOne({email: ...})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MongoDB filters and updates are documents. Operators such as $set, $inc, $in, and $gt begin with $.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Start MongoDB and open 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10789920" cy="434340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0784"/>
            <a:ext cx="10424160" cy="3794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# From the repository root: start MongoDB and wait for health
docker compose -f mongodb/docker-compose.yml up -d --wait
# Confirm the container is healthy
docker compose -f mongodb/docker-compose.yml ps
# Open mongosh inside the MongoDB container
docker compose -f mongodb/docker-compose.yml exec mongodb \
  mongosh 'mongodb://localhost:27017/?replicaSet=rs0&amp;directConnection=true'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77900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861304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The prompt stays open for the next examples. Type exit or press Ctrl+D to leave mongosh.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Navigate mongosh and create 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10789920" cy="434340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0784"/>
            <a:ext cx="10424160" cy="3794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// List databases currently visible
show dbs
// Select a database for this isolated primer
use mongodb_primer
// Print the current database name
db
// Create and inspect a collection
db.createCollection('learners')
show 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77900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861304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use selects a database; MongoDB creates storage when a collection or document is created.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Insert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66344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0424160" cy="41148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db.learners.insertOne({
  name: 'Ada Rivera',
  email: 'ada@example.com',
  active: true,
  level: 1,
  skills: ['MongoDB'],
  enrolledAt: new Date()
})
db.learners.insertMany([
  {name: 'Ben Santos', email: 'ben@example.com', active: true, level: 1},
  {name: 'Cara Lim', email: 'cara@example.com', active: false, level: 2}
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96188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6044183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Expected result: acknowledged: true and generated _id values. Keep email unique in this exercise.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Fetch and filter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66344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0424160" cy="41148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// Fetch every document
db.learners.find()
// Fetch one document by a business field
db.learners.findOne({email: 'ada@example.com'})
// Filter and return selected fields; hide _id
db.learners.find(
  {active: true, level: {$gte: 1}},
  {_id: 0, name: 1, email: 1, level: 1}
).sort({name: 1})
// Count matching documents
db.learners.countDocuments({active: true})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96188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6044183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The first document is the filter; the second is the projection of fields to return.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Update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66344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0424160" cy="41148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// Change selected fields without replacing the document
db.learners.updateOne(
  {email: 'ada@example.com'},
  {$set: {active: false}, $inc: {level: 1}, $addToSet: {skills: 'Kafka'}}
)
// Verify the result
db.learners.findOne(
  {email: 'ada@example.com'},
  {_id: 0, name: 1, active: 1, level: 1, skills: 1}
)
// Multiple matches require updateMany explicitly
db.learners.updateMany({active: false}, {$set: {reviewRequired: true}})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96188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6044183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Expected update result includes matchedCount and modifiedCount; inspect them before declaring success.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Delete documents and clean up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38912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0424160" cy="38404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// Inspect the exact target first
db.learners.find({email: 'cara@example.com'})
// Delete one matching document
db.learners.deleteOne({email: 'cara@example.com'})
// Verify the remaining documents
db.learners.find({}, {_id: 0, name: 1, email: 1}).sort({name: 1})
// Optional: remove only this primer database when finished
db.dropDatabase()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71500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B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79729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B03030"/>
                </a:solidFill>
                <a:latin typeface="Aptos"/>
              </a:rPr>
              <a:t>deleteMany({}) and dropDatabase() are destructive. Confirm db and filter before running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Primer practice: complete the CRUD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698480" cy="4983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1. Start MongoDB, open mongosh, and select mongodb_primer.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2. Create a courses collection and insert two course documents with title, durationHours, active, and topics fields.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3. Fetch active courses and project only title and durationHours.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4. Update one course with $set and $addToSet; verify matchedCount, modifiedCount, and the stored document.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5. Delete one course using a specific title filter; verify the remaining count.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6. Explain which parts resemble a relational table and which document features differ.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641848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24144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Keep the terminal open: the monitoring modules will reuse the same MongoDB client and concepts.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Course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Focus: operate and maintain MongoDB, Apache Kafka, and Kafka Connect in an event-driven data pipeline.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Practice: collect health and performance evidence, make controlled changes, and verify business flow after recovery.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Common incidents: slow queries, storage growth, broker or partition pressure, consumer lag, failed tasks, poison records, and data drift.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Capstone: produce an operations runbook with checks, alerts, owners, first-response steps, rollback, and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532120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Course habit: observe the problem before fixing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Who this course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Target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Operations, platform, and support engineers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MongoDB administrators and data engineers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Application support teams for event-driven systems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Technical leads defining operational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Prerequisites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MongoDB collections, indexes, and query basics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Kafka topics, partitions, producers, consumers, offsets, and groups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Comfort with command-line tools, logs, and monitoring systems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Recommended: Docker, VS Code, Git, and a local sandbox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Identify key MongoDB, Kafka, and Kafka Connect health indicators.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Interpret database growth, query plans, replication state, and backup evidence.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Interpret broker/topic health, partition distribution, offsets, lag, throughput, and lifecycle configuration.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Diagnose failed connector tasks, retries, malformed records, and DLQ behavior.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Perform scoped maintenance with prechecks, abort criteria, rollback, and post-change validation.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Build a usable operations runbook and maintenance checklist.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One-day course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766560"/>
                <a:gridCol w="2377440"/>
              </a:tblGrid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Block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Focus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Approx. time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Module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Operational architecture and evidence-first triage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60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Module 2 + Lab 1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MongoDB monitoring, query performance, maintenance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75 min + lab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Module 3 + Lab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Kafka health, lag, lifecycle, failure signatures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75 min + lab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Module 4 + Lab 3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Kafka Connect and MongoDB connector operations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90 min + lab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Final activity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Operations runbook and maintenance checklist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60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r>
              <a:rPr sz="1220" b="1">
                <a:solidFill>
                  <a:srgbClr val="1F7A56"/>
                </a:solidFill>
                <a:latin typeface="Aptos"/>
              </a:rPr>
              <a:t>For new learners: begin with the MongoDB primer before Module 1 and the Kafbat visual primer before Module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Required tools and workshop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Docker Desktop or Docker Engine with Compose v2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Python 3.10+ virtual environment and dependencies from demo/requirements.txt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MongoDB replica-set container, single-node Kafka KRaft broker, and Kafka Connect worker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mongosh, Kafka command-line utilities, curl, jq, Git, and a text editor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Two or more terminal windows for producers, consumers, monitors, and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99432"/>
            <a:ext cx="10789920" cy="114300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718304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PREFLIGHT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056632"/>
            <a:ext cx="10387584" cy="5577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docker --version
docker compose version
python3 --version
jq --version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Workshop use case: Northwind Outfitters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Checkout publishes an order.created event when a customer completes a purchase.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Kafka stores and partitions the events; an order processor consumes them.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processor transforms each event and upserts a support-facing order document into MongoDB.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Module 4 adds the official MongoDB Kafka source and sink connectors using isolated collections.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532120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Business question: how quickly and correctly do acknowledged orders become queryable?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Northwind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1965960" cy="1051560"/>
          </a:xfrm>
          <a:prstGeom prst="roundRect">
            <a:avLst/>
          </a:prstGeom>
          <a:solidFill>
            <a:srgbClr val="E8F1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22576"/>
            <a:ext cx="1819656" cy="777239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Dummy orders
orders.jsonl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1874519" cy="1051560"/>
          </a:xfrm>
          <a:prstGeom prst="roundRect">
            <a:avLst/>
          </a:prstGeom>
          <a:solidFill>
            <a:srgbClr val="F4F6F8"/>
          </a:solidFill>
          <a:ln>
            <a:solidFill>
              <a:srgbClr val="1F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322576"/>
            <a:ext cx="1728216" cy="777239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F374E"/>
                </a:solidFill>
                <a:latin typeface="Aptos"/>
              </a:rPr>
              <a:t>Producer
producer.py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103120"/>
            <a:ext cx="2148840" cy="1051560"/>
          </a:xfrm>
          <a:prstGeom prst="roundRect">
            <a:avLst/>
          </a:prstGeom>
          <a:solidFill>
            <a:srgbClr val="E8F1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322576"/>
            <a:ext cx="2002536" cy="777239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Kafka
workshop-orders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103120"/>
            <a:ext cx="1874519" cy="1051560"/>
          </a:xfrm>
          <a:prstGeom prst="roundRect">
            <a:avLst/>
          </a:prstGeom>
          <a:solidFill>
            <a:srgbClr val="F4F6F8"/>
          </a:solidFill>
          <a:ln>
            <a:solidFill>
              <a:srgbClr val="1F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22576"/>
            <a:ext cx="1728216" cy="777239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F374E"/>
                </a:solidFill>
                <a:latin typeface="Aptos"/>
              </a:rPr>
              <a:t>Consumer
consumer.py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103120"/>
            <a:ext cx="1783080" cy="1051560"/>
          </a:xfrm>
          <a:prstGeom prst="roundRect">
            <a:avLst/>
          </a:prstGeom>
          <a:solidFill>
            <a:srgbClr val="EFF8F3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2952" y="2322576"/>
            <a:ext cx="1636776" cy="777239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F7A56"/>
                </a:solidFill>
                <a:latin typeface="Aptos"/>
              </a:rPr>
              <a:t>MongoDB
workshop.orders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3957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3957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3957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3957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3886200"/>
            <a:ext cx="1508760" cy="685800"/>
          </a:xfrm>
          <a:prstGeom prst="roundRect">
            <a:avLst/>
          </a:prstGeom>
          <a:solidFill>
            <a:srgbClr val="FDF5EB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2" y="4014215"/>
            <a:ext cx="1353312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B46914"/>
                </a:solidFill>
                <a:latin typeface="Aptos"/>
              </a:rPr>
              <a:t>DLQ 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32461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F374E"/>
                </a:solidFill>
                <a:latin typeface="Aptos"/>
              </a:rPr>
              <a:t>Key = customer_id • Group = workshop-order-processor • Idempotency key = order_id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Order event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069080"/>
                <a:gridCol w="1371600"/>
                <a:gridCol w="40690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Operational purpose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Operational purpose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event_type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Identifies order.created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event_id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Unique published event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order_id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Business/idempotency key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customer_id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Kafka key and support lookup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product_id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Ordered item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quantity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Number of units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unit_price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Price per unit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region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Fulfillment region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created_at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Source event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processed_at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Sink processing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Processing state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total_amount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Derived quantity × price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Use order_id for replay-safe upserts; use created_at vs. processed_at to observe end-to-end delay.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Operational objectives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Do not lose acknowledged checkout messages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Preserve per-customer ordering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Keep processing delay within the support expectation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Make replay idempotent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Keep customer lookups efficient as data grows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Separate broker, worker, application, and database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Lab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Single Kafka broker and replication factor 1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One-member MongoDB replica set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Single Kafka Connect worker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Local, unsecured networking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No production failover or zero-downtime rolling restart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Production controls must be added to the runbook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The evidence-first operating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874519" cy="150876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384048" cy="38404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374E"/>
                </a:solidFill>
                <a:latin typeface="Aptos"/>
              </a:rPr>
              <a:t>Create or detect
a controlled 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965960"/>
            <a:ext cx="1874519" cy="150876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139696"/>
            <a:ext cx="384048" cy="38404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374E"/>
                </a:solidFill>
                <a:latin typeface="Aptos"/>
              </a:rPr>
              <a:t>Collect evidence
from every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965960"/>
            <a:ext cx="1874519" cy="150876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139696"/>
            <a:ext cx="384048" cy="38404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374E"/>
                </a:solidFill>
                <a:latin typeface="Aptos"/>
              </a:rPr>
              <a:t>Identify the first
unhealthy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1965960"/>
            <a:ext cx="1874519" cy="150876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139696"/>
            <a:ext cx="384048" cy="38404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374E"/>
                </a:solidFill>
                <a:latin typeface="Aptos"/>
              </a:rPr>
              <a:t>Correct only that
layer or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5420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965960"/>
            <a:ext cx="1874519" cy="150876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139696"/>
            <a:ext cx="384048" cy="38404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374E"/>
                </a:solidFill>
                <a:latin typeface="Aptos"/>
              </a:rPr>
              <a:t>Verify signals and
business outcome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9204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98347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Command success is not operational validation; prove the pipeline's intended result.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Operational Architecture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6F0FA"/>
                </a:solidFill>
                <a:latin typeface="Aptos"/>
              </a:rPr>
              <a:t>Trace the flow, assign responsibility, control changes, and recognize failure signatures.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3492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96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 first • change only what the evidence supports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Core event-driven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5029200"/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Meaning in this workshop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Operational question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Partition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Ordered append-only part of a topic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Does it have a leader and balanced load?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Offset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Record position within one partition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Where is the group relative to the end?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Consumer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Consumers sharing work and saved progress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Who owns each partition?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Lag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End offset − committed offset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Is the backlog moving or stalled?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Upsert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Update or insert by order_id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Can a replay avoid duplicates?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DLQ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Preserved unprocessable records plus context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E293B"/>
                          </a:solidFill>
                          <a:latin typeface="Aptos"/>
                        </a:rPr>
                        <a:t>Who alerts, corrects, and replays?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Trace one event across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234440"/>
          <a:ext cx="1095451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63240"/>
                <a:gridCol w="3337560"/>
                <a:gridCol w="2862072"/>
              </a:tblGrid>
              <a:tr h="8001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Healthy invariant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it does not prove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Producer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Delivery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20 expected = 20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Consumer or MongoDB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 topic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Description + end offsets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3 leaders; offset sum +20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Consumer progress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Consumer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Current/end offsets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Committed = end; lag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Document correctness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MongoDB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Count + sample document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20 docs; derived fields valid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No future lag or drift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Business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Trace order_id end to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Same identity and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Capacity or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Offsets, lag,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2B6CB0"/>
                </a:solidFill>
                <a:latin typeface="Aptos"/>
              </a:rPr>
              <a:t>Consumer lag = log end offset − committed next-read offset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3246120" cy="23317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73152" cy="2331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2834639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71800"/>
            <a:ext cx="2862072" cy="15544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Partition 0 end offset: 120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Group committed offset: 95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Lag: 25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331720"/>
            <a:ext cx="3246120" cy="23317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2331720"/>
            <a:ext cx="73152" cy="233172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496312"/>
            <a:ext cx="2834639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Interpret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62072" cy="15544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End fixed + commits rising = draining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Both rise equally = keeping up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End rises faster = throughput deficit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Commits fixed + lag &gt; 0 = stall or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2331720"/>
            <a:ext cx="3246120" cy="23317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2331720"/>
            <a:ext cx="73152" cy="233172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496312"/>
            <a:ext cx="2834639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971800"/>
            <a:ext cx="2862072" cy="15544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Offsets are per partition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Zero lag does not prove correct MongoDB data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No commits may mean the group does not yet exist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Idempotency and write-before-commit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423160" cy="1463040"/>
          </a:xfrm>
          <a:prstGeom prst="roundRect">
            <a:avLst/>
          </a:prstGeom>
          <a:solidFill>
            <a:srgbClr val="E8F1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94560"/>
            <a:ext cx="2203704" cy="32918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B6CB0"/>
                </a:solidFill>
                <a:latin typeface="Aptos"/>
              </a:rPr>
              <a:t>1.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0048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Consume Kafka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65960"/>
            <a:ext cx="2423160" cy="1463040"/>
          </a:xfrm>
          <a:prstGeom prst="roundRect">
            <a:avLst/>
          </a:prstGeom>
          <a:solidFill>
            <a:srgbClr val="F4F6F8"/>
          </a:solidFill>
          <a:ln>
            <a:solidFill>
              <a:srgbClr val="1F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2194560"/>
            <a:ext cx="2203704" cy="32918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F374E"/>
                </a:solidFill>
                <a:latin typeface="Aptos"/>
              </a:rPr>
              <a:t>2.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670048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Add total_amount, status, processed_at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65960"/>
            <a:ext cx="2423160" cy="1463040"/>
          </a:xfrm>
          <a:prstGeom prst="roundRect">
            <a:avLst/>
          </a:prstGeom>
          <a:solidFill>
            <a:srgbClr val="EFF8F3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194560"/>
            <a:ext cx="2203704" cy="32918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F7A56"/>
                </a:solidFill>
                <a:latin typeface="Aptos"/>
              </a:rPr>
              <a:t>3. Upsert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670048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Write MongoDB by order_id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965960"/>
            <a:ext cx="2423160" cy="1463040"/>
          </a:xfrm>
          <a:prstGeom prst="roundRect">
            <a:avLst/>
          </a:prstGeom>
          <a:solidFill>
            <a:srgbClr val="FDF5EB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194560"/>
            <a:ext cx="2203704" cy="32918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B46914"/>
                </a:solidFill>
                <a:latin typeface="Aptos"/>
              </a:rPr>
              <a:t>4.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670048"/>
            <a:ext cx="2093976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Save Kafka next-read offset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10149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If a crash occurs after the write but before commit, the record may be delivered again.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Upserting by order_id makes that replay produce one logical order rather than a duplicate.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Operational responsibility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577840"/>
                <a:gridCol w="3429000"/>
              </a:tblGrid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Typical responsibility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First 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Producer 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Event shape, key, delivery, rate, business semantics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Producer output and app logs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Kafka broker/topic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Availability, leaders, replicas, partitions, retention, disk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Topic description, logs, end offsets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Connector/consumer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Config, task state, transformation, retry, offset, DLQ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REST/status, group state, trace, DLQ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MongoDB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Primary state, writes, storage, indexes, queries, backup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Replica health, stats, explain, logs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Data/business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Completeness, field validity, timing, replay authorization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Reconciliation and data-quality checks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Ownership narrows the first response; cross-layer incidents still require collaboration.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Layered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1. Confirm the reported business symptom and its time window.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2. Check producer acknowledgements and topic end-offset movement.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3. Check broker/topic leaders, replicas/ISR, disk, and errors.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4. Check consumer/connector membership, task state, committed-offset movement, lag, and traces.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5. Check MongoDB writable-primary state, write errors, query health, and recent documents.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6. Preserve the pre-change configuration and evidence; correct the first unhealthy layer.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70">
                <a:solidFill>
                  <a:srgbClr val="1E293B"/>
                </a:solidFill>
                <a:latin typeface="Aptos"/>
              </a:defRPr>
            </a:pPr>
            <a:r>
              <a:t>7. Verify offsets, task state, counts, fields, DLQ, and the original business symptom.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Change control: minimum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Before the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Scope and owner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Reason and expected benefit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Current config and health baseline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Risk, maintenance window, and dependencies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Success and abort criteria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Exact rollback artifact or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After the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Command/API result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Component health and logs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Offset continuity and lag recovery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Query plan or storage effect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Data count/field reconciliation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Recorded decision: keep, abort, or roll back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Typical failure signatures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291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Symptom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Likely affected layer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Primary 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Targeted response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COLLSCAN / high examined:return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MongoDB query/index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executionStats + profiler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Review and validate index 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One partition dominates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Producer key/topic design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Per-partition offsets/bytes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Fix key cardinality or partition plan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Lag with moving commits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Consumer capacity/downstream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Offset rates + dependency latency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Remove bottleneck/add sustainable capacity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Poison record / task FAILED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Worker processing stage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Trace + source offset + DLQ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Correct policy; restart failed task only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Counts normal, field 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Data correctness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Field-level reconciliation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1E293B"/>
                          </a:solidFill>
                          <a:latin typeface="Aptos"/>
                        </a:rPr>
                        <a:t>Approved repair/replay from source of truth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Module 1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Can you trace one order from producer acknowledgement to a correct MongoDB document?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Can you explain what topic health, group lag, and zero lag each do—and do not—prove?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Can you name the first evidence and owner for each operational layer?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Can you distinguish an inefficient query, hot partition, throughput deficit, poison record, and data drift?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Can you state the rollback and verification evidence before making a change?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MongoDB Monitoring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6F0FA"/>
                </a:solidFill>
                <a:latin typeface="Aptos"/>
              </a:rPr>
              <a:t>Measure growth, interpret query work, manage indexes, prove restore readiness, and design actionable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3492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96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 first • change only what the evidence supports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Module 2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Measure database, collection, index, and storage growth at two points.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Correlate profiler evidence with executionStats and query shape.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Propose, validate, monitor, and roll back an index change.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Prove writable-primary state, replica status, backup creation, and isolated restore.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Translate MongoDB signals into alerts with duration, owner, and first action.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MongoDB growth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2062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What it represents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Operational use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Logical document count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Business workload 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size / dataSize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Logical document bytes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Data growth rate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storageSize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Allocated collection 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Allocation and compression behavior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totalIndexSize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Bytes used by all indexes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Index cost and capacity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Filesystem usage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Journal, oplog, indexes, metadata, free 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Time until volume limit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Process stats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CPU, memory, network, block I/O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Resource pressure correlation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A point-in-time size is not a trend. Measure a delta and forecast against an operational limit.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Measure growth at two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10789920" cy="356616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17319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10387584" cy="29809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# Baseline at 100 documents
python demo/monitor_mongodb.py snapshot
python demo/inspect_mongodb.py stats
# Add and process 400 more orders
python demo/producer.py --repeat 20 --interval-ms 0
python demo/consumer.py --max-messages 400
python demo/monitor_mongodb.py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1206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Calculate document, logical-data, allocated-storage, and index-size deltas.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Forecast time to a defined disk threshold; do not equate collection bytes with filesystem use.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Slow-query evidence: latency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98448"/>
            <a:ext cx="3456432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73152" cy="42519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3072384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Enable profiling briefly and deliberately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Capture namespace, command/query shape, timestamp, and runtime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Disable profiling immediately after the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298448"/>
            <a:ext cx="3456432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298448"/>
            <a:ext cx="73152" cy="425196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72384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Read winning plan stages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Compare totalDocsExamined and nReturned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Compare totalKeysExamined and returned rows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Correlate with the same query shape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298448"/>
            <a:ext cx="3456432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298448"/>
            <a:ext cx="73152" cy="425196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63039"/>
            <a:ext cx="3044951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Interpret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1938528"/>
            <a:ext cx="3072384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COLLSCAN + high examined:return = inefficient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Fast execution on a small dataset can still be wasteful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 log miss does not override profiler/explain evidence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Capture and read a query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10789920" cy="425196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17319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10387584" cy="36667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python demo/inspect_mongodb.py drop-index
mongosh ... --eval 'db.setProfilingLevel(1, {slowms: 0, sampleRate: 1})'
python demo/inspect_mongodb.py query --customer-id CUST-1001
mongosh ... --eval 'db.setProfilingLevel(0)'
python demo/monitor_mongodb.py profile --limit 5
python demo/inspect_mongodb.py query --customer-id CUST-1001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96712"/>
            <a:ext cx="10607040" cy="420624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788152"/>
            <a:ext cx="10277856" cy="28346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Expected evidence: COLLSCAN, all or many documents examined, and zero index keys.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Index maintenance as a controlled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920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1920240" cy="53035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9222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50592"/>
            <a:ext cx="1609344" cy="16916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Aptos"/>
              </a:rPr>
              <a:t>Correct results; COLLSCAN; examined:return; index bytes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64208"/>
            <a:ext cx="1920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1664208"/>
            <a:ext cx="1920240" cy="53035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79222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50592"/>
            <a:ext cx="1609344" cy="16916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Aptos"/>
              </a:rPr>
              <a:t>{customer_id: 1}; name customer_id_1; benefit and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1664208"/>
            <a:ext cx="1920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93792" y="1664208"/>
            <a:ext cx="1920240" cy="53035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179222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50592"/>
            <a:ext cx="1609344" cy="16916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Aptos"/>
              </a:rPr>
              <a:t>Create index under approved scope and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3" y="1664208"/>
            <a:ext cx="1920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07223" y="1664208"/>
            <a:ext cx="1920240" cy="53035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5" y="179222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450592"/>
            <a:ext cx="1609344" cy="16916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Aptos"/>
              </a:rPr>
              <a:t>IXSCAN/FETCH; fewer documents examined; correct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0655" y="1664208"/>
            <a:ext cx="1920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0655" y="1664208"/>
            <a:ext cx="1920240" cy="53035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179222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3" y="2450592"/>
            <a:ext cx="1609344" cy="16916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Aptos"/>
              </a:rPr>
              <a:t>$indexStats usage; storage/write cost; rollback boundary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30368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321807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Review unused indexes over time; do not delete automatically from one zero-use snapshot.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Replication and availability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What to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Replica-set name and expected members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isWritablePrimary / member state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Member health and optime movement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Replication lag and elections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Connections and write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Lab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rs0 has one PRIMARY member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It accepts writes and supports change streams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It has no redundant copy or failover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 green single node is still a major availability risk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Production maintenance requires healthy redundancy first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Backup readiness requires a tested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342900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53312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10387584" cy="28437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export BACKUP_NAME='workshop-&lt;UTC timestamp&gt;.archive'
mongodump --uri 'mongodb://localhost:27017/?replicaSet=rs0&amp;directConnection=true' \
  --db workshop --archive="/backups/$BACKUP_NAME" --gzip
mongorestore --uri 'mongodb://localhost:27017/?replicaSet=rs0&amp;directConnection=true' \
  --archive="/backups/$BACKUP_NAME" --gzip \
  --nsFrom='workshop.*' --nsTo='workshop_restore.*' --drop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864608"/>
            <a:ext cx="10561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Verify archive exists and is nonzero; restore with zero failures into an isolated namespace.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Compare source/restored counts and required indexes; then remove only workshop_restore.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This local drill does not prove PITR, encryption, off-host copies, retention, or production recovery time.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MongoDB capacity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Measure collection, index, oplog, backup, and filesystem growth separately.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Track connections, cache and memory behavior, operation rates, and write/read latency.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Calculate remaining capacity and time-to-limit using a representative rate, not a single snapshot.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Escalate when the forecast enters the time needed to investigate, approve, and add capacity.</a:t>
            </a:r>
          </a:p>
          <a:p>
            <a:pPr>
              <a:lnSpc>
                <a:spcPct val="105000"/>
              </a:lnSpc>
              <a:spcAft>
                <a:spcPts val="13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Preserve evidence before emergency cleanup; never delete data, indexes, or logs reflexively.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62355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Largest lab risk: the only database member is also the only copy and the only write target.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MongoDB alert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846320"/>
                <a:gridCol w="42062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Actionable condition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Owner / first action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Writable primary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False when writes are expected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DBA: inspect member state and elections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Disk forecast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Limit crossed inside response window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Platform/DBA: identify growth and add capacity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Query efficiency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Sustained high examined:return for important shape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DBA/app: inspect plan and workload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Connections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Sustained use near configured/platform limit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DBA/app: inspect pools and leaks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Replication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Unhealthy member or growing optime 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DBA: protect redundancy before maintenance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Backup readiness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Backup/restore validation overdue or failed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1E293B"/>
                          </a:solidFill>
                          <a:latin typeface="Aptos"/>
                        </a:rPr>
                        <a:t>Backup owner: investigate before declaration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Each alert needs condition, duration, severity, scope, evidence, owner, and first response.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Hands-on Lab 1: MongoDB health and query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Review database, collection, index, and filesystem statistics in the sample environment.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Capture an inefficient customer lookup and identify its plan and examined:return ratio.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Propose and apply customer_id_1 as a controlled maintenance action.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Prove correct results, IXSCAN/FETCH, reduced work, index presence, and usage evidence.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Create a short health-check checklist covering availability, performance, capacity, and backup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2355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Submit commands, raw evidence, interpretation, rollback, and post-change verification.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Lab 1 deliverable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Minimum acceptance criteria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Growth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Before/after document and byte deltas; explain filesystem difference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Query regression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Namespace, shape, plan, returned/examined values, profiling disabled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Index 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Justification, benefit/cost, IXSCAN proof, rollback, usage counter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Restore readiness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Archive, isolated restore, count/index equivalence, stated limitations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Health checklist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Storage, indexes, query, replication, connections, backup, logs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Alerts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At least four with duration, owner, and first action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Kafka Monitoring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6F0FA"/>
                </a:solidFill>
                <a:latin typeface="Aptos"/>
              </a:rPr>
              <a:t>Prove topic health, interpret offset movement, manage lifecycle settings, and separate stalls from throughput deficits.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3492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96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 first • change only what the evidence supports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Module 3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Prove broker response, partition leader/replica/ISR state, topic structure, throughput, and disk evidence.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Explain lag through end-offset and committed-offset movement.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Review retention, compaction, and topic lifecycle changes safely.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Distinguish hot partitions, stalled consumers, throughput deficits, and actual broker pressure.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Design actionable Kafka alerts with duration, owner, and first response.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Broker and topic health are separate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41605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73152" cy="41605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Broker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65960"/>
            <a:ext cx="3044952" cy="33832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API responds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Controller/metadata available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CPU, memory, network, disk,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29000" cy="41605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416052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490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Topic / partitions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044952" cy="33832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Expected partition count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Leader for every partition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Approved replicas and ISR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Effective topic 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325880"/>
            <a:ext cx="3429000" cy="416052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25880"/>
            <a:ext cx="73152" cy="416052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490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965960"/>
            <a:ext cx="3044952" cy="338327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End-offset movement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Records/bytes per second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Per-partition distribution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Consumer progress and 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1500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06440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A partition leader proves it can be served—not that consumers are current or MongoDB is correct.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Establish a topic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333756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44752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83080"/>
            <a:ext cx="10387584" cy="27523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kafka-broker-api-versions.sh --bootstrap-server localhost:9092
kafka-topics.sh --bootstrap-server localhost:9092 \
  --describe --topic workshop-orders
kafka-get-offsets.sh --bootstrap-server localhost:9092 \
  --topic workshop-orders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Expected lab invariant: 3 partitions; broker 1 is leader, replica, and ISR for each.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Replication factor 1 is a local training constraint, not a production availability design.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Measure short-run record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Capture start timestamp and per-partition end offsets.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Produce a known batch—for example, 2,000 records.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Capture end timestamp and end offsets.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Estimate records/second = total offset delta ÷ elapsed seconds.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Correlate with disk bytes and process CPU/memory/I/O; this is not broker byte-rate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532120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Growing offsets prove Kafka accepted records; they do not prove downstream completion.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Diagnose lag from offset movement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00400"/>
                <a:gridCol w="4937760"/>
              </a:tblGrid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End offsets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Committed offsets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Likely interpretation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 equally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Consumer is keeping 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 more slowly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Consumer throughput deficit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Existing backlog is draining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Increasing or fixed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Stopped, blocked, failed, or rebalancing consumer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Equal to 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Aptos"/>
                        </a:rPr>
                        <a:t>Caught up; no Kafka backlog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Correlate lag with group membership, worker errors, downstream latency, and partition distribution.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Consumer-group membership and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233172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44752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83080"/>
            <a:ext cx="10387584" cy="1746503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kafka-consumer-groups.sh --bootstrap-server localhost:9092 \
  --group workshop-order-processor --describe
kafka-consumer-groups.sh --bootstrap-server localhost:9092 \
  --group workshop-order-processor --describe --members --verbose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9352"/>
            <a:ext cx="10469880" cy="160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While running, members own partition assignments; after exit, membership disappears but commits remain.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Before the first commit, the CLI may report that the group does not exist even when topic data exists.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Brief rebalances are normal; alert on sustained lack of progress, not every transition.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Partition skew and key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44168"/>
            <a:ext cx="5230368" cy="429768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44168"/>
            <a:ext cx="73152" cy="429768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08760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Hot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4846320" cy="35204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Constant key sends nearly all 1,000 records to one partition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Limits consumer parallelism to that partition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Can concentrate bytes, requests, and lag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Evidence: per-partition offsets/bytes and skew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344168"/>
            <a:ext cx="5230368" cy="429768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344168"/>
            <a:ext cx="73152" cy="429768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08760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Better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984248"/>
            <a:ext cx="4846320" cy="35204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customer_id offers higher cardinality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Preserves per-customer ordering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Distributes load across more partitions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Good balance is measured, not assumed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742432"/>
            <a:ext cx="10607040" cy="393192"/>
          </a:xfrm>
          <a:prstGeom prst="roundRect">
            <a:avLst/>
          </a:prstGeom>
          <a:solidFill>
            <a:srgbClr val="F2F9F6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33872"/>
            <a:ext cx="10277856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2B6CB0"/>
                </a:solidFill>
                <a:latin typeface="Aptos"/>
              </a:rPr>
              <a:t>Key cardinality and ordering requirements are producer/data-design decisions—not broker-restart problems.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Retention, compaction,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Topic values may inherit broker defaults; an absent override does not mean unlimited retention.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delete removes eligible old segments according to retention; cleanup is asynchronous.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compact retains the latest value per key over time; tombstones represent deletions.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compact,delete combines latest-state compaction with time/size-based deletion.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Test risky lifecycle changes only on an isolated topic; record the old config and rollback by removing overrides.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92040"/>
            <a:ext cx="10789920" cy="96012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010912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REVIEWED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349240"/>
            <a:ext cx="10387584" cy="37490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kafka-configs.sh ... --entity-name workshop-lifecycle --alter \
  --add-config 'cleanup.policy=[compact,delete],retention.ms=604800000'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Kafka failure signatures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31720"/>
                <a:gridCol w="3154680"/>
                <a:gridCol w="3337560"/>
              </a:tblGrid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Aptos"/>
                        </a:rPr>
                        <a:t>Symptom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Aptos"/>
                        </a:rPr>
                        <a:t>Recovery principle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One partition dominates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Offsets/bytes/skew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Key-cardinality or partition design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Fix key or approved partition plan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Lag fixed above zero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Two snapshots; commits fixed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Stopped/blocked/failed/rebalancing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Restore or unblock consumer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Lag grows; commits move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End rate &gt; commit 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Throughput deficit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Remove bottleneck/add capacity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CPU/disk/errors high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Resource stats + logs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Measured broker pressure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Protect capacity; diagnose root cause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Unexpected retention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Effective topic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Lifecycle drift / data-loss risk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0" b="0">
                          <a:solidFill>
                            <a:srgbClr val="1E293B"/>
                          </a:solidFill>
                          <a:latin typeface="Aptos"/>
                        </a:rPr>
                        <a:t>Restore approved override/default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Do not claim broker pressure from an imbalanced workload alone; require resource or error evidence.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Kafka alert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754880"/>
                <a:gridCol w="4297680"/>
              </a:tblGrid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Owner / first action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Leader availability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Any expected partition has no leader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Kafka owner: inspect broker/controller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ISR/replicas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ISR below approved replica count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Kafka owner: protect redundancy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Stalled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Lag sustained and commits do not move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Consumer owner: inspect membership/errors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Throughput deficit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Lag grows while commits and end move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App/platform: compare rates/dependencies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Disk forecast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Log-dir limit inside response window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Kafka/platform: identify growth/add capacity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Partition skew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One partition persistently dominates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Producer/data owner: review key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Lifecycle drift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Effective config differs from approved policy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Aptos"/>
                        </a:rPr>
                        <a:t>Kafka owner: review and roll back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Hands-on Lab 2: Diagnose consumer lag and topic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Inspect brokers, topics, partitions, leaders, replicas/ISR, end offsets, disk, and process resources.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Create a backlog and classify it using two or more offset snapshots.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Distinguish a draining backlog, a stalled group, and a throughput deficit.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Create a hot-key workload and compare per-partition distribution with customer keying.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Review retention/compaction settings and identify lifecycle risks.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Create a short Kafka health-check and alert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41848"/>
            <a:ext cx="10607040" cy="420624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733288"/>
            <a:ext cx="10277856" cy="28346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Record exact topic, group, partition, offsets, duration, interpretation, owner, and first action.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Lab 2 deliverable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732520"/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Aptos"/>
                        </a:rPr>
                        <a:t>Minimum acceptance criteria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Topic health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Leaders, replicas/ISR, partition count, offsets, disk/resource evidence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Lag classification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At least two snapshots; end/commit movement and likely cause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Partition skew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Per-partition distribution and key-cardinality explanation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Lifecycle review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Effective settings, risk, reviewed change, rollback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Restart/persistence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Explain retained records and durable committed progress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Alert checklist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E293B"/>
                          </a:solidFill>
                          <a:latin typeface="Aptos"/>
                        </a:rPr>
                        <a:t>Leader, ISR, stall, deficit, disk, skew, lifecycle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Kafka Connect and MongoDB Connector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6F0FA"/>
                </a:solidFill>
                <a:latin typeface="Aptos"/>
              </a:rPr>
              <a:t>Inspect worker and task health, validate configuration, handle failures and DLQs, reconcile data, and plan safe upgrades.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3492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96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 first • change only what the evidence supports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Module 4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920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1">
                <a:solidFill>
                  <a:srgbClr val="1F7A56"/>
                </a:solidFill>
                <a:latin typeface="Aptos"/>
              </a:rPr>
              <a:t>MongoDB source
connector_source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587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148840"/>
            <a:ext cx="1920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4048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1">
                <a:solidFill>
                  <a:srgbClr val="2B6CB0"/>
                </a:solidFill>
                <a:latin typeface="Aptos"/>
              </a:rPr>
              <a:t>Source connector
workshop-mongo-source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5" y="2587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21488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F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40487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1">
                <a:solidFill>
                  <a:srgbClr val="1F374E"/>
                </a:solidFill>
                <a:latin typeface="Aptos"/>
              </a:rPr>
              <a:t>Kafka CDC topic
workshop-cdc…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1" y="2587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1920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4048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1">
                <a:solidFill>
                  <a:srgbClr val="2B6CB0"/>
                </a:solidFill>
                <a:latin typeface="Aptos"/>
              </a:rPr>
              <a:t>Sink connector
workshop-mongo-sink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587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1512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404872"/>
            <a:ext cx="1691639" cy="6858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1">
                <a:solidFill>
                  <a:srgbClr val="1F7A56"/>
                </a:solidFill>
                <a:latin typeface="Aptos"/>
              </a:rPr>
              <a:t>MongoDB sink
connector_sink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160520"/>
            <a:ext cx="1508760" cy="658368"/>
          </a:xfrm>
          <a:prstGeom prst="roundRect">
            <a:avLst/>
          </a:prstGeom>
          <a:solidFill>
            <a:srgbClr val="FDF5EB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2976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B46914"/>
                </a:solidFill>
                <a:latin typeface="Aptos"/>
              </a:rPr>
              <a:t>Connect DLQ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538728"/>
            <a:ext cx="256032" cy="43891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13248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504688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Source watches only connector_source; sink writes only connector_sink to prevent a change-stream loop.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Worker, connector, and task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REST root available: worker API responds.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Plugin endpoint: required MongoDB source/sink classes and versions are discovered.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Connector state: logical connector lifecycle is visible.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Every task state: actual work unit is RUNNING, PAUSED, RESTARTING, or FAILED.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Logs and trace: stage, exception, dependency, topic/partition/offset, and restart history.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Last successful movement: offsets and source/sink records are still advancing.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66927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A connector can report RUNNING while one of its tasks is FAILED; inspect every task.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Connect health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10789920" cy="3886200"/>
          </a:xfrm>
          <a:prstGeom prst="roundRect">
            <a:avLst/>
          </a:prstGeom>
          <a:solidFill>
            <a:srgbClr val="F8F9FB"/>
          </a:solidFill>
          <a:ln>
            <a:solidFill>
              <a:srgbClr val="CD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80743"/>
            <a:ext cx="10387584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B6CB0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10387584" cy="33009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 Mono"/>
              </a:rPr>
              <a:t>curl -fsS http://localhost:8083/ | jq
curl -fsS http://localhost:8083/connector-plugins | jq
curl -fsS 'http://localhost:8083/connectors?expand=status&amp;expand=info' | jq
curl -fsS http://localhost:8083/connectors/workshop-mongo-sink/status | jq
docker compose -f connect/docker-compose.yml logs --tail=200 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39496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486400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Keep worker availability, connector state, task state, trace, and data movement as separate evidence.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Maintainable connector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Review before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Connector class and tasks.max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MongoDB URI and narrow DB/collection scope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Explicit topic or naming policy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Key/value converters and schemas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Retry, error tolerance, logging, and DLQ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Credentials externalized from JSON and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Change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Keep desired config in version control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Validate against the installed plugin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Capture current config and status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Use POST for new names; PUT for reviewed update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Wait for every task and reconcile new data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Rollback to the captured approved config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Validate, apply, then prove runtime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Review JSON
and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450592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828800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93392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Plugin config
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50592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1828800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993392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POST or PUT
desired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450592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828800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1993392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Wait for every
task 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450592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11512" y="1828800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1993392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Trace record and
reconcile sink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1019556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Validation proves the installed plugin accepts values; it does not prove dependency access or data flow.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A successful PUT may reconfigure tasks; verify status, offsets, DLQ, and source-to-sink content.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Rejected change vs. failed running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474720"/>
                <a:gridCol w="2743200"/>
                <a:gridCol w="2606040"/>
              </a:tblGrid>
              <a:tr h="996696"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Correct response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Bad URI rejected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HTTP 400; approved URI remains; task RUNNING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Desired change never replaced running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Fix proposal; no service restart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Strict policy + malformed JSON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Connector RUNNING; task FAILED; converter trace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Running task stopped at poison offset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Preserve trace; apply policy; restart failed task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Worker REST unavailable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Root/health call fails; worker logs/process state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Worker or network unavailable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Restore worker/API; then inspect tasks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Sink slow but task RUNNING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Offsets/lag and dependency latency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Throughput deficit or downstream bottleneck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Diagnose rates and dependency—not blind restart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Malformed records and the DLQ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Strict policy: the converter error can drive the sink task to FAILED without taking down Kafka, MongoDB, or the worker.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Tolerant policy: Connect preserves the raw record in workshop-connect-dlq and continues processing.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DLQ headers should include source topic, partition, offset, connector, task, stage, and exception context.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The source offset should advance only after the error policy has safely handled the record.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A running task plus an unmonitored DLQ silently hides lost business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04688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596127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Define DLQ alerting, ownership, retention, correction, replay authorization, and audit.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Retry policy: bounded and observable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Which exceptions are retriable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Maximum retry window and backoff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When to fail versus route to DLQ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Alert threshold and escalation owner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Idempotency and replay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03030"/>
                </a:solidFill>
                <a:latin typeface="Aptos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Retrying every exception indefinitely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Assuming driver retries equal framework retries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Restarting the worker to repair bad config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Committing poison offsets before preservation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Replaying without correction and audit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Trace and reconcile MongoDB → Kafka →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Insert uniquely identified documents into workshop.connector_source.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Confirm source connector and task are RUNNING and CDC topic end offsets increase.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Consume the CDC topic and locate the same order_id and expected fields.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Confirm sink connector and task are RUNNING; wait for asynchronous movement.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Compare source and sink counts for the test batch and field values by order_id.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Verify the DLQ did not grow for valid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96128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687568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Availability and zero lag do not prove semantic equivalence; reconciliation is a separate control.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Connector configuration and version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61288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Capture approved connector config, task status, source/sink offsets, DLQ count, and reconciliation baseline.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Record Kafka worker version, connector/plugin version, container image/digest, MongoDB version, and compatibility evidence separately.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Test the pinned image and plugin with representative data outside production.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Roll workers one at a time only in a redundant distributed deployment.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Verify membership, every task, offset continuity, lag recovery, DLQ, and data reconciliation.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Rollback the image/plugin or config on an abort condition; do not blindly rewrite stored offsets.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50992"/>
            <a:ext cx="10607040" cy="402336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742431"/>
            <a:ext cx="10277856" cy="265176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The lab has one worker; recreating it causes a Connect outage even though internal-topic state survives.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Kafka Connect alert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79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709160"/>
                <a:gridCol w="4389120"/>
              </a:tblGrid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Owner / first action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Worker/API loss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REST unavailable beyond tolerance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Platform: inspect worker/process/network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Failed task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Any task FAILED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Connector owner: preserve trace and source offset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Stalled movement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Offsets fixed with expected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Connector/data owner: inspect task/dependency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Retry exhaustion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Retries exceed bounded policy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Connector owner: classify exception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DLQ growth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Any unexpected DLQ increase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Data owner: inspect headers/raw record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Config/version drift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Runtime differs from approved state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Platform/change owner: review and restore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Reconciliation failure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Count/field invariant breaks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0">
                          <a:solidFill>
                            <a:srgbClr val="1E293B"/>
                          </a:solidFill>
                          <a:latin typeface="Aptos"/>
                        </a:rPr>
                        <a:t>Data/app owner: stop unsafe replay, investigate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Hands-on Lab 3: Troubleshoot the connector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Prove worker REST health, installed plugins, connector states, and every task state.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Validate and apply source and sink configuration; trace a uniquely identified event end to end.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Attempt a bad-URI change and prove it was rejected without replacing the approved config.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Use strict error handling to create a FAILED task; preserve trace evidence before correction.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Restore the tolerant policy, restart only failed tasks, inspect the DLQ, and verify valid-record recovery.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50">
                <a:solidFill>
                  <a:srgbClr val="1E293B"/>
                </a:solidFill>
                <a:latin typeface="Aptos"/>
              </a:defRPr>
            </a:pPr>
            <a:r>
              <a:t>Document recommended alerts and ownership for the connector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05272"/>
            <a:ext cx="10607040" cy="420624"/>
          </a:xfrm>
          <a:prstGeom prst="roundRect">
            <a:avLst/>
          </a:prstGeom>
          <a:solidFill>
            <a:srgbClr val="F2F9F6"/>
          </a:solidFill>
          <a:ln>
            <a:solidFill>
              <a:srgbClr val="B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96712"/>
            <a:ext cx="10277856" cy="28346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03030"/>
                </a:solidFill>
                <a:latin typeface="Aptos"/>
              </a:rPr>
              <a:t>Do not restart Kafka or MongoDB when their evidence remains healthy.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Lab 3 deliverable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823960"/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38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80" b="1">
                          <a:solidFill>
                            <a:srgbClr val="FFFFFF"/>
                          </a:solidFill>
                          <a:latin typeface="Aptos"/>
                        </a:rPr>
                        <a:t>Minimum acceptance criteria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Layered health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Worker, plugins, connectors, every task, offsets, DLQ, source/sink counts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End-to-end trace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One order_id across source, Kafka, sink; count and field reconciliation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Rejected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HTTP 400/bad dependency; approved config and task remain healthy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Failed task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Converter-stage trace and poison topic/partition/offset preserved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Recovery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Tolerant config, failed-task restart, DLQ context, later valid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Alert matrix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E293B"/>
                          </a:solidFill>
                          <a:latin typeface="Aptos"/>
                        </a:rPr>
                        <a:t>Worker, task, movement, retry, DLQ, drift, reconciliation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Final Activity: Operations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E6F0FA"/>
                </a:solidFill>
                <a:latin typeface="Aptos"/>
              </a:rPr>
              <a:t>Turn commands and observations into routine checks, alerts, incident procedures, maintenance controls, and replay safeguards.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3492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96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 first • change only what the evidence supports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What makes a runbook operational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Scope and purpose: exact environment, resource, and business outcome.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Signal or command: how the responder obtains evidence.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Normal condition and actionable threshold: what requires a decision.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Owner and escalation path: who acts and when responsibility moves.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First response, recovery, and verification: preserve evidence and prove the outcome.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Risk warning: destructive scope, single-node limitation, secrets, or replay authorization.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59552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50992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46914"/>
                </a:solidFill>
                <a:latin typeface="Aptos"/>
              </a:rPr>
              <a:t>A command list without decisions, owners, thresholds, and verification is not a runbook.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Daily operational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MongoDB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Kafka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Kafka Connect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Writable primary / members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Broker/controller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Worker REST / membership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Storage growth / forecast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Leaders, replicas, ISR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Connector and every task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Important query plans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Disk forecast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Retry/error logs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Index presence / usage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Topic lifecycle config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DLQ movement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Connections / errors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Throughput / skew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Config/version drift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Backup and restore-test age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Consumer offset / lag movement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Source-to-sink reconciliation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06440"/>
            <a:ext cx="10607040" cy="41148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97879"/>
            <a:ext cx="10277856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For every check, document command/signal, normal state, alert/owner, and first action.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Alert matrix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71800"/>
                <a:gridCol w="1188720"/>
                <a:gridCol w="2743200"/>
                <a:gridCol w="2240280"/>
              </a:tblGrid>
              <a:tr h="85039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Alert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Condition + duration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Evidence in notification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Owner / escalation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Stalled consumer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Lag &gt; threshold and no commit movement for N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Topic, group, partition, current/end, 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Consumer owner →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Failed task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Any task FAILED for &gt; grace period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Connector, task, worker, trace, source offset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Connector owner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DLQ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Unexpected increase in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Medium/High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DLQ offset delta, error stage/type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Data owner →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Capacity forecast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Limit crossed inside response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Used/free, growth rate, time-to-limit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1E293B"/>
                          </a:solidFill>
                          <a:latin typeface="Aptos"/>
                        </a:rPr>
                        <a:t>Platform/DB owner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760720"/>
            <a:ext cx="10607040" cy="393192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852159"/>
            <a:ext cx="10277856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Separate availability, performance, capacity, and correctness alerts; include a runbook link.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Incident procedure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Detection: exact symptom, affected resources, time window, and business impact.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Triage order: first five evidence checks across producer, Kafka, worker, MongoDB, and data.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Evidence preservation: logs, status, offsets, configs, query plans, counts, and timestamps.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Correction: targeted action for the first unhealthy layer; prohibited or risky reactions.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Verification: service signals plus end-to-end identity, count, fields, lag, and DLQ.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Escalation and communication: owner, trigger, status message, and next update time.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Integrated incident: recent orders are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5257800" cy="452628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80160"/>
            <a:ext cx="73152" cy="452628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44751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Known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20239"/>
            <a:ext cx="4873752" cy="3749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Checkout publishes succeed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Kafka end offsets increase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Committed offsets have not moved for 10 minutes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MongoDB is writable primary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Recent orders are absent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Connect sink task FAILED after config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52628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73152" cy="452628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44751"/>
            <a:ext cx="4892040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Required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20239"/>
            <a:ext cx="4919472" cy="3749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Preserve failed task trace and pre/post config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Confirm worker, source connector, topic, and MongoDB remain healthy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Rollback/correct the sink config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Restart only failed task(s)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Verify commits resume, lag drains, DLQ is understood, orders reconcile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Do not restart healthy Kafka or MongoDB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Maintenance proposal review: rewrite every unsafe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243584"/>
          <a:ext cx="1095451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553712"/>
              </a:tblGrid>
              <a:tr h="800100"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Unsafe proposal</a:t>
                      </a:r>
                    </a:p>
                  </a:txBody>
                  <a:tcPr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Why it is unsafe</a:t>
                      </a:r>
                    </a:p>
                  </a:txBody>
                  <a:tcPr>
                    <a:solidFill>
                      <a:srgbClr val="B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Aptos"/>
                        </a:rPr>
                        <a:t>Required rewrite</a:t>
                      </a:r>
                    </a:p>
                  </a:txBody>
                  <a:tcPr>
                    <a:solidFill>
                      <a:srgbClr val="B0303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Drop customer index during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Known query regression and workload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Baseline, approved window, validate plan,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Set Kafka retention to 30 seconds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Acknowledged data may expire before recovery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Derive from replay requirement; isolated test; rollback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Put password in connector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Secret exposure in Git/API/history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External secret provider; restricted REST; rotation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Deploy unpinned latest plugin everywhere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Compatibility and simultaneous outage risk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Pinned version; nonprod test; rolling redundant workers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Validate only command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No proof of health or business correctness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Tasks, offsets, lag, DLQ, counts, field 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Replay and data repair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Obtain explicit authorization and define the source of truth.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Select the smallest replay range, key set, or DLQ records required.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Confirm retention still contains the source data and downstream writes are idempotent.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Correct malformed data or configuration before replaying; preserve the original and audit trail.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Observe offsets, rate, downstream capacity, errors, and DLQ during replay.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Reconcile counts and business fields; record completion evidence and residual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B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6927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B03030"/>
                </a:solidFill>
                <a:latin typeface="Aptos"/>
              </a:rPr>
              <a:t>Never reset or rewrite offsets blindly; define the exact partition/offset scope and rollback implications.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Production controls beyond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34440"/>
            <a:ext cx="73152" cy="4892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Resilience and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Kafka replication and redundant brokers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MongoDB redundant members and tested failover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Redundant distributed Connect workers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TLS, authentication, authorization, network controls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External secrets, rotation, and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34440"/>
            <a:ext cx="5413248" cy="489204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34440"/>
            <a:ext cx="73152" cy="489204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399032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Operational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19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SLOs for delay, availability, data correctness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Central metrics, logs, dashboards, and paging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Automated backup/PITR and off-host retention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Schema and compatibility management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Capacity forecasting and tested change/recovery procedures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Final activity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5296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Complete at least 3 MongoDB checks, 4 Kafka checks, and 4 Kafka Connect checks.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Define at least 6 alerts with condition/duration, evidence, severity, owner, and escalation.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Write at least 4 incident procedures and 3 maintenance procedures.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Complete the integrated missing-orders incident and unsafe maintenance review.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Exchange runbooks; identify the first five evidence checks and escalation owner without asking the author.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50">
                <a:solidFill>
                  <a:srgbClr val="1E293B"/>
                </a:solidFill>
                <a:latin typeface="Aptos"/>
              </a:defRPr>
            </a:pPr>
            <a:r>
              <a:t>Revise every ambiguity found during the peer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59552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50992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Deliverable standard: another operator can execute it correctly without workshop context.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Course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78992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Healthy components are proven separately; no single green signal proves the pipeline.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Offset movement distinguishes backlog, progress, stalls, and throughput deficits.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Query plans and examined:return ratios reveal inefficient MongoDB work even when latency is low.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Controlled changes start with a baseline and end with business-flow verification and a recorded rollback path.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DLQs preserve failures but require alerts, ownership, correction, replay controls, and audit.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20">
                <a:solidFill>
                  <a:srgbClr val="1E293B"/>
                </a:solidFill>
                <a:latin typeface="Aptos"/>
              </a:defRPr>
            </a:pPr>
            <a:r>
              <a:t>Reconciliation is the control that detects semantic drift after availability and lag look normal.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69279"/>
            <a:ext cx="10277856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l"/>
            <a:r>
              <a:rPr sz="1350" b="1">
                <a:solidFill>
                  <a:srgbClr val="1F7A56"/>
                </a:solidFill>
                <a:latin typeface="Aptos"/>
              </a:rPr>
              <a:t>Operate from evidence. Change the smallest necessary scope. Verify the business outcome.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Questions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8892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0">
                <a:solidFill>
                  <a:srgbClr val="E6F0FA"/>
                </a:solidFill>
                <a:latin typeface="Aptos"/>
              </a:rPr>
              <a:t>Complete the labs, retain your evidence, and turn it into the operations runbook.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074920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Monitoring MongoDB and Apache Kafka for Event-Driven Data Applications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Visual Kafka primer: Kafbat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98480" cy="4983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950">
                <a:solidFill>
                  <a:srgbClr val="1E293B"/>
                </a:solidFill>
                <a:latin typeface="Aptos"/>
              </a:defRPr>
            </a:pPr>
            <a:r>
              <a:t>Kafbat UI provides a visual starting point for the same Kafka evidence used later at the command line.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50">
                <a:solidFill>
                  <a:srgbClr val="1E293B"/>
                </a:solidFill>
                <a:latin typeface="Aptos"/>
              </a:defRPr>
            </a:pPr>
            <a:r>
              <a:t>Participants can inspect brokers, topics, partitions, records, consumer groups, lag, and topic configuration.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50">
                <a:solidFill>
                  <a:srgbClr val="1E293B"/>
                </a:solidFill>
                <a:latin typeface="Aptos"/>
              </a:defRPr>
            </a:pPr>
            <a:r>
              <a:t>The workshop interface is write-enabled only for isolated kafbat-ui-* exercise resources.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50">
                <a:solidFill>
                  <a:srgbClr val="1E293B"/>
                </a:solidFill>
                <a:latin typeface="Aptos"/>
              </a:defRPr>
            </a:pPr>
            <a:r>
              <a:t>Every visual observation is paired with a repeatable Kafka command before it enters an operations runbook.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468112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50408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Open http://localhost:8080 and select the workshop cluster.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How the web interface reaches Kafka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286000" cy="1280160"/>
          </a:xfrm>
          <a:prstGeom prst="roundRect">
            <a:avLst/>
          </a:prstGeom>
          <a:solidFill>
            <a:srgbClr val="E8F1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50008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Participant browser
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248716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2057400"/>
            <a:ext cx="242316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1F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7" y="2350008"/>
            <a:ext cx="22402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F374E"/>
                </a:solidFill>
                <a:latin typeface="Aptos"/>
              </a:rPr>
              <a:t>Kafbat UI container
kafbat-ui:8080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48716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057400"/>
            <a:ext cx="2331720" cy="1280160"/>
          </a:xfrm>
          <a:prstGeom prst="roundRect">
            <a:avLst/>
          </a:prstGeom>
          <a:solidFill>
            <a:srgbClr val="E8F1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50008"/>
            <a:ext cx="214883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2B6CB0"/>
                </a:solidFill>
                <a:latin typeface="Aptos"/>
              </a:rPr>
              <a:t>Internal listener
kafka:19092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248716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2057400"/>
            <a:ext cx="1645920" cy="1280160"/>
          </a:xfrm>
          <a:prstGeom prst="roundRect">
            <a:avLst/>
          </a:prstGeom>
          <a:solidFill>
            <a:srgbClr val="EFF8F3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0112" y="235000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F7A56"/>
                </a:solidFill>
                <a:latin typeface="Aptos"/>
              </a:rPr>
              <a:t>Kafka
broker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096512"/>
            <a:ext cx="3063240" cy="1261872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4096512"/>
            <a:ext cx="73152" cy="12618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261104"/>
            <a:ext cx="267004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Host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754880"/>
            <a:ext cx="2679192" cy="4571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Use localhost:9092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Port bound to 127.0.0.1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4096512"/>
            <a:ext cx="3063240" cy="1261872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53712" y="4096512"/>
            <a:ext cx="73152" cy="1261872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4261104"/>
            <a:ext cx="267004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Container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754880"/>
            <a:ext cx="2679192" cy="4571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Use kafka:19092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localhost would mean the UI container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4096512"/>
            <a:ext cx="3063240" cy="1261872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4" y="4096512"/>
            <a:ext cx="73152" cy="1261872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4261104"/>
            <a:ext cx="267004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Workshop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754880"/>
            <a:ext cx="2679192" cy="4571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No Kafka auth/TLS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Do not expose ports 8080 or 9092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What to inspect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73152" cy="42519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Aptos"/>
              </a:rPr>
              <a:t>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84248"/>
            <a:ext cx="3044952" cy="34472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Status ONLINE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One broker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KRaft controller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Read-only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29000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4251960"/>
          </a:xfrm>
          <a:prstGeom prst="rect">
            <a:avLst/>
          </a:prstGeom>
          <a:solidFill>
            <a:srgbClr val="1F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90472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7A56"/>
                </a:solidFill>
                <a:latin typeface="Aptos"/>
              </a:rPr>
              <a:t>Topic and partitions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44952" cy="34472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Expected partition count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Leader for every partition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Replica and ISR membership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Earliest and latest offsets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325880"/>
            <a:ext cx="3429000" cy="425196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25880"/>
            <a:ext cx="73152" cy="4251960"/>
          </a:xfrm>
          <a:prstGeom prst="rect">
            <a:avLst/>
          </a:prstGeom>
          <a:solidFill>
            <a:srgbClr val="B4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90472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B46914"/>
                </a:solidFill>
                <a:latin typeface="Aptos"/>
              </a:rPr>
              <a:t>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984248"/>
            <a:ext cx="3044952" cy="34472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Record key and value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Partition and offset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Consumer committed offset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Lag and movement over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742432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B4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824728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B46914"/>
                </a:solidFill>
                <a:latin typeface="Aptos"/>
              </a:rPr>
              <a:t>A green UI proves reachability and metadata—not capacity, consumer success, or MongoDB correctness.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Create a topic and produce keyed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874519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1581912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Create
kafbat-ui-events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6888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1874519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029968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578608"/>
            <a:ext cx="1581912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Set 3 partitions
and RF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46888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1874519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29968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578608"/>
            <a:ext cx="1581912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Produce JSON with
customer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46888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1874519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029968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4" y="2578608"/>
            <a:ext cx="1581912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Inspect partition,
offset, timestamp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46888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1874519"/>
            <a:ext cx="1874519" cy="1600200"/>
          </a:xfrm>
          <a:prstGeom prst="roundRect">
            <a:avLst/>
          </a:prstGeom>
          <a:solidFill>
            <a:srgbClr val="F4F6F8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029968"/>
            <a:ext cx="347472" cy="3474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578608"/>
            <a:ext cx="1581912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550" b="1">
                <a:solidFill>
                  <a:srgbClr val="1F374E"/>
                </a:solidFill>
                <a:latin typeface="Aptos"/>
              </a:rPr>
              <a:t>Verify with Kafka
command-line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224528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Same key → same partition and per-key ordering while the partition count is unchanged.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Kafka stores bytes; a JSON-looking value is not automatically schema-validated.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Partitions, offsets, and message browsing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160520"/>
                <a:gridCol w="4663440"/>
              </a:tblGrid>
              <a:tr h="754380"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Aptos"/>
                        </a:rPr>
                        <a:t>Common mistake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Partition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One ordered portion of a topic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Assuming global ordering across partitions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Offset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Record position inside one partition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Treating the offset as topic-wide identity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End offset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Next write position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Assuming it proves consumer progress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Record key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Input to partition selection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Using one constant key and creating a hotspot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Message 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Kafka can return the retained record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E293B"/>
                          </a:solidFill>
                          <a:latin typeface="Aptos"/>
                        </a:rPr>
                        <a:t>Assuming a sink processed it correctly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Record topic + partition + offset together; repeat observations to understand movement.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Consumer groups and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3246120"/>
                <a:gridCol w="4937760"/>
              </a:tblGrid>
              <a:tr h="7543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End offsets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Committed offsets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Increasing equally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Consumer is keeping 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Increasing more slowly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Sustained throughput deficit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Increasing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Existing backlog is draining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Fixed or increasing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Stopped, blocked, failed, or rebalancing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Equal to commits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Fixed at 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Aptos"/>
                        </a:rPr>
                        <a:t>Caught up; no Kafka backlog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Use two or more time-separated observations; zero lag does not prove downstream data correctness.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Visual evidence and command-line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243584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3291840"/>
                <a:gridCol w="4892040"/>
              </a:tblGrid>
              <a:tr h="646611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Kafbat view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Aptos"/>
                        </a:rPr>
                        <a:t>Repeatable command</a:t>
                      </a:r>
                    </a:p>
                  </a:txBody>
                  <a:tcPr marL="73152" marR="73152">
                    <a:solidFill>
                      <a:srgbClr val="1F374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Is the cluster reachable?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Cluster overview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kafka-broker-api-versions.sh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Do partitions have leaders?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Topic partitions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kafka-topics.sh --describe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Where are records stored?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Message partition/offset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kafka-console-consumer.sh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How far behind is a group?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Consumer-group lag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kafka-consumer-groups.sh --describe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Are partitions balanced?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Partition record totals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kafka-get-offsets.sh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Which settings are explicit?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Topic configuration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E293B"/>
                          </a:solidFill>
                          <a:latin typeface="Aptos"/>
                        </a:rPr>
                        <a:t>kafka-configs.sh --describe</a:t>
                      </a:r>
                    </a:p>
                  </a:txBody>
                  <a:tcPr marL="73152" marR="73152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5806440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888736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Use the UI for discovery; use commands for timestamped, repeatable runbook evidence.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18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F374E"/>
                </a:solidFill>
                <a:latin typeface="Aptos"/>
              </a:rPr>
              <a:t>Independent Kafbat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Aptos"/>
              </a:rPr>
              <a:t>KAFKA VISUAL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D2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Monitoring MongoDB and Apache Kafka for Event-Driven Data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698480" cy="4983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1. Build a visual cluster-health report without changing shared resources.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2. Create kafbat-ui-events with three partitions and produce six keyed JSON records.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3. Trace keys, partitions, offsets, timestamps, and headers.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4. Create partial consumer progress, observe lag, and drain the backlog.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5. Apply and roll back a seven-day retention override on kafbat-ui-lifecycle.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6. Stop only Kafbat, prove Kafka remains healthy, and recover the UI layer.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20">
                <a:solidFill>
                  <a:srgbClr val="1E293B"/>
                </a:solidFill>
                <a:latin typeface="Aptos"/>
              </a:defRPr>
            </a:pPr>
            <a:r>
              <a:t>7. Delete only the isolated exercise topics and group; retain all workshop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650992"/>
            <a:ext cx="10652760" cy="457200"/>
          </a:xfrm>
          <a:prstGeom prst="roundRect">
            <a:avLst/>
          </a:prstGeom>
          <a:solidFill>
            <a:srgbClr val="F2F9F6"/>
          </a:solidFill>
          <a:ln>
            <a:solidFill>
              <a:srgbClr val="1F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33288"/>
            <a:ext cx="10287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1F7A56"/>
                </a:solidFill>
                <a:latin typeface="Aptos"/>
              </a:rPr>
              <a:t>Submit UI evidence, matching commands, interpretation, rollback, and final cleanup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MongoDB and Apache Kafka for Event-Driven Data Applications</dc:title>
  <dc:subject>One-day course instructor deck</dc:subject>
  <dc:creator>Raphael Alampay</dc:creator>
  <cp:keywords>MongoDB, Apache Kafka, Kafka Connect, monitoring, operations</cp:keywords>
  <dc:description>Generated from the draft course PDF and repository modules; includes MongoDB and Kafbat UI primers.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