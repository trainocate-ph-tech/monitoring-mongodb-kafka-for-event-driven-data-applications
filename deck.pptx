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[DRAFT] course PDF; README.md; USECASE.md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[DRAFT] course PDF; USECASE.md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Course primer; MongoDB concepts used throughout the modules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MongoDB primer comparison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USECASE.md; Module2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MongoDB primer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MongoDB primer modeling guidance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MongoDB CRUD primer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README.md; mongodb/docker-compose.yml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78992"/>
            <a:ext cx="10515600" cy="15544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1F374E"/>
                </a:solidFill>
                <a:latin typeface="Aptos"/>
              </a:rPr>
              <a:t>Monitoring MongoDB and Apache Kafka
for Event-Driven Data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063240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Aptos"/>
              </a:rPr>
              <a:t>One-day operations, monitoring, maintenance, and troubleshooting course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3822191"/>
            <a:ext cx="8961120" cy="38404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2B6CB0"/>
                </a:solidFill>
                <a:latin typeface="Aptos"/>
              </a:rPr>
              <a:t>Northwind Outfitters order-processing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601675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ptos"/>
              </a:rPr>
              <a:t>Instructor deck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Course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500"/>
              </a:spcAft>
              <a:defRPr sz="2100">
                <a:solidFill>
                  <a:srgbClr val="1E293B"/>
                </a:solidFill>
                <a:latin typeface="Aptos"/>
              </a:defRPr>
            </a:pPr>
            <a:r>
              <a:t>Focus: operate and maintain MongoDB, Apache Kafka, and Kafka Connect in an event-driven data pipeline.</a:t>
            </a:r>
          </a:p>
          <a:p>
            <a:pPr>
              <a:lnSpc>
                <a:spcPct val="105000"/>
              </a:lnSpc>
              <a:spcAft>
                <a:spcPts val="1500"/>
              </a:spcAft>
              <a:defRPr sz="2100">
                <a:solidFill>
                  <a:srgbClr val="1E293B"/>
                </a:solidFill>
                <a:latin typeface="Aptos"/>
              </a:defRPr>
            </a:pPr>
            <a:r>
              <a:t>Practice: collect health and performance evidence, make controlled changes, and verify business flow after recovery.</a:t>
            </a:r>
          </a:p>
          <a:p>
            <a:pPr>
              <a:lnSpc>
                <a:spcPct val="105000"/>
              </a:lnSpc>
              <a:spcAft>
                <a:spcPts val="1500"/>
              </a:spcAft>
              <a:defRPr sz="2100">
                <a:solidFill>
                  <a:srgbClr val="1E293B"/>
                </a:solidFill>
                <a:latin typeface="Aptos"/>
              </a:defRPr>
            </a:pPr>
            <a:r>
              <a:t>Common incidents: slow queries, storage growth, broker or partition pressure, consumer lag, failed tasks, poison records, and data drift.</a:t>
            </a:r>
          </a:p>
          <a:p>
            <a:pPr>
              <a:lnSpc>
                <a:spcPct val="105000"/>
              </a:lnSpc>
              <a:spcAft>
                <a:spcPts val="1500"/>
              </a:spcAft>
              <a:defRPr sz="2100">
                <a:solidFill>
                  <a:srgbClr val="1E293B"/>
                </a:solidFill>
                <a:latin typeface="Aptos"/>
              </a:defRPr>
            </a:pPr>
            <a:r>
              <a:t>Capstone: produce an operations runbook with checks, alerts, owners, first-response steps, rollback, and verification.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44068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532120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Course habit: observe the problem before fixing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Who this course is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73152" cy="48920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Target audience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Operations, platform, and support engineers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MongoDB administrators and data engineers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Application support teams for event-driven systems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Technical leads defining operational standards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1234440"/>
            <a:ext cx="73152" cy="489204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Prerequisites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MongoDB collections, indexes, and query basics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Kafka topics, partitions, producers, consumers, offsets, and groups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Comfort with command-line tools, logs, and monitoring systems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Recommended: Docker, VS Code, Git, and a local sandbox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Learning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Identify key MongoDB, Kafka, and Kafka Connect health indicators.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Interpret database growth, query plans, replication state, and backup evidence.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Interpret broker/topic health, partition distribution, offsets, lag, throughput, and lifecycle configuration.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Diagnose failed connector tasks, retries, malformed records, and DLQ behavior.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Perform scoped maintenance with prechecks, abort criteria, rollback, and post-change validation.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Build a usable operations runbook and maintenance checklist.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One-day course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766560"/>
                <a:gridCol w="2377440"/>
              </a:tblGrid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Block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Focus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Approx. time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Module 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Operational architecture and evidence-first triage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60 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Module 2 + Lab 1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MongoDB monitoring, query performance, maintenance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75 min + lab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Module 3 + Lab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Kafka health, lag, lifecycle, failure signatures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75 min + lab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Module 4 + Lab 3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Kafka Connect and MongoDB connector operations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90 min + lab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Final activity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Operations runbook and maintenance checklist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60 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r>
              <a:rPr sz="1350" b="1">
                <a:solidFill>
                  <a:srgbClr val="1F7A56"/>
                </a:solidFill>
                <a:latin typeface="Aptos"/>
              </a:rPr>
              <a:t>For new learners, begin with the 30–45 minute MongoDB primer before Module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Required tools and workshop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Docker Desktop or Docker Engine with Compose v2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Python 3.10+ virtual environment and dependencies from demo/requirements.txt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MongoDB replica-set container, single-node Kafka KRaft broker, and Kafka Connect worker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mongosh, Kafka command-line utilities, curl, jq, Git, and a text editor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Two or more terminal windows for producers, consumers, monitors, and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99432"/>
            <a:ext cx="10789920" cy="114300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718304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PREFLIGHT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5056632"/>
            <a:ext cx="10387584" cy="557784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docker --version
docker compose version
python3 --version
jq --version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Workshop use case: Northwind Outfitters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Checkout publishes an order.created event when a customer completes a purchase.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Kafka stores and partitions the events; an order processor consumes them.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The processor transforms each event and upserts a support-facing order document into MongoDB.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Module 4 adds the official MongoDB Kafka source and sink connectors using isolated collections.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44068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532120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Business question: how quickly and correctly do acknowledged orders become queryable?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Northwind 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03120"/>
            <a:ext cx="1965960" cy="1051560"/>
          </a:xfrm>
          <a:prstGeom prst="roundRect">
            <a:avLst/>
          </a:prstGeom>
          <a:solidFill>
            <a:srgbClr val="E8F1FA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22576"/>
            <a:ext cx="1819656" cy="777239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2B6CB0"/>
                </a:solidFill>
                <a:latin typeface="Aptos"/>
              </a:rPr>
              <a:t>Dummy orders
orders.jsonl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103120"/>
            <a:ext cx="1874519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1F3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322576"/>
            <a:ext cx="1728216" cy="777239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F374E"/>
                </a:solidFill>
                <a:latin typeface="Aptos"/>
              </a:rPr>
              <a:t>Producer
producer.py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02352" y="2103120"/>
            <a:ext cx="2148840" cy="1051560"/>
          </a:xfrm>
          <a:prstGeom prst="roundRect">
            <a:avLst/>
          </a:prstGeom>
          <a:solidFill>
            <a:srgbClr val="E8F1FA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2322576"/>
            <a:ext cx="2002536" cy="777239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2B6CB0"/>
                </a:solidFill>
                <a:latin typeface="Aptos"/>
              </a:rPr>
              <a:t>Kafka
workshop-orders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07808" y="2103120"/>
            <a:ext cx="1874519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1F3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2322576"/>
            <a:ext cx="1728216" cy="777239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F374E"/>
                </a:solidFill>
                <a:latin typeface="Aptos"/>
              </a:rPr>
              <a:t>Consumer
consumer.py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2103120"/>
            <a:ext cx="1783080" cy="1051560"/>
          </a:xfrm>
          <a:prstGeom prst="roundRect">
            <a:avLst/>
          </a:prstGeom>
          <a:solidFill>
            <a:srgbClr val="EFF8F3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2952" y="2322576"/>
            <a:ext cx="1636776" cy="777239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F7A56"/>
                </a:solidFill>
                <a:latin typeface="Aptos"/>
              </a:rPr>
              <a:t>MongoDB
workshop.orders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395728"/>
            <a:ext cx="25603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395728"/>
            <a:ext cx="25603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2395728"/>
            <a:ext cx="25603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395728"/>
            <a:ext cx="25603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3886200"/>
            <a:ext cx="1508760" cy="685800"/>
          </a:xfrm>
          <a:prstGeom prst="roundRect">
            <a:avLst/>
          </a:prstGeom>
          <a:solidFill>
            <a:srgbClr val="FDF5EB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3832" y="4014215"/>
            <a:ext cx="1353312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B46914"/>
                </a:solidFill>
                <a:latin typeface="Aptos"/>
              </a:rPr>
              <a:t>DLQ topic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3246120"/>
            <a:ext cx="22860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74920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F374E"/>
                </a:solidFill>
                <a:latin typeface="Aptos"/>
              </a:rPr>
              <a:t>Key = customer_id • Group = workshop-order-processor • Idempotency key = order_id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Order event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8813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069080"/>
                <a:gridCol w="1371600"/>
                <a:gridCol w="406908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Operational purpose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Operational purpose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event_type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Identifies order.created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event_id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Unique published event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order_id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Business/idempotency key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customer_id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Kafka key and support lookup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product_id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Ordered item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quantity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Number of units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unit_price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Price per unit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region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Fulfillment region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created_at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Source event time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processed_at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Sink processing time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Processing state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total_amount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Derived quantity × price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Use order_id for replay-safe upserts; use created_at vs. processed_at to observe end-to-end delay.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Operational objectives and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73152" cy="489204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Do not lose acknowledged checkout messages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Preserve per-customer ordering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Keep processing delay within the support expectation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Make replay idempotent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Keep customer lookups efficient as data grows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Separate broker, worker, application, and database failures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1234440"/>
            <a:ext cx="73152" cy="489204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Lab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Single Kafka broker and replication factor 1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One-member MongoDB replica set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Single Kafka Connect worker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Local, unsecured networking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No production failover or zero-downtime rolling restart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Production controls must be added to the runbook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The evidence-first operating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874519" cy="150876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39696"/>
            <a:ext cx="384048" cy="384048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151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F374E"/>
                </a:solidFill>
                <a:latin typeface="Aptos"/>
              </a:rPr>
              <a:t>Create or detect
a controlled 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542032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3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965960"/>
            <a:ext cx="1874519" cy="150876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139696"/>
            <a:ext cx="384048" cy="384048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26151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F374E"/>
                </a:solidFill>
                <a:latin typeface="Aptos"/>
              </a:rPr>
              <a:t>Collect evidence
from every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542032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3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504" y="1965960"/>
            <a:ext cx="1874519" cy="150876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139696"/>
            <a:ext cx="384048" cy="384048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F374E"/>
                </a:solidFill>
                <a:latin typeface="Aptos"/>
              </a:rPr>
              <a:t>Identify the first
unhealthy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7456" y="2542032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3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9792" y="1965960"/>
            <a:ext cx="1874519" cy="150876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944" y="2139696"/>
            <a:ext cx="384048" cy="384048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3" y="26151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F374E"/>
                </a:solidFill>
                <a:latin typeface="Aptos"/>
              </a:rPr>
              <a:t>Correct only that
layer or config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2542032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3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1965960"/>
            <a:ext cx="1874519" cy="150876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7232" y="2139696"/>
            <a:ext cx="384048" cy="384048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48672" y="26151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F374E"/>
                </a:solidFill>
                <a:latin typeface="Aptos"/>
              </a:rPr>
              <a:t>Verify signals and
business outcome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9204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983479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Command success is not operational validation; prove the pipeline's intended result.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241280" cy="11430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Operational Architecture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24612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E6F0FA"/>
                </a:solidFill>
                <a:latin typeface="Aptos"/>
              </a:rPr>
              <a:t>Trace the flow, assign responsibility, control changes, and recognize failure signatures.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5349240"/>
            <a:ext cx="18288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596128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Evidence first • change only what the evidence supports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Core event-driven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5029200"/>
              </a:tblGrid>
              <a:tr h="711925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Term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Meaning in this workshop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Operational question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Partition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Ordered append-only part of a topic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Does it have a leader and balanced load?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Offset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Record position within one partition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Where is the group relative to the end?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Consumer group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Consumers sharing work and saved progress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Who owns each partition?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Lag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End offset − committed offset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Is the backlog moving or stalled?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Upsert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Update or insert by order_id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Can a replay avoid duplicates?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3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DLQ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Preserved unprocessable records plus context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E293B"/>
                          </a:solidFill>
                          <a:latin typeface="Aptos"/>
                        </a:rPr>
                        <a:t>Who alerts, corrects, and replays?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Trace one event across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MODULE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234440"/>
          <a:ext cx="1095451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063240"/>
                <a:gridCol w="3337560"/>
                <a:gridCol w="2862072"/>
              </a:tblGrid>
              <a:tr h="8001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Layer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Healthy invariant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it does not prove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Producer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Delivery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20 expected = 20 delivered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Consumer or MongoDB success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Kafka topic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Description + end offsets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3 leaders; offset sum +20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Consumer progress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Consumer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Current/end offsets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Committed = end; lag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Document correctness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MongoDB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Count + sample document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20 docs; derived fields valid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No future lag or drift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Business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Trace order_id end to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Same identity and fields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Capacity or resilience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Offsets, lag, and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MODULE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500" b="1">
                <a:solidFill>
                  <a:srgbClr val="2B6CB0"/>
                </a:solidFill>
                <a:latin typeface="Aptos"/>
              </a:rPr>
              <a:t>Consumer lag = log end offset − committed next-read offset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3246120" cy="233172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331720"/>
            <a:ext cx="73152" cy="23317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2834639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971800"/>
            <a:ext cx="2862072" cy="1554479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Partition 0 end offset: 120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Group committed offset: 95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Lag: 25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331720"/>
            <a:ext cx="3246120" cy="233172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62272" y="2331720"/>
            <a:ext cx="73152" cy="233172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496312"/>
            <a:ext cx="2834639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Interpret movement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71800"/>
            <a:ext cx="2862072" cy="1554479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End fixed + commits rising = draining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Both rise equally = keeping up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End rises faster = throughput deficit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Commits fixed + lag &gt; 0 = stall or failure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7304" y="2331720"/>
            <a:ext cx="3246120" cy="233172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7304" y="2331720"/>
            <a:ext cx="73152" cy="233172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496312"/>
            <a:ext cx="2834639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Caution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2971800"/>
            <a:ext cx="2862072" cy="1554479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Offsets are per partition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Zero lag does not prove correct MongoDB data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No commits may mean the group does not yet exist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Idempotency and write-before-commit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MODULE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2423160" cy="1463040"/>
          </a:xfrm>
          <a:prstGeom prst="roundRect">
            <a:avLst/>
          </a:prstGeom>
          <a:solidFill>
            <a:srgbClr val="E8F1FA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194560"/>
            <a:ext cx="2203704" cy="32918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2B6CB0"/>
                </a:solidFill>
                <a:latin typeface="Aptos"/>
              </a:rPr>
              <a:t>1.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670048"/>
            <a:ext cx="2093976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Aptos"/>
              </a:rPr>
              <a:t>Consume Kafka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5146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965960"/>
            <a:ext cx="2423160" cy="1463040"/>
          </a:xfrm>
          <a:prstGeom prst="roundRect">
            <a:avLst/>
          </a:prstGeom>
          <a:solidFill>
            <a:srgbClr val="F4F6F8"/>
          </a:solidFill>
          <a:ln>
            <a:solidFill>
              <a:srgbClr val="1F3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8728" y="2194560"/>
            <a:ext cx="2203704" cy="32918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1F374E"/>
                </a:solidFill>
                <a:latin typeface="Aptos"/>
              </a:rPr>
              <a:t>2. Transform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670048"/>
            <a:ext cx="2093976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Aptos"/>
              </a:rPr>
              <a:t>Add total_amount, status, processed_at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9592" y="25146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965960"/>
            <a:ext cx="2423160" cy="1463040"/>
          </a:xfrm>
          <a:prstGeom prst="roundRect">
            <a:avLst/>
          </a:prstGeom>
          <a:solidFill>
            <a:srgbClr val="EFF8F3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2194560"/>
            <a:ext cx="2203704" cy="32918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1F7A56"/>
                </a:solidFill>
                <a:latin typeface="Aptos"/>
              </a:rPr>
              <a:t>3. Upsert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670048"/>
            <a:ext cx="2093976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Aptos"/>
              </a:rPr>
              <a:t>Write MongoDB by order_id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5146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965960"/>
            <a:ext cx="2423160" cy="1463040"/>
          </a:xfrm>
          <a:prstGeom prst="roundRect">
            <a:avLst/>
          </a:prstGeom>
          <a:solidFill>
            <a:srgbClr val="FDF5EB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2194560"/>
            <a:ext cx="2203704" cy="32918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B46914"/>
                </a:solidFill>
                <a:latin typeface="Aptos"/>
              </a:rPr>
              <a:t>4. Commit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2670048"/>
            <a:ext cx="2093976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Aptos"/>
              </a:rPr>
              <a:t>Save Kafka next-read offset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160520"/>
            <a:ext cx="10149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If a crash occurs after the write but before commit, the record may be delivered again.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Upserting by order_id makes that replay produce one logical order rather than a duplicate.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Operational responsibility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5577840"/>
                <a:gridCol w="3429000"/>
              </a:tblGrid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Layer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Typical responsibility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First evidence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Producer 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Event shape, key, delivery, rate, business semantics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Producer output and app logs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Kafka broker/topic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Availability, leaders, replicas, partitions, retention, disk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Topic description, logs, end offsets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Connector/consumer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Config, task state, transformation, retry, offset, DLQ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REST/status, group state, trace, DLQ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MongoDB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Primary state, writes, storage, indexes, queries, backup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Replica health, stats, explain, logs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Data/business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Completeness, field validity, timing, replay authorization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Reconciliation and data-quality checks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Ownership narrows the first response; cross-layer incidents still require collaboration.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Layered incident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MODULE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770">
                <a:solidFill>
                  <a:srgbClr val="1E293B"/>
                </a:solidFill>
                <a:latin typeface="Aptos"/>
              </a:defRPr>
            </a:pPr>
            <a:r>
              <a:t>1. Confirm the reported business symptom and its time window.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70">
                <a:solidFill>
                  <a:srgbClr val="1E293B"/>
                </a:solidFill>
                <a:latin typeface="Aptos"/>
              </a:defRPr>
            </a:pPr>
            <a:r>
              <a:t>2. Check producer acknowledgements and topic end-offset movement.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70">
                <a:solidFill>
                  <a:srgbClr val="1E293B"/>
                </a:solidFill>
                <a:latin typeface="Aptos"/>
              </a:defRPr>
            </a:pPr>
            <a:r>
              <a:t>3. Check broker/topic leaders, replicas/ISR, disk, and errors.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70">
                <a:solidFill>
                  <a:srgbClr val="1E293B"/>
                </a:solidFill>
                <a:latin typeface="Aptos"/>
              </a:defRPr>
            </a:pPr>
            <a:r>
              <a:t>4. Check consumer/connector membership, task state, committed-offset movement, lag, and traces.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70">
                <a:solidFill>
                  <a:srgbClr val="1E293B"/>
                </a:solidFill>
                <a:latin typeface="Aptos"/>
              </a:defRPr>
            </a:pPr>
            <a:r>
              <a:t>5. Check MongoDB writable-primary state, write errors, query health, and recent documents.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70">
                <a:solidFill>
                  <a:srgbClr val="1E293B"/>
                </a:solidFill>
                <a:latin typeface="Aptos"/>
              </a:defRPr>
            </a:pPr>
            <a:r>
              <a:t>6. Preserve the pre-change configuration and evidence; correct the first unhealthy layer.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70">
                <a:solidFill>
                  <a:srgbClr val="1E293B"/>
                </a:solidFill>
                <a:latin typeface="Aptos"/>
              </a:defRPr>
            </a:pPr>
            <a:r>
              <a:t>7. Verify offsets, task state, counts, fields, DLQ, and the original business symptom.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Change control: minimum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73152" cy="48920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Before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Scope and owner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Reason and expected benefit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Current config and health baseline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Risk, maintenance window, and dependencies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Success and abort criteria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Exact rollback artifact or command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1234440"/>
            <a:ext cx="73152" cy="489204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After the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Command/API result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Component health and logs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Offset continuity and lag recovery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Query plan or storage effect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Data count/field reconciliation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Recorded decision: keep, abort, or roll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Typical failure signatures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560320"/>
                <a:gridCol w="2743200"/>
                <a:gridCol w="3291840"/>
              </a:tblGrid>
              <a:tr h="830580">
                <a:tc>
                  <a:txBody>
                    <a:bodyPr/>
                    <a:lstStyle/>
                    <a:p>
                      <a:pPr algn="l"/>
                      <a:r>
                        <a:rPr sz="1220" b="1">
                          <a:solidFill>
                            <a:srgbClr val="FFFFFF"/>
                          </a:solidFill>
                          <a:latin typeface="Aptos"/>
                        </a:rPr>
                        <a:t>Symptom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20" b="1">
                          <a:solidFill>
                            <a:srgbClr val="FFFFFF"/>
                          </a:solidFill>
                          <a:latin typeface="Aptos"/>
                        </a:rPr>
                        <a:t>Likely affected layer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20" b="1">
                          <a:solidFill>
                            <a:srgbClr val="FFFFFF"/>
                          </a:solidFill>
                          <a:latin typeface="Aptos"/>
                        </a:rPr>
                        <a:t>Primary evidence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20" b="1">
                          <a:solidFill>
                            <a:srgbClr val="FFFFFF"/>
                          </a:solidFill>
                          <a:latin typeface="Aptos"/>
                        </a:rPr>
                        <a:t>Targeted response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COLLSCAN / high examined:return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MongoDB query/index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executionStats + profiler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Review and validate index change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One partition dominates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Producer key/topic design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Per-partition offsets/bytes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Fix key cardinality or partition plan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Lag with moving commits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Consumer capacity/downstream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Offset rates + dependency latency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Remove bottleneck/add sustainable capacity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Poison record / task FAILED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Worker processing stage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Trace + source offset + DLQ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Correct policy; restart failed task only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Counts normal, field 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Data correctness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Field-level reconciliation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1E293B"/>
                          </a:solidFill>
                          <a:latin typeface="Aptos"/>
                        </a:rPr>
                        <a:t>Approved repair/replay from source of truth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Module 1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Can you trace one order from producer acknowledgement to a correct MongoDB document?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Can you explain what topic health, group lag, and zero lag each do—and do not—prove?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Can you name the first evidence and owner for each operational layer?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Can you distinguish an inefficient query, hot partition, throughput deficit, poison record, and data drift?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Can you state the rollback and verification evidence before making a change?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241280" cy="11430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MongoDB Monitoring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24612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E6F0FA"/>
                </a:solidFill>
                <a:latin typeface="Aptos"/>
              </a:rPr>
              <a:t>Measure growth, interpret query work, manage indexes, prove restore readiness, and design actionable alerts.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5349240"/>
            <a:ext cx="18288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596128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Evidence first • change only what the evidence supports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Module 2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Measure database, collection, index, and storage growth at two points.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Correlate profiler evidence with executionStats and query shape.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Propose, validate, monitor, and roll back an index change.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Prove writable-primary state, replica status, backup creation, and isolated restore.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Translate MongoDB signals into alerts with duration, owner, and first action.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MongoDB growth signals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754880"/>
                <a:gridCol w="420624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Signal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What it represents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Operational use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count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Logical document count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Business workload volume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size / dataSize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Logical document bytes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Data growth rate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storageSize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Allocated collection storage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Allocation and compression behavior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totalIndexSize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Bytes used by all indexes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Index cost and capacity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Filesystem usage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Journal, oplog, indexes, metadata, free space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Time until volume limit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Process stats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CPU, memory, network, block I/O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Resource pressure correlation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A point-in-time size is not a trend. Measure a delta and forecast against an operational limit.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Measure growth at two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98448"/>
            <a:ext cx="10789920" cy="356616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417319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55648"/>
            <a:ext cx="10387584" cy="2980944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# Baseline at 100 documents
python demo/monitor_mongodb.py snapshot
python demo/inspect_mongodb.py stats
# Add and process 400 more orders
python demo/producer.py --repeat 20 --interval-ms 0
python demo/consumer.py --max-messages 400
python demo/monitor_mongodb.py snapshot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1206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Calculate document, logical-data, allocated-storage, and index-size deltas.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Forecast time to a defined disk threshold; do not equate collection bytes with filesystem use.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Slow-query evidence: latency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3456432" cy="425196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73152" cy="42519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463039"/>
            <a:ext cx="3044951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38528"/>
            <a:ext cx="3072384" cy="34747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Enable profiling briefly and deliberately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Capture namespace, command/query shape, timestamp, and runtime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Disable profiling immediately after the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298448"/>
            <a:ext cx="3456432" cy="425196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1298448"/>
            <a:ext cx="73152" cy="425196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463039"/>
            <a:ext cx="3044951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938528"/>
            <a:ext cx="3072384" cy="34747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Read winning plan stages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Compare totalDocsExamined and nReturned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Compare totalKeysExamined and returned rows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Correlate with the same query shape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298448"/>
            <a:ext cx="3456432" cy="425196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298448"/>
            <a:ext cx="73152" cy="425196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463039"/>
            <a:ext cx="3044951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Interpret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1938528"/>
            <a:ext cx="3072384" cy="34747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COLLSCAN + high examined:return = inefficient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Fast execution on a small dataset can still be wasteful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A log miss does not override profiler/explain evidence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Capture and read a query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98448"/>
            <a:ext cx="10789920" cy="425196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417319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55648"/>
            <a:ext cx="10387584" cy="3666744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python demo/inspect_mongodb.py drop-index
mongosh ... --eval 'db.setProfilingLevel(1, {slowms: 0, sampleRate: 1})'
python demo/inspect_mongodb.py query --customer-id CUST-1001
mongosh ... --eval 'db.setProfilingLevel(0)'
python demo/monitor_mongodb.py profile --limit 5
python demo/inspect_mongodb.py query --customer-id CUST-1001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96712"/>
            <a:ext cx="10607040" cy="420624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5788152"/>
            <a:ext cx="10277856" cy="28346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Expected evidence: COLLSCAN, all or many documents examined, and zero index keys.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Index maintenance as a controlled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64208"/>
            <a:ext cx="19202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1920240" cy="530352"/>
          </a:xfrm>
          <a:prstGeom prst="round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92224"/>
            <a:ext cx="1773936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450592"/>
            <a:ext cx="1609344" cy="16916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450" b="0">
                <a:solidFill>
                  <a:srgbClr val="1E293B"/>
                </a:solidFill>
                <a:latin typeface="Aptos"/>
              </a:rPr>
              <a:t>Correct results; COLLSCAN; examined:return; index bytes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664208"/>
            <a:ext cx="19202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0360" y="1664208"/>
            <a:ext cx="1920240" cy="530352"/>
          </a:xfrm>
          <a:prstGeom prst="round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53512" y="1792224"/>
            <a:ext cx="1773936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Proposal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2450592"/>
            <a:ext cx="1609344" cy="16916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450" b="0">
                <a:solidFill>
                  <a:srgbClr val="1E293B"/>
                </a:solidFill>
                <a:latin typeface="Aptos"/>
              </a:rPr>
              <a:t>{customer_id: 1}; name customer_id_1; benefit and cost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93792" y="1664208"/>
            <a:ext cx="19202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93792" y="1664208"/>
            <a:ext cx="1920240" cy="530352"/>
          </a:xfrm>
          <a:prstGeom prst="round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1792224"/>
            <a:ext cx="1773936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50592"/>
            <a:ext cx="1609344" cy="16916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450" b="0">
                <a:solidFill>
                  <a:srgbClr val="1E293B"/>
                </a:solidFill>
                <a:latin typeface="Aptos"/>
              </a:rPr>
              <a:t>Create index under approved scope and window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07223" y="1664208"/>
            <a:ext cx="19202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07223" y="1664208"/>
            <a:ext cx="1920240" cy="530352"/>
          </a:xfrm>
          <a:prstGeom prst="round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0375" y="1792224"/>
            <a:ext cx="1773936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2671" y="2450592"/>
            <a:ext cx="1609344" cy="16916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450" b="0">
                <a:solidFill>
                  <a:srgbClr val="1E293B"/>
                </a:solidFill>
                <a:latin typeface="Aptos"/>
              </a:rPr>
              <a:t>IXSCAN/FETCH; fewer documents examined; correct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0655" y="1664208"/>
            <a:ext cx="192024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20655" y="1664208"/>
            <a:ext cx="1920240" cy="530352"/>
          </a:xfrm>
          <a:prstGeom prst="round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3807" y="1792224"/>
            <a:ext cx="1773936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6103" y="2450592"/>
            <a:ext cx="1609344" cy="16916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450" b="0">
                <a:solidFill>
                  <a:srgbClr val="1E293B"/>
                </a:solidFill>
                <a:latin typeface="Aptos"/>
              </a:rPr>
              <a:t>$indexStats usage; storage/write cost; rollback boundary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230368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321807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Review unused indexes over time; do not delete automatically from one zero-use snapshot.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Replication and availability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73152" cy="48920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What to 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Replica-set name and expected members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isWritablePrimary / member state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Member health and optime movement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Replication lag and elections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Connections and write errors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1234440"/>
            <a:ext cx="73152" cy="489204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Lab limitation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rs0 has one PRIMARY member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It accepts writes and supports change streams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It has no redundant copy or failover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A green single node is still a major availability risk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Production maintenance requires healthy redundancy first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Backup readiness requires a tested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10789920" cy="342900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353312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691640"/>
            <a:ext cx="10387584" cy="2843784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export BACKUP_NAME='workshop-&lt;UTC timestamp&gt;.archive'
mongodump --uri 'mongodb://localhost:27017/?replicaSet=rs0&amp;directConnection=true' \
  --db workshop --archive="/backups/$BACKUP_NAME" --gzip
mongorestore --uri 'mongodb://localhost:27017/?replicaSet=rs0&amp;directConnection=true' \
  --archive="/backups/$BACKUP_NAME" --gzip \
  --nsFrom='workshop.*' --nsTo='workshop_restore.*' --drop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64608"/>
            <a:ext cx="10561320" cy="12344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defRPr sz="1550">
                <a:solidFill>
                  <a:srgbClr val="1E293B"/>
                </a:solidFill>
                <a:latin typeface="Aptos"/>
              </a:defRPr>
            </a:pPr>
            <a:r>
              <a:t>Verify archive exists and is nonzero; restore with zero failures into an isolated namespace.</a:t>
            </a:r>
          </a:p>
          <a:p>
            <a:pPr>
              <a:lnSpc>
                <a:spcPct val="105000"/>
              </a:lnSpc>
              <a:spcAft>
                <a:spcPts val="300"/>
              </a:spcAft>
              <a:defRPr sz="1550">
                <a:solidFill>
                  <a:srgbClr val="1E293B"/>
                </a:solidFill>
                <a:latin typeface="Aptos"/>
              </a:defRPr>
            </a:pPr>
            <a:r>
              <a:t>Compare source/restored counts and required indexes; then remove only workshop_restore.</a:t>
            </a:r>
          </a:p>
          <a:p>
            <a:pPr>
              <a:lnSpc>
                <a:spcPct val="105000"/>
              </a:lnSpc>
              <a:spcAft>
                <a:spcPts val="300"/>
              </a:spcAft>
              <a:defRPr sz="1550">
                <a:solidFill>
                  <a:srgbClr val="1E293B"/>
                </a:solidFill>
                <a:latin typeface="Aptos"/>
              </a:defRPr>
            </a:pPr>
            <a:r>
              <a:t>This local drill does not prove PITR, encryption, off-host copies, retention, or production recovery time.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MongoDB capacity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Measure collection, index, oplog, backup, and filesystem growth separately.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Track connections, cache and memory behavior, operation rates, and write/read latency.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Calculate remaining capacity and time-to-limit using a representative rate, not a single snapshot.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Escalate when the forecast enters the time needed to investigate, approve, and add capacity.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Preserve evidence before emergency cleanup; never delete data, indexes, or logs reflexively.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623559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Largest lab risk: the only database member is also the only copy and the only write target.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MongoDB alert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846320"/>
                <a:gridCol w="420624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</a:rPr>
                        <a:t>Signal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</a:rPr>
                        <a:t>Actionable condition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</a:rPr>
                        <a:t>Owner / first action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Writable primary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False when writes are expected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DBA: inspect member state and elections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Disk forecast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Limit crossed inside response window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Platform/DBA: identify growth and add capacity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Query efficiency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Sustained high examined:return for important shape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DBA/app: inspect plan and workload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Connections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Sustained use near configured/platform limit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DBA/app: inspect pools and leaks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Replication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Unhealthy member or growing optime lag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DBA: protect redundancy before maintenance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Backup readiness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Backup/restore validation overdue or failed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Backup owner: investigate before declaration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Each alert needs condition, duration, severity, scope, evidence, owner, and first response.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Hands-on Lab 1: MongoDB health and query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Review database, collection, index, and filesystem statistics in the sample environment.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Capture an inefficient customer lookup and identify its plan and examined:return ratio.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Propose and apply customer_id_1 as a controlled maintenance action.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Prove correct results, IXSCAN/FETCH, reduced work, index presence, and usage evidence.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Create a short health-check checklist covering availability, performance, capacity, and backup readiness.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623559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Submit commands, raw evidence, interpretation, rollback, and post-change verification.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Lab 1 deliverable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71192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Minimum acceptance criteria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Growth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Before/after document and byte deltas; explain filesystem difference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Query regression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Namespace, shape, plan, returned/examined values, profiling disabled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Index change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Justification, benefit/cost, IXSCAN proof, rollback, usage counter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Restore readiness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Archive, isolated restore, count/index equivalence, stated limitations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Health checklist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Storage, indexes, query, replication, connections, backup, logs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3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Alerts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At least four with duration, owner, and first action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241280" cy="11430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Kafka Monitoring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24612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E6F0FA"/>
                </a:solidFill>
                <a:latin typeface="Aptos"/>
              </a:rPr>
              <a:t>Prove topic health, interpret offset movement, manage lifecycle settings, and separate stalls from throughput deficits.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5349240"/>
            <a:ext cx="18288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596128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Evidence first • change only what the evidence supports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Module 3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Prove broker response, partition leader/replica/ISR state, topic structure, throughput, and disk evidence.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Explain lag through end-offset and committed-offset movement.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Review retention, compaction, and topic lifecycle changes safely.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Distinguish hot partitions, stalled consumers, throughput deficits, and actual broker pressure.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Design actionable Kafka alerts with duration, owner, and first response.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Broker and topic health are separate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3429000" cy="416052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325880"/>
            <a:ext cx="73152" cy="41605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490472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65960"/>
            <a:ext cx="3044952" cy="3383279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API responds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Controller/metadata available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CPU, memory, network, disk,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325880"/>
            <a:ext cx="3429000" cy="416052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25880"/>
            <a:ext cx="73152" cy="416052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1490472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Topic / partitions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65960"/>
            <a:ext cx="3044952" cy="3383279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Expected partition count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Leader for every partition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Approved replicas and ISR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Effective topic configuration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325880"/>
            <a:ext cx="3429000" cy="416052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325880"/>
            <a:ext cx="73152" cy="416052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1490472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Workload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1965960"/>
            <a:ext cx="3044952" cy="3383279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End-offset movement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Records/bytes per second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Per-partition distribution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Consumer progress and lag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1500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5806440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A partition leader proves it can be served—not that consumers are current or MongoDB is correct.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Establish a topic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10789920" cy="333756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444752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83080"/>
            <a:ext cx="10387584" cy="2752344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kafka-broker-api-versions.sh --bootstrap-server localhost:9092
kafka-topics.sh --bootstrap-server localhost:9092 \
  --describe --topic workshop-orders
kafka-get-offsets.sh --bootstrap-server localhost:9092 \
  --topic workshop-orders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92040"/>
            <a:ext cx="10424160" cy="9601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Expected lab invariant: 3 partitions; broker 1 is leader, replica, and ISR for each.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Replication factor 1 is a local training constraint, not a production availability design.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Measure short-run record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61872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Capture start timestamp and per-partition end offsets.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Produce a known batch—for example, 2,000 records.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Capture end timestamp and end offsets.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Estimate records/second = total offset delta ÷ elapsed seconds.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900">
                <a:solidFill>
                  <a:srgbClr val="1E293B"/>
                </a:solidFill>
                <a:latin typeface="Aptos"/>
              </a:defRPr>
            </a:pPr>
            <a:r>
              <a:t>Correlate with disk bytes and process CPU/memory/I/O; this is not broker byte-rate telemetry.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4068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532120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Growing offsets prove Kafka accepted records; they do not prove downstream completion.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Diagnose lag from offset movement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200400"/>
                <a:gridCol w="4937760"/>
              </a:tblGrid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ptos"/>
                        </a:rPr>
                        <a:t>End offsets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ptos"/>
                        </a:rPr>
                        <a:t>Committed offsets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ptos"/>
                        </a:rPr>
                        <a:t>Likely interpretation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Increasing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Increasing equally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Consumer is keeping 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Increasing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Increasing more slowly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Consumer throughput deficit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Fixed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Increasing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Existing backlog is draining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Increasing or fixed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Fixed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Stopped, blocked, failed, or rebalancing consumer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Fixed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Equal to 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Aptos"/>
                        </a:rPr>
                        <a:t>Caught up; no Kafka backlog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Correlate lag with group membership, worker errors, downstream latency, and partition distribution.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Consumer-group membership and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10789920" cy="233172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444752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83080"/>
            <a:ext cx="10387584" cy="1746503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kafka-consumer-groups.sh --bootstrap-server localhost:9092 \
  --group workshop-order-processor --describe
kafka-consumer-groups.sh --bootstrap-server localhost:9092 \
  --group workshop-order-processor --describe --members --verbose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9352"/>
            <a:ext cx="10469880" cy="1600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While running, members own partition assignments; after exit, membership disappears but commits remain.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Before the first commit, the CLI may report that the group does not exist even when topic data exists.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Brief rebalances are normal; alert on sustained lack of progress, not every transition.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Partition skew and key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44168"/>
            <a:ext cx="5230368" cy="429768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344168"/>
            <a:ext cx="73152" cy="429768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508760"/>
            <a:ext cx="481888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Hot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84248"/>
            <a:ext cx="4846320" cy="35204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Constant key sends nearly all 1,000 records to one partition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Limits consumer parallelism to that partition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Can concentrate bytes, requests, and lag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Evidence: per-partition offsets/bytes and skew ratio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344168"/>
            <a:ext cx="5230368" cy="429768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344168"/>
            <a:ext cx="73152" cy="429768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1508760"/>
            <a:ext cx="481888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Better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984248"/>
            <a:ext cx="4846320" cy="35204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customer_id offers higher cardinality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Preserves per-customer ordering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Distributes load across more partitions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Good balance is measured, not assumed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607040" cy="393192"/>
          </a:xfrm>
          <a:prstGeom prst="roundRect">
            <a:avLst/>
          </a:prstGeom>
          <a:solidFill>
            <a:srgbClr val="F2F9F6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833872"/>
            <a:ext cx="10277856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2B6CB0"/>
                </a:solidFill>
                <a:latin typeface="Aptos"/>
              </a:rPr>
              <a:t>Key cardinality and ordering requirements are producer/data-design decisions—not broker-restart problems.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Retention, compaction, and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Topic values may inherit broker defaults; an absent override does not mean unlimited retention.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delete removes eligible old segments according to retention; cleanup is asynchronous.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compact retains the latest value per key over time; tombstones represent deletions.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compact,delete combines latest-state compaction with time/size-based deletion.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Test risky lifecycle changes only on an isolated topic; record the old config and rollback by removing overrides.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892040"/>
            <a:ext cx="10789920" cy="96012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010912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REVIEWED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5349240"/>
            <a:ext cx="10387584" cy="374904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kafka-configs.sh ... --entity-name workshop-lifecycle --alter \
  --add-config 'cleanup.policy=[compact,delete],retention.ms=604800000'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Kafka failure signatures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331720"/>
                <a:gridCol w="3154680"/>
                <a:gridCol w="3337560"/>
              </a:tblGrid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260" b="1">
                          <a:solidFill>
                            <a:srgbClr val="FFFFFF"/>
                          </a:solidFill>
                          <a:latin typeface="Aptos"/>
                        </a:rPr>
                        <a:t>Symptom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1">
                          <a:solidFill>
                            <a:srgbClr val="FFFFFF"/>
                          </a:solidFill>
                          <a:latin typeface="Aptos"/>
                        </a:rPr>
                        <a:t>Interpretation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60" b="1">
                          <a:solidFill>
                            <a:srgbClr val="FFFFFF"/>
                          </a:solidFill>
                          <a:latin typeface="Aptos"/>
                        </a:rPr>
                        <a:t>Recovery principle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One partition dominates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Offsets/bytes/skew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Key-cardinality or partition design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Fix key or approved partition plan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Lag fixed above zero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Two snapshots; commits fixed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Stopped/blocked/failed/rebalancing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Restore or unblock consumer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Lag grows; commits move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End rate &gt; commit 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Throughput deficit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Remove bottleneck/add capacity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CPU/disk/errors high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Resource stats + logs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Measured broker pressure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Protect capacity; diagnose root cause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Unexpected retention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Effective topic config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Lifecycle drift / data-loss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60" b="0">
                          <a:solidFill>
                            <a:srgbClr val="1E293B"/>
                          </a:solidFill>
                          <a:latin typeface="Aptos"/>
                        </a:rPr>
                        <a:t>Restore approved override/default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Do not claim broker pressure from an imbalanced workload alone; require resource or error evidence.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Kafka alert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297680"/>
              </a:tblGrid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Signal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Condition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Owner / first action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Leader availability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Any expected partition has no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Kafka owner: inspect broker/controller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ISR/replicas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ISR below approved replica count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Kafka owner: protect redundancy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Stalled group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Lag sustained and commits do not move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Consumer owner: inspect membership/errors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Throughput deficit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Lag grows while commits and end move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App/platform: compare rates/dependencies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Disk forecast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Log-dir limit inside response window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Kafka/platform: identify growth/add capacity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Partition skew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One partition persistently dominates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Producer/data owner: review key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Lifecycle drift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Effective config differs from approved policy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93B"/>
                          </a:solidFill>
                          <a:latin typeface="Aptos"/>
                        </a:rPr>
                        <a:t>Kafka owner: review and roll back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Hands-on Lab 2: Diagnose consumer lag and topic 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Inspect brokers, topics, partitions, leaders, replicas/ISR, end offsets, disk, and process resources.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Create a backlog and classify it using two or more offset snapshots.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Distinguish a draining backlog, a stalled group, and a throughput deficit.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Create a hot-key workload and compare per-partition distribution with customer keying.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Review retention/compaction settings and identify lifecycle risks.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Create a short Kafka health-check and alert checklist.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641848"/>
            <a:ext cx="10607040" cy="420624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733288"/>
            <a:ext cx="10277856" cy="28346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Record exact topic, group, partition, offsets, duration, interpretation, owner, and first action.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Lab 2 deliverable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732520"/>
              </a:tblGrid>
              <a:tr h="711925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Aptos"/>
                        </a:rPr>
                        <a:t>Minimum acceptance criteria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Topic health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Leaders, replicas/ISR, partition count, offsets, disk/resource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Lag classification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At least two snapshots; end/commit movement and likely cause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Partition skew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Per-partition distribution and key-cardinality explanation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Lifecycle review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Effective settings, risk, reviewed change, rollback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Restart/persistence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Explain retained records and durable committed progress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30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Alert checklist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E293B"/>
                          </a:solidFill>
                          <a:latin typeface="Aptos"/>
                        </a:rPr>
                        <a:t>Leader, ISR, stall, deficit, disk, skew, lifecycle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241280" cy="11430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Kafka Connect and MongoDB Connector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24612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E6F0FA"/>
                </a:solidFill>
                <a:latin typeface="Aptos"/>
              </a:rPr>
              <a:t>Inspect worker and task health, validate configuration, handle failures and DLQs, reconcile data, and plan safe upgrades.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5349240"/>
            <a:ext cx="18288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596128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Evidence first • change only what the evidence supports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Module 4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19202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04872"/>
            <a:ext cx="1737360" cy="6858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50" b="1">
                <a:solidFill>
                  <a:srgbClr val="1F7A56"/>
                </a:solidFill>
                <a:latin typeface="Aptos"/>
              </a:rPr>
              <a:t>MongoDB source
connector_source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8024" y="258775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6352" y="2148840"/>
            <a:ext cx="19202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2404872"/>
            <a:ext cx="1737360" cy="6858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50" b="1">
                <a:solidFill>
                  <a:srgbClr val="2B6CB0"/>
                </a:solidFill>
                <a:latin typeface="Aptos"/>
              </a:rPr>
              <a:t>Source connector
workshop-mongo-source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5" y="258775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214884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1F3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0368" y="2404872"/>
            <a:ext cx="1783080" cy="6858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50" b="1">
                <a:solidFill>
                  <a:srgbClr val="1F374E"/>
                </a:solidFill>
                <a:latin typeface="Aptos"/>
              </a:rPr>
              <a:t>Kafka CDC topic
workshop-cdc…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1" y="258775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148840"/>
            <a:ext cx="19202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2404872"/>
            <a:ext cx="1737360" cy="6858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50" b="1">
                <a:solidFill>
                  <a:srgbClr val="2B6CB0"/>
                </a:solidFill>
                <a:latin typeface="Aptos"/>
              </a:rPr>
              <a:t>Sink connector
workshop-mongo-sink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58775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11512" y="2148840"/>
            <a:ext cx="187451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2952" y="2404872"/>
            <a:ext cx="1691639" cy="6858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50" b="1">
                <a:solidFill>
                  <a:srgbClr val="1F7A56"/>
                </a:solidFill>
                <a:latin typeface="Aptos"/>
              </a:rPr>
              <a:t>MongoDB sink
connector_sink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79" y="4160520"/>
            <a:ext cx="1508760" cy="658368"/>
          </a:xfrm>
          <a:prstGeom prst="roundRect">
            <a:avLst/>
          </a:prstGeom>
          <a:solidFill>
            <a:srgbClr val="FDF5EB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4297680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B46914"/>
                </a:solidFill>
                <a:latin typeface="Aptos"/>
              </a:rPr>
              <a:t>Connect DLQ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538728"/>
            <a:ext cx="256032" cy="43891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413248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504688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Source watches only connector_source; sink writes only connector_sink to prevent a change-stream loop.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Worker, connector, and task health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REST root available: worker API responds.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Plugin endpoint: required MongoDB source/sink classes and versions are discovered.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Connector state: logical connector lifecycle is visible.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Every task state: actual work unit is RUNNING, PAUSED, RESTARTING, or FAILED.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Logs and trace: stage, exception, dependency, topic/partition/offset, and restart history.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Last successful movement: offsets and source/sink records are still advancing.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57784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669279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A connector can report RUNNING while one of its tasks is FAILED; inspect every task.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Connect health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61872"/>
            <a:ext cx="10789920" cy="388620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380743"/>
            <a:ext cx="10387584" cy="23774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19072"/>
            <a:ext cx="10387584" cy="3300984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curl -fsS http://localhost:8083/ | jq
curl -fsS http://localhost:8083/connector-plugins | jq
curl -fsS 'http://localhost:8083/connectors?expand=status&amp;expand=info' | jq
curl -fsS http://localhost:8083/connectors/workshop-mongo-sink/status | jq
docker compose -f connect/docker-compose.yml logs --tail=200 connect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9496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5486400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Keep worker availability, connector state, task state, trace, and data movement as separate evidence.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Maintainable connector configuration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73152" cy="48920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Review before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Connector class and tasks.max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MongoDB URI and narrow DB/collection scope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Explicit topic or naming policy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Key/value converters and schemas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Retry, error tolerance, logging, and DLQ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Credentials externalized from JSON and Git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1234440"/>
            <a:ext cx="73152" cy="489204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Change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Keep desired config in version control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Validate against the installed plugin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Capture current config and status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Use POST for new names; PUT for reviewed update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Wait for every task and reconcile new data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Rollback to the captured approved config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Validate, apply, then prove runtime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28800"/>
            <a:ext cx="1874519" cy="160020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93392"/>
            <a:ext cx="347472" cy="347472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560320"/>
            <a:ext cx="1581912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50" b="1">
                <a:solidFill>
                  <a:srgbClr val="1F374E"/>
                </a:solidFill>
                <a:latin typeface="Aptos"/>
              </a:rPr>
              <a:t>Review JSON
and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96312" y="2450592"/>
            <a:ext cx="34747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1874519" cy="160020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1993392"/>
            <a:ext cx="347472" cy="347472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2560320"/>
            <a:ext cx="1581912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50" b="1">
                <a:solidFill>
                  <a:srgbClr val="1F374E"/>
                </a:solidFill>
                <a:latin typeface="Aptos"/>
              </a:rPr>
              <a:t>Plugin config
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450592"/>
            <a:ext cx="34747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02936" y="1828800"/>
            <a:ext cx="1874519" cy="160020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1808" y="1993392"/>
            <a:ext cx="347472" cy="347472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560320"/>
            <a:ext cx="1581912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50" b="1">
                <a:solidFill>
                  <a:srgbClr val="1F374E"/>
                </a:solidFill>
                <a:latin typeface="Aptos"/>
              </a:rPr>
              <a:t>POST or PUT
desired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450592"/>
            <a:ext cx="34747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07224" y="1828800"/>
            <a:ext cx="1874519" cy="160020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1993392"/>
            <a:ext cx="347472" cy="347472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3528" y="2560320"/>
            <a:ext cx="1581912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50" b="1">
                <a:solidFill>
                  <a:srgbClr val="1F374E"/>
                </a:solidFill>
                <a:latin typeface="Aptos"/>
              </a:rPr>
              <a:t>Wait for every
task RUNNING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2450592"/>
            <a:ext cx="347472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11512" y="1828800"/>
            <a:ext cx="1874519" cy="1600200"/>
          </a:xfrm>
          <a:prstGeom prst="roundRect">
            <a:avLst/>
          </a:prstGeom>
          <a:solidFill>
            <a:srgbClr val="F4F6F8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0384" y="1993392"/>
            <a:ext cx="347472" cy="347472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txBody>
          <a:bodyPr wrap="non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2560320"/>
            <a:ext cx="1581912" cy="5029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550" b="1">
                <a:solidFill>
                  <a:srgbClr val="1F374E"/>
                </a:solidFill>
                <a:latin typeface="Aptos"/>
              </a:rPr>
              <a:t>Trace record and
reconcile sink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160520"/>
            <a:ext cx="10195560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Validation proves the installed plugin accepts values; it does not prove dependency access or data flow.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A successful PUT may reconfigure tasks; verify status, offsets, DLQ, and source-to-sink content.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Rejected change vs. failed running task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474720"/>
                <a:gridCol w="2743200"/>
                <a:gridCol w="2606040"/>
              </a:tblGrid>
              <a:tr h="996696">
                <a:tc>
                  <a:txBody>
                    <a:bodyPr/>
                    <a:lstStyle/>
                    <a:p>
                      <a:pPr algn="l"/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Meaning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Correct response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996696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Bad URI rejected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HTTP 400; approved URI remains; task RUNNING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Desired change never replaced running config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Fix proposal; no service restart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96696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Strict policy + malformed JSON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Connector RUNNING; task FAILED; converter trace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Running task stopped at poison offset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Preserve trace; apply policy; restart failed task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996696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Worker REST unavailable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Root/health call fails; worker logs/process state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Worker or network unavailable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Restore worker/API; then inspect tasks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96696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Sink slow but task RUNNING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Offsets/lag and dependency latency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Throughput deficit or downstream bottleneck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Diagnose rates and dependency—not blind restart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Malformed records and the DLQ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Strict policy: the converter error can drive the sink task to FAILED without taking down Kafka, MongoDB, or the worker.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Tolerant policy: Connect preserves the raw record in workshop-connect-dlq and continues processing.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DLQ headers should include source topic, partition, offset, connector, task, stage, and exception context.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The source offset should advance only after the error policy has safely handled the record.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A running task plus an unmonitored DLQ silently hides lost business processing.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504688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596127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Define DLQ alerting, ownership, retention, correction, replay authorization, and audit.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Retry policy: bounded and observable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73152" cy="489204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Define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Which exceptions are retriable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Maximum retry window and backoff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When to fail versus route to DLQ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Alert threshold and escalation owner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Idempotency and replay behavior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1234440"/>
            <a:ext cx="73152" cy="489204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03030"/>
                </a:solidFill>
                <a:latin typeface="Aptos"/>
              </a:rPr>
              <a:t>Avoid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Retrying every exception indefinitely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Assuming driver retries equal framework retries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Restarting the worker to repair bad config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Committing poison offsets before preservation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Replaying without correction and audit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Trace and reconcile MongoDB → Kafka →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Insert uniquely identified documents into workshop.connector_source.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Confirm source connector and task are RUNNING and CDC topic end offsets increase.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Consume the CDC topic and locate the same order_id and expected fields.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Confirm sink connector and task are RUNNING; wait for asynchronous movement.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Compare source and sink counts for the test batch and field values by order_id.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Verify the DLQ did not grow for valid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596128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687568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Availability and zero lag do not prove semantic equivalence; reconciliation is a separate control.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Connector configuration and version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KAFKA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61288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Capture approved connector config, task status, source/sink offsets, DLQ count, and reconciliation baseline.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Record Kafka worker version, connector/plugin version, container image/digest, MongoDB version, and compatibility evidence separately.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Test the pinned image and plugin with representative data outside production.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Roll workers one at a time only in a redundant distributed deployment.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Verify membership, every task, offset continuity, lag recovery, DLQ, and data reconciliation.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Rollback the image/plugin or config on an abort condition; do not blindly rewrite stored offsets.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650992"/>
            <a:ext cx="10607040" cy="402336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742431"/>
            <a:ext cx="10277856" cy="265176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The lab has one worker; recreating it causes a Connect outage even though internal-topic state survives.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Kafka Connect alert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799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4709160"/>
                <a:gridCol w="4389120"/>
              </a:tblGrid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Signal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Condition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Owner / first action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Worker/API loss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REST unavailable beyond tolerance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Platform: inspect worker/process/network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Failed task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Any task FAILED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Connector owner: preserve trace and source offset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Stalled movement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Offsets fixed with expected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Connector/data owner: inspect task/dependency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Retry exhaustion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Retries exceed bounded policy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Connector owner: classify exception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DLQ growth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Any unexpected DLQ increase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Data owner: inspect headers/raw record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Config/version drift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Runtime differs from approved state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Platform/change owner: review and restore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Reconciliation failure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Count/field invariant breaks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Data/app owner: stop unsafe replay, investigate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Hands-on Lab 3: Troubleshoot the connector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Prove worker REST health, installed plugins, connector states, and every task state.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Validate and apply source and sink configuration; trace a uniquely identified event end to end.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Attempt a bad-URI change and prove it was rejected without replacing the approved config.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Use strict error handling to create a FAILED task; preserve trace evidence before correction.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Restore the tolerant policy, restart only failed tasks, inspect the DLQ, and verify valid-record recovery.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Document recommended alerts and ownership for the connector 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605272"/>
            <a:ext cx="10607040" cy="420624"/>
          </a:xfrm>
          <a:prstGeom prst="roundRect">
            <a:avLst/>
          </a:prstGeom>
          <a:solidFill>
            <a:srgbClr val="F2F9F6"/>
          </a:solidFill>
          <a:ln>
            <a:solidFill>
              <a:srgbClr val="B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696712"/>
            <a:ext cx="10277856" cy="283464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03030"/>
                </a:solidFill>
                <a:latin typeface="Aptos"/>
              </a:rPr>
              <a:t>Do not restart Kafka or MongoDB when their evidence remains healthy.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Lab 3 deliverable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8823960"/>
              </a:tblGrid>
              <a:tr h="711925">
                <a:tc>
                  <a:txBody>
                    <a:bodyPr/>
                    <a:lstStyle/>
                    <a:p>
                      <a:pPr algn="l"/>
                      <a:r>
                        <a:rPr sz="138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80" b="1">
                          <a:solidFill>
                            <a:srgbClr val="FFFFFF"/>
                          </a:solidFill>
                          <a:latin typeface="Aptos"/>
                        </a:rPr>
                        <a:t>Minimum acceptance criteria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Layered health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Worker, plugins, connectors, every task, offsets, DLQ, source/sink counts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End-to-end trace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One order_id across source, Kafka, sink; count and field reconciliation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Rejected config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HTTP 400/bad dependency; approved config and task remain healthy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Failed task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Converter-stage trace and poison topic/partition/offset preserved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Recovery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Tolerant config, failed-task restart, DLQ context, later valid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1930"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Alert matrix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0" b="0">
                          <a:solidFill>
                            <a:srgbClr val="1E293B"/>
                          </a:solidFill>
                          <a:latin typeface="Aptos"/>
                        </a:rPr>
                        <a:t>Worker, task, movement, retry, DLQ, drift, reconciliation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241280" cy="11430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Final Activity: Operations Runbook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24612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E6F0FA"/>
                </a:solidFill>
                <a:latin typeface="Aptos"/>
              </a:rPr>
              <a:t>Turn commands and observations into routine checks, alerts, incident procedures, maintenance controls, and replay safeguards.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5349240"/>
            <a:ext cx="18288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596128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Evidence first • change only what the evidence supports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What makes a runbook operational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Scope and purpose: exact environment, resource, and business outcome.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Signal or command: how the responder obtains evidence.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Normal condition and actionable threshold: what requires a decision.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Owner and escalation path: who acts and when responsibility moves.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First response, recovery, and verification: preserve evidence and prove the outcome.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Risk warning: destructive scope, single-node limitation, secrets, or replay authorization.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559552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B46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650992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46914"/>
                </a:solidFill>
                <a:latin typeface="Aptos"/>
              </a:rPr>
              <a:t>A command list without decisions, owners, thresholds, and verification is not a runbook.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Daily operational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123444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MongoDB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Kafka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Kafka Connect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Writable primary / members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Broker/controller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Worker REST / membership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Storage growth / forecast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Leaders, replicas, ISR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Connector and every task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Important query plans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Disk forecast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Retry/error logs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Index presence / usage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Topic lifecycle config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DLQ movement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Connections / errors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Throughput / skew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Config/version drift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Backup and restore-test age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Consumer offset / lag movement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293B"/>
                          </a:solidFill>
                          <a:latin typeface="Aptos"/>
                        </a:rPr>
                        <a:t>Source-to-sink reconciliation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806440"/>
            <a:ext cx="10607040" cy="41148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97879"/>
            <a:ext cx="10277856" cy="27432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For every check, document command/signal, normal state, alert/owner, and first action.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Alert matrix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280160"/>
          <a:ext cx="109728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71800"/>
                <a:gridCol w="1188720"/>
                <a:gridCol w="2743200"/>
                <a:gridCol w="2240280"/>
              </a:tblGrid>
              <a:tr h="85039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Alert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Condition + duration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Severity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Evidence in notification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Owner / escalation</a:t>
                      </a:r>
                    </a:p>
                  </a:txBody>
                  <a:tcPr>
                    <a:solidFill>
                      <a:srgbClr val="1F374E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Stalled consumer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Lag &gt; threshold and no commit movement for N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Topic, group, partition, current/end, 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Consumer owner → platform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Failed task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Any task FAILED for &gt; grace period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Connector, task, worker, trace, source offset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Connector owner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DLQ growth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Unexpected increase in interval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Medium/High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DLQ offset delta, error stage/type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Data owner →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Capacity forecast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Limit crossed inside response window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Used/free, growth rate, time-to-limit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1E293B"/>
                          </a:solidFill>
                          <a:latin typeface="Aptos"/>
                        </a:rPr>
                        <a:t>Platform/DB owner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760720"/>
            <a:ext cx="10607040" cy="393192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52159"/>
            <a:ext cx="10277856" cy="25603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Separate availability, performance, capacity, and correctness alerts; include a runbook link.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Incident procedure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Detection: exact symptom, affected resources, time window, and business impact.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Triage order: first five evidence checks across producer, Kafka, worker, MongoDB, and data.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Evidence preservation: logs, status, offsets, configs, query plans, counts, and timestamps.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Correction: targeted action for the first unhealthy layer; prohibited or risky reactions.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Verification: service signals plus end-to-end identity, count, fields, lag, and DLQ.</a:t>
            </a:r>
          </a:p>
          <a:p>
            <a:pPr>
              <a:lnSpc>
                <a:spcPct val="105000"/>
              </a:lnSpc>
              <a:spcAft>
                <a:spcPts val="9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Escalation and communication: owner, trigger, status message, and next update time.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Integrated incident: recent orders are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80160"/>
            <a:ext cx="5257800" cy="452628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280160"/>
            <a:ext cx="73152" cy="452628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444751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Known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920239"/>
            <a:ext cx="4873752" cy="3749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Checkout publishes succeed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Kafka end offsets increase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Committed offsets have not moved for 10 minutes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MongoDB is writable primary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Recent orders are absent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Connect sink task FAILED after config change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52628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73152" cy="452628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44751"/>
            <a:ext cx="4892040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Required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20239"/>
            <a:ext cx="4919472" cy="3749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Preserve failed task trace and pre/post config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Confirm worker, source connector, topic, and MongoDB remain healthy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Rollback/correct the sink config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Restart only failed task(s)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Verify commits resume, lag drains, DLQ is understood, orders reconcile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Do not restart healthy Kafka or MongoDB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Maintenance proposal review: rewrite every unsafe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" y="1243584"/>
          <a:ext cx="1095451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4553712"/>
              </a:tblGrid>
              <a:tr h="800100">
                <a:tc>
                  <a:txBody>
                    <a:bodyPr/>
                    <a:lstStyle/>
                    <a:p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Unsafe proposal</a:t>
                      </a:r>
                    </a:p>
                  </a:txBody>
                  <a:tcPr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Why it is unsafe</a:t>
                      </a:r>
                    </a:p>
                  </a:txBody>
                  <a:tcPr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Required rewrite</a:t>
                      </a:r>
                    </a:p>
                  </a:txBody>
                  <a:tcPr>
                    <a:solidFill>
                      <a:srgbClr val="B03030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Drop customer index during peak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Known query regression and workload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Baseline, approved window, validate plan, rollback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Set Kafka retention to 30 seconds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Acknowledged data may expire before recovery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Derive from replay requirement; isolated test; rollback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Put password in connector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Secret exposure in Git/API/history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External secret provider; restricted REST; rotation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Deploy unpinned latest plugin everywhere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Compatibility and simultaneous outage risk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Pinned version; nonprod test; rolling redundant workers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Validate only command success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No proof of health or business correctness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Tasks, offsets, lag, DLQ, counts, field reconciliation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Replay and data repair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Obtain explicit authorization and define the source of truth.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Select the smallest replay range, key set, or DLQ records required.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Confirm retention still contains the source data and downstream writes are idempotent.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Correct malformed data or configuration before replaying; preserve the original and audit trail.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Observe offsets, rate, downstream capacity, errors, and DLQ during replay.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Reconcile counts and business fields; record completion evidence and residual exceptions.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57784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B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669279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B03030"/>
                </a:solidFill>
                <a:latin typeface="Aptos"/>
              </a:rPr>
              <a:t>Never reset or rewrite offsets blindly; define the exact partition/offset scope and rollback implications.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Production controls beyond the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73152" cy="48920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Resilience and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Kafka replication and redundant brokers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MongoDB redundant members and tested failover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Redundant distributed Connect workers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TLS, authentication, authorization, network controls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External secrets, rotation,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34440"/>
            <a:ext cx="5413248" cy="48920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3056" y="1234440"/>
            <a:ext cx="73152" cy="489204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399032"/>
            <a:ext cx="5001768" cy="347472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Operational maturity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74519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SLOs for delay, availability, data correctness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Central metrics, logs, dashboards, and paging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Automated backup/PITR and off-host retention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Schema and compatibility management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Capacity forecasting and tested change/recovery procedures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Final activity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5296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Complete at least 3 MongoDB checks, 4 Kafka checks, and 4 Kafka Connect checks.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Define at least 6 alerts with condition/duration, evidence, severity, owner, and escalation.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Write at least 4 incident procedures and 3 maintenance procedures.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Complete the integrated missing-orders incident and unsafe maintenance review.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Exchange runbooks; identify the first five evidence checks and escalation owner without asking the author.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850">
                <a:solidFill>
                  <a:srgbClr val="1E293B"/>
                </a:solidFill>
                <a:latin typeface="Aptos"/>
              </a:defRPr>
            </a:pPr>
            <a:r>
              <a:t>Revise every ambiguity found during the peer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559552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650992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Deliverable standard: another operator can execute it correctly without workshop context.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Course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86868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10789920" cy="5074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820">
                <a:solidFill>
                  <a:srgbClr val="1E293B"/>
                </a:solidFill>
                <a:latin typeface="Aptos"/>
              </a:defRPr>
            </a:pPr>
            <a:r>
              <a:t>Healthy components are proven separately; no single green signal proves the pipeline.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20">
                <a:solidFill>
                  <a:srgbClr val="1E293B"/>
                </a:solidFill>
                <a:latin typeface="Aptos"/>
              </a:defRPr>
            </a:pPr>
            <a:r>
              <a:t>Offset movement distinguishes backlog, progress, stalls, and throughput deficits.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20">
                <a:solidFill>
                  <a:srgbClr val="1E293B"/>
                </a:solidFill>
                <a:latin typeface="Aptos"/>
              </a:defRPr>
            </a:pPr>
            <a:r>
              <a:t>Query plans and examined:return ratios reveal inefficient MongoDB work even when latency is low.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20">
                <a:solidFill>
                  <a:srgbClr val="1E293B"/>
                </a:solidFill>
                <a:latin typeface="Aptos"/>
              </a:defRPr>
            </a:pPr>
            <a:r>
              <a:t>Controlled changes start with a baseline and end with business-flow verification and a recorded rollback path.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20">
                <a:solidFill>
                  <a:srgbClr val="1E293B"/>
                </a:solidFill>
                <a:latin typeface="Aptos"/>
              </a:defRPr>
            </a:pPr>
            <a:r>
              <a:t>DLQs preserve failures but require alerts, ownership, correction, replay controls, and audit.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820">
                <a:solidFill>
                  <a:srgbClr val="1E293B"/>
                </a:solidFill>
                <a:latin typeface="Aptos"/>
              </a:defRPr>
            </a:pPr>
            <a:r>
              <a:t>Reconciliation is the control that detects semantic drift after availability and lag look normal.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577840"/>
            <a:ext cx="10607040" cy="50292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669279"/>
            <a:ext cx="10277856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1F7A56"/>
                </a:solidFill>
                <a:latin typeface="Aptos"/>
              </a:rPr>
              <a:t>Operate from evidence. Change the smallest necessary scope. Verify the business outcome.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Aptos"/>
              </a:rPr>
              <a:t>Questions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78892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2200" b="0">
                <a:solidFill>
                  <a:srgbClr val="E6F0FA"/>
                </a:solidFill>
                <a:latin typeface="Aptos"/>
              </a:rPr>
              <a:t>Complete the labs, retain your evidence, and turn it into the operations runbook.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74920"/>
            <a:ext cx="8869680" cy="365760"/>
          </a:xfrm>
          <a:prstGeom prst="rect">
            <a:avLst/>
          </a:prstGeom>
          <a:noFill/>
          <a:ln>
            <a:noFill/>
          </a:ln>
        </p:spPr>
        <p:txBody>
          <a:bodyPr wrap="non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Monitoring MongoDB and Apache Kafka for Event-Driven Data Applications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96012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847088"/>
            <a:ext cx="10332720" cy="9601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MongoDB for complete beginners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" y="320040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E8F6EF"/>
                </a:solidFill>
                <a:latin typeface="Aptos"/>
              </a:rPr>
              <a:t>Documents, collections, relational-database comparisons, and basic CRUD with mongosh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" y="5358384"/>
            <a:ext cx="18288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60527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Use the local mongodb_primer database; workshop data stays separate.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MongoDB 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53312"/>
            <a:ext cx="10698480" cy="4983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MongoDB is a database that stores records as flexible, JSON-like documents rather than rows in fixed tables.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Documents are grouped into collections; collections belong to databases.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A document can contain strings, numbers, dates, arrays, nested objects, and references to other documents.</a:t>
            </a:r>
          </a:p>
          <a:p>
            <a:pPr>
              <a:lnSpc>
                <a:spcPct val="105000"/>
              </a:lnSpc>
              <a:spcAft>
                <a:spcPts val="1300"/>
              </a:spcAft>
              <a:defRPr sz="2000">
                <a:solidFill>
                  <a:srgbClr val="1E293B"/>
                </a:solidFill>
                <a:latin typeface="Aptos"/>
              </a:defRPr>
            </a:pPr>
            <a:r>
              <a:t>MongoDB provides indexes, aggregation, transactions, replication, security, and operational tooling expected from a production database.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5440680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22976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Think: database → collection → document → field.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MongoDB compared with a relational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" y="1243584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251960"/>
                <a:gridCol w="4572000"/>
              </a:tblGrid>
              <a:tr h="565785">
                <a:tc>
                  <a:txBody>
                    <a:bodyPr/>
                    <a:lstStyle/>
                    <a:p>
                      <a:r>
                        <a:rPr sz="1280" b="1">
                          <a:solidFill>
                            <a:srgbClr val="FFFFFF"/>
                          </a:solidFill>
                          <a:latin typeface="Aptos"/>
                        </a:rPr>
                        <a:t>Dimension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1">
                          <a:solidFill>
                            <a:srgbClr val="FFFFFF"/>
                          </a:solidFill>
                          <a:latin typeface="Aptos"/>
                        </a:rPr>
                        <a:t>Relational database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1">
                          <a:solidFill>
                            <a:srgbClr val="FFFFFF"/>
                          </a:solidFill>
                          <a:latin typeface="Aptos"/>
                        </a:rPr>
                        <a:t>MongoDB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Primary structure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Tables containing rows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Collections containing documents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Record shape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Columns defined by a table schema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Fields can vary between documents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Relationships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Foreign keys and JOINs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Embedding, references, and $lookup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Query style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SQL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Document query and aggregation syntax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Identity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Primary key chosen by schema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Every document has a unique _id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Transactions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A central modeling tool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Supported; often scoped around document/aggregate design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Scaling pattern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Often scale-up; vendor-specific scale-out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0" b="0">
                          <a:solidFill>
                            <a:srgbClr val="1E293B"/>
                          </a:solidFill>
                          <a:latin typeface="Aptos"/>
                        </a:rPr>
                        <a:t>Built for replica sets and sharding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8096" y="5806440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888736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Neither model is universally better: choose based on data shape, access patterns, consistency, and operations.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Translate familiar relational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" y="1243584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337560"/>
                <a:gridCol w="5349240"/>
              </a:tblGrid>
              <a:tr h="565785">
                <a:tc>
                  <a:txBody>
                    <a:bodyPr/>
                    <a:lstStyle/>
                    <a:p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</a:rPr>
                        <a:t>Relational term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</a:rPr>
                        <a:t>MongoDB term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</a:rPr>
                        <a:t>Example in this course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Database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Database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workshop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Table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Collection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orders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Row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Document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One stored order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customer_id or status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Primary key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_id (plus business keys)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_id and unique order_id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Index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Index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customer_id_1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JOIN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$lookup or application/modeling choice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20" b="0">
                          <a:solidFill>
                            <a:srgbClr val="1E293B"/>
                          </a:solidFill>
                          <a:latin typeface="Aptos"/>
                        </a:rPr>
                        <a:t>Usually not needed for the simple order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8096" y="5806440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888736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Collection names and field names are case-sensitive; use exact names in commands and runbooks.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A MongoDB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5166360" cy="443484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408176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BSON 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737360"/>
            <a:ext cx="4800600" cy="3886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{
  _id: ObjectId('...'),
  name: 'Ada Rivera',
  email: 'ada@example.com',
  active: true,
  skills: ['MongoDB', 'Kafka'],
  address: { city: 'Manila', country: 'PH' },
  enrolledAt: ISODate('2026-08-27T00:00:00Z')
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349240" cy="443484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1298448"/>
            <a:ext cx="73152" cy="443484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39"/>
            <a:ext cx="4956048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What to notice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956815"/>
            <a:ext cx="4965192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Field names describe the data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Values have types—not just text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Arrays and nested objects are native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_id uniquely identifies the document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MongoDB stores BSON, a binary document format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Flexible schema does not mean no data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3438144" cy="434340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73152" cy="43434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463039"/>
            <a:ext cx="3044951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Aptos"/>
              </a:rPr>
              <a:t>Relational instinct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56815"/>
            <a:ext cx="3054096" cy="353872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Normalize repeated data into tables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Use foreign keys for integrity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Join tables when reading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Apply one schema to every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298448"/>
            <a:ext cx="3438144" cy="434340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98448"/>
            <a:ext cx="73152" cy="4343400"/>
          </a:xfrm>
          <a:prstGeom prst="rect">
            <a:avLst/>
          </a:prstGeom>
          <a:solidFill>
            <a:srgbClr val="1F7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463039"/>
            <a:ext cx="3044951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F7A56"/>
                </a:solidFill>
                <a:latin typeface="Aptos"/>
              </a:rPr>
              <a:t>MongoDB choices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56815"/>
            <a:ext cx="3054096" cy="353872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Embed data read and changed together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Reference independent or unbounded data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Design around common access patterns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Use validation when fields must conform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298448"/>
            <a:ext cx="3438144" cy="4343400"/>
          </a:xfrm>
          <a:prstGeom prst="roundRect">
            <a:avLst/>
          </a:prstGeom>
          <a:solidFill>
            <a:srgbClr val="F4F6F8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1583" y="1298448"/>
            <a:ext cx="73152" cy="4343400"/>
          </a:xfrm>
          <a:prstGeom prst="rect">
            <a:avLst/>
          </a:prstGeom>
          <a:solidFill>
            <a:srgbClr val="B4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1463039"/>
            <a:ext cx="3044951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B46914"/>
                </a:solidFill>
                <a:latin typeface="Aptos"/>
              </a:rPr>
              <a:t>Operational effect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956815"/>
            <a:ext cx="3054096" cy="353872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Large documents have cost and limits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Indexes speed reads but cost writes/storage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Shape changes need compatibility planning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650">
                <a:solidFill>
                  <a:srgbClr val="1E293B"/>
                </a:solidFill>
                <a:latin typeface="Aptos"/>
              </a:defRPr>
            </a:pPr>
            <a:r>
              <a:t>Correctness still needs explicit invariants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5779008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861304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Start with the application’s read/write patterns, then choose embedding, references, and indexes.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CRUD: SQL and mongosh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" y="1243584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4160520"/>
                <a:gridCol w="5394960"/>
              </a:tblGrid>
              <a:tr h="754380">
                <a:tc>
                  <a:txBody>
                    <a:bodyPr/>
                    <a:lstStyle/>
                    <a:p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Operation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Relational SQL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1">
                          <a:solidFill>
                            <a:srgbClr val="FFFFFF"/>
                          </a:solidFill>
                          <a:latin typeface="Aptos"/>
                        </a:rPr>
                        <a:t>MongoDB / mongosh</a:t>
                      </a:r>
                    </a:p>
                  </a:txBody>
                  <a:tcPr marL="73152" marR="73152">
                    <a:solidFill>
                      <a:srgbClr val="1F374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Create container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CREATE TABLE learners (...);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db.createCollection('learners')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Insert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INSERT INTO learners ...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db.learners.insertOne({...})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Fetch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SELECT * FROM learners WHERE active=true;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db.learners.find({active: true})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Update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UPDATE learners SET active=false WHERE email=...;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db.learners.updateOne({email: ...}, {$set: {active:false}})</a:t>
                      </a:r>
                    </a:p>
                  </a:txBody>
                  <a:tcPr marL="73152" marR="73152" marT="36576" marB="36576">
                    <a:solidFill>
                      <a:srgbClr val="F4F6F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Delete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DELETE FROM learners WHERE email=...;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0" b="0">
                          <a:solidFill>
                            <a:srgbClr val="1E293B"/>
                          </a:solidFill>
                          <a:latin typeface="Aptos"/>
                        </a:rPr>
                        <a:t>db.learners.deleteOne({email: ...})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8096" y="5806440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888736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MongoDB filters and updates are documents. Operators such as $set, $inc, $in, and $gt begin with $.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Start MongoDB and open the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61872"/>
            <a:ext cx="10789920" cy="434340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7160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0784"/>
            <a:ext cx="10424160" cy="3794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# From the repository root: start MongoDB and wait for health
docker compose -f mongodb/docker-compose.yml up -d --wait
# Confirm the container is healthy
docker compose -f mongodb/docker-compose.yml ps
# Open mongosh inside the MongoDB container
docker compose -f mongodb/docker-compose.yml exec mongodb \
  mongosh 'mongodb://localhost:27017/?replicaSet=rs0&amp;directConnection=true'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5779008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861304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The prompt stays open for the next examples. Type exit or press Ctrl+D to leave mongosh.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Navigate mongosh and create 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61872"/>
            <a:ext cx="10789920" cy="434340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7160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MONGOSH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0784"/>
            <a:ext cx="10424160" cy="3794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// List databases currently visible
show dbs
// Select a database for this isolated primer
use mongodb_primer
// Print the current database name
db
// Create and inspect a collection
db.createCollection('learners')
show collections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5779008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861304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use selects a database; MongoDB creates storage when a collection or document is created.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Insert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10789920" cy="466344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MONGOSH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73352"/>
            <a:ext cx="10424160" cy="41148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db.learners.insertOne({
  name: 'Ada Rivera',
  email: 'ada@example.com',
  active: true,
  level: 1,
  skills: ['MongoDB'],
  enrolledAt: new Date()
})
db.learners.insertMany([
  {name: 'Ben Santos', email: 'ben@example.com', active: true, level: 1},
  {name: 'Cara Lim', email: 'cara@example.com', active: false, level: 2}
])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5961888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6044183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Expected result: acknowledged: true and generated _id values. Keep email unique in this exercise.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Fetch and filter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10789920" cy="466344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MONGOSH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73352"/>
            <a:ext cx="10424160" cy="41148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// Fetch every document
db.learners.find()
// Fetch one document by a business field
db.learners.findOne({email: 'ada@example.com'})
// Filter and return selected fields; hide _id
db.learners.find(
  {active: true, level: {$gte: 1}},
  {_id: 0, name: 1, email: 1, level: 1}
).sort({name: 1})
// Count matching documents
db.learners.countDocuments({active: true})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5961888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6044183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The first document is the filter; the second is the projection of fields to return.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Update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10789920" cy="466344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MONGOSH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73352"/>
            <a:ext cx="10424160" cy="41148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// Change selected fields without replacing the document
db.learners.updateOne(
  {email: 'ada@example.com'},
  {$set: {active: false}, $inc: {level: 1}, $addToSet: {skills: 'Kafka'}}
)
// Verify the result
db.learners.findOne(
  {email: 'ada@example.com'},
  {_id: 0, name: 1, active: 1, level: 1, skills: 1}
)
// Multiple matches require updateMany explicitly
db.learners.updateMany({active: false}, {$set: {reviewRequired: true}})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5961888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6044183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Expected update result includes matchedCount and modifiedCount; inspect them before declaring success.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Delete documents and clean up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10789920" cy="4389120"/>
          </a:xfrm>
          <a:prstGeom prst="roundRect">
            <a:avLst/>
          </a:prstGeom>
          <a:solidFill>
            <a:srgbClr val="F8F9FB"/>
          </a:solidFill>
          <a:ln>
            <a:solidFill>
              <a:srgbClr val="CD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1">
                <a:solidFill>
                  <a:srgbClr val="2B6CB0"/>
                </a:solidFill>
                <a:latin typeface="Aptos"/>
              </a:rPr>
              <a:t>MONGOSH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73352"/>
            <a:ext cx="10424160" cy="3840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Aptos Mono"/>
              </a:rPr>
              <a:t>// Inspect the exact target first
db.learners.find({email: 'cara@example.com'})
// Delete one matching document
db.learners.deleteOne({email: 'cara@example.com'})
// Verify the remaining documents
db.learners.find({}, {_id: 0, name: 1, email: 1}).sort({name: 1})
// Optional: remove only this primer database when finished
db.dropDatabase()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5715000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B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797296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B03030"/>
                </a:solidFill>
                <a:latin typeface="Aptos"/>
              </a:rPr>
              <a:t>deleteMany({}) and dropDatabase() are destructive. Confirm db and filter before running them.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185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74E"/>
                </a:solidFill>
                <a:latin typeface="Aptos"/>
              </a:rPr>
              <a:t>Primer practice: complete the CRUD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Aptos"/>
              </a:rPr>
              <a:t>MONGODB PRIMER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0972800" cy="13716"/>
          </a:xfrm>
          <a:prstGeom prst="rect">
            <a:avLst/>
          </a:prstGeom>
          <a:solidFill>
            <a:srgbClr val="D2D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Aptos"/>
              </a:rPr>
              <a:t>Monitoring MongoDB and Apache Kafka for Event-Driven Data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10528"/>
            <a:ext cx="43891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698480" cy="4983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1. Start MongoDB, open mongosh, and select mongodb_primer.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2. Create a courses collection and insert two course documents with title, durationHours, active, and topics fields.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3. Fetch active courses and project only title and durationHours.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4. Update one course with $set and $addToSet; verify matchedCount, modifiedCount, and the stored document.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5. Delete one course using a specific title filter; verify the remaining count.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750">
                <a:solidFill>
                  <a:srgbClr val="1E293B"/>
                </a:solidFill>
                <a:latin typeface="Aptos"/>
              </a:defRPr>
            </a:pPr>
            <a:r>
              <a:t>6. Explain which parts resemble a relational table and which document features differ.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5641848"/>
            <a:ext cx="10652760" cy="457200"/>
          </a:xfrm>
          <a:prstGeom prst="roundRect">
            <a:avLst/>
          </a:prstGeom>
          <a:solidFill>
            <a:srgbClr val="F2F9F6"/>
          </a:solidFill>
          <a:ln>
            <a:solidFill>
              <a:srgbClr val="1F7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724144"/>
            <a:ext cx="102870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anchor="t">
            <a:spAutoFit/>
          </a:bodyPr>
          <a:lstStyle/>
          <a:p>
            <a:pPr algn="l"/>
            <a:r>
              <a:rPr sz="1320" b="1">
                <a:solidFill>
                  <a:srgbClr val="1F7A56"/>
                </a:solidFill>
                <a:latin typeface="Aptos"/>
              </a:rPr>
              <a:t>Keep the terminal open: the monitoring modules will reuse the same MongoDB client and concepts.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Monitoring MongoDB and Apache Kafka for Event-Driven Data Applications</dc:title>
  <dc:subject>One-day course instructor deck</dc:subject>
  <dc:creator>Raphael Alampay</dc:creator>
  <cp:keywords>MongoDB, Apache Kafka, Kafka Connect, monitoring, operations</cp:keywords>
  <dc:description>Generated from the draft course PDF and repository modules; includes an introductory MongoDB primer.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