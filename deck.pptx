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notesMasters/notesMaster1.xml" ContentType="application/vnd.openxmlformats-officedocument.presentationml.notesMaster+xml"/>
  <Override PartName="/ppt/slides/slide55.xml" ContentType="application/vnd.openxmlformats-officedocument.presentationml.slide+xml"/>
  <Override PartName="/ppt/slides/slide54.xml" ContentType="application/vnd.openxmlformats-officedocument.presentationml.slide+xml"/>
  <Override PartName="/ppt/slides/slide53.xml" ContentType="application/vnd.openxmlformats-officedocument.presentationml.slide+xml"/>
  <Override PartName="/ppt/slides/slide45.xml" ContentType="application/vnd.openxmlformats-officedocument.presentationml.slide+xml"/>
  <Override PartName="/ppt/slides/slide44.xml" ContentType="application/vnd.openxmlformats-officedocument.presentationml.slide+xml"/>
  <Override PartName="/ppt/slides/slide42.xml" ContentType="application/vnd.openxmlformats-officedocument.presentationml.slide+xml"/>
  <Override PartName="/ppt/slides/slide40.xml" ContentType="application/vnd.openxmlformats-officedocument.presentationml.slide+xml"/>
  <Override PartName="/ppt/slides/slide38.xml" ContentType="application/vnd.openxmlformats-officedocument.presentationml.slide+xml"/>
  <Override PartName="/ppt/slides/slide36.xml" ContentType="application/vnd.openxmlformats-officedocument.presentationml.slide+xml"/>
  <Override PartName="/ppt/slides/slide33.xml" ContentType="application/vnd.openxmlformats-officedocument.presentationml.slide+xml"/>
  <Override PartName="/ppt/slides/slide39.xml" ContentType="application/vnd.openxmlformats-officedocument.presentationml.slide+xml"/>
  <Override PartName="/ppt/slides/slide32.xml" ContentType="application/vnd.openxmlformats-officedocument.presentationml.slide+xml"/>
  <Override PartName="/ppt/slides/slide31.xml" ContentType="application/vnd.openxmlformats-officedocument.presentationml.slide+xml"/>
  <Override PartName="/ppt/slides/slide52.xml" ContentType="application/vnd.openxmlformats-officedocument.presentationml.slide+xml"/>
  <Override PartName="/ppt/slides/slide30.xml" ContentType="application/vnd.openxmlformats-officedocument.presentationml.slide+xml"/>
  <Override PartName="/ppt/slides/slide25.xml" ContentType="application/vnd.openxmlformats-officedocument.presentationml.slide+xml"/>
  <Override PartName="/ppt/slides/slide56.xml" ContentType="application/vnd.openxmlformats-officedocument.presentationml.slide+xml"/>
  <Override PartName="/ppt/slides/slide50.xml" ContentType="application/vnd.openxmlformats-officedocument.presentationml.slide+xml"/>
  <Override PartName="/ppt/slides/slide24.xml" ContentType="application/vnd.openxmlformats-officedocument.presentationml.slide+xml"/>
  <Override PartName="/ppt/slides/slide41.xml" ContentType="application/vnd.openxmlformats-officedocument.presentationml.slide+xml"/>
  <Override PartName="/ppt/slides/slide23.xml" ContentType="application/vnd.openxmlformats-officedocument.presentationml.slide+xml"/>
  <Override PartName="/ppt/slides/slide59.xml" ContentType="application/vnd.openxmlformats-officedocument.presentationml.slide+xml"/>
  <Override PartName="/ppt/slides/slide13.xml" ContentType="application/vnd.openxmlformats-officedocument.presentationml.slide+xml"/>
  <Override PartName="/ppt/slides/slide5.xml" ContentType="application/vnd.openxmlformats-officedocument.presentationml.slide+xml"/>
  <Override PartName="/ppt/slides/slide43.xml" ContentType="application/vnd.openxmlformats-officedocument.presentationml.slide+xml"/>
  <Override PartName="/ppt/slides/slide94.xml" ContentType="application/vnd.openxmlformats-officedocument.presentationml.slide+xml"/>
  <Override PartName="/ppt/slides/slide62.xml" ContentType="application/vnd.openxmlformats-officedocument.presentationml.slide+xml"/>
  <Override PartName="/ppt/slides/slide48.xml" ContentType="application/vnd.openxmlformats-officedocument.presentationml.slide+xml"/>
  <Override PartName="/ppt/slides/slide93.xml" ContentType="application/vnd.openxmlformats-officedocument.presentationml.slide+xml"/>
  <Override PartName="/ppt/slides/slide63.xml" ContentType="application/vnd.openxmlformats-officedocument.presentationml.slide+xml"/>
  <Override PartName="/ppt/slides/slide67.xml" ContentType="application/vnd.openxmlformats-officedocument.presentationml.slide+xml"/>
  <Override PartName="/ppt/slides/slide92.xml" ContentType="application/vnd.openxmlformats-officedocument.presentationml.slide+xml"/>
  <Override PartName="/ppt/slides/slide37.xml" ContentType="application/vnd.openxmlformats-officedocument.presentationml.slide+xml"/>
  <Override PartName="/ppt/slides/slide69.xml" ContentType="application/vnd.openxmlformats-officedocument.presentationml.slide+xml"/>
  <Override PartName="/ppt/slides/slide49.xml" ContentType="application/vnd.openxmlformats-officedocument.presentationml.slide+xml"/>
  <Override PartName="/ppt/slides/slide75.xml" ContentType="application/vnd.openxmlformats-officedocument.presentationml.slide+xml"/>
  <Override PartName="/ppt/slides/slide85.xml" ContentType="application/vnd.openxmlformats-officedocument.presentationml.slide+xml"/>
  <Override PartName="/ppt/slides/slide72.xml" ContentType="application/vnd.openxmlformats-officedocument.presentationml.slide+xml"/>
  <Override PartName="/ppt/slides/slide95.xml" ContentType="application/vnd.openxmlformats-officedocument.presentationml.slide+xml"/>
  <Override PartName="/ppt/slides/slide84.xml" ContentType="application/vnd.openxmlformats-officedocument.presentationml.slide+xml"/>
  <Override PartName="/ppt/slides/slide8.xml" ContentType="application/vnd.openxmlformats-officedocument.presentationml.slide+xml"/>
  <Override PartName="/ppt/slides/slide89.xml" ContentType="application/vnd.openxmlformats-officedocument.presentationml.slide+xml"/>
  <Override PartName="/ppt/slides/slide60.xml" ContentType="application/vnd.openxmlformats-officedocument.presentationml.slide+xml"/>
  <Override PartName="/ppt/slides/slide77.xml" ContentType="application/vnd.openxmlformats-officedocument.presentationml.slide+xml"/>
  <Override PartName="/ppt/slides/slide88.xml" ContentType="application/vnd.openxmlformats-officedocument.presentationml.slide+xml"/>
  <Override PartName="/ppt/slides/slide87.xml" ContentType="application/vnd.openxmlformats-officedocument.presentationml.slide+xml"/>
  <Override PartName="/ppt/slides/slide29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61.xml" ContentType="application/vnd.openxmlformats-officedocument.presentationml.slide+xml"/>
  <Override PartName="/ppt/slides/slide66.xml" ContentType="application/vnd.openxmlformats-officedocument.presentationml.slide+xml"/>
  <Override PartName="/ppt/slides/slide2.xml" ContentType="application/vnd.openxmlformats-officedocument.presentationml.slide+xml"/>
  <Override PartName="/ppt/slides/slide71.xml" ContentType="application/vnd.openxmlformats-officedocument.presentationml.slide+xml"/>
  <Override PartName="/ppt/slides/slide86.xml" ContentType="application/vnd.openxmlformats-officedocument.presentationml.slide+xml"/>
  <Override PartName="/ppt/slides/slide76.xml" ContentType="application/vnd.openxmlformats-officedocument.presentationml.slide+xml"/>
  <Override PartName="/ppt/slides/slide21.xml" ContentType="application/vnd.openxmlformats-officedocument.presentationml.slide+xml"/>
  <Override PartName="/ppt/slides/slide68.xml" ContentType="application/vnd.openxmlformats-officedocument.presentationml.slide+xml"/>
  <Override PartName="/ppt/slides/slide65.xml" ContentType="application/vnd.openxmlformats-officedocument.presentationml.slide+xml"/>
  <Override PartName="/ppt/slides/slide58.xml" ContentType="application/vnd.openxmlformats-officedocument.presentationml.slide+xml"/>
  <Override PartName="/ppt/slides/slide15.xml" ContentType="application/vnd.openxmlformats-officedocument.presentationml.slide+xml"/>
  <Override PartName="/ppt/slides/slide22.xml" ContentType="application/vnd.openxmlformats-officedocument.presentationml.slide+xml"/>
  <Override PartName="/ppt/slides/slide74.xml" ContentType="application/vnd.openxmlformats-officedocument.presentationml.slide+xml"/>
  <Override PartName="/ppt/slides/slide70.xml" ContentType="application/vnd.openxmlformats-officedocument.presentationml.slide+xml"/>
  <Override PartName="/ppt/slides/slide28.xml" ContentType="application/vnd.openxmlformats-officedocument.presentationml.slide+xml"/>
  <Override PartName="/ppt/slides/slide35.xml" ContentType="application/vnd.openxmlformats-officedocument.presentationml.slide+xml"/>
  <Override PartName="/ppt/slides/slide64.xml" ContentType="application/vnd.openxmlformats-officedocument.presentationml.slide+xml"/>
  <Override PartName="/ppt/slides/slide80.xml" ContentType="application/vnd.openxmlformats-officedocument.presentationml.slide+xml"/>
  <Override PartName="/ppt/slides/slide12.xml" ContentType="application/vnd.openxmlformats-officedocument.presentationml.slide+xml"/>
  <Override PartName="/ppt/slides/slide27.xml" ContentType="application/vnd.openxmlformats-officedocument.presentationml.slide+xml"/>
  <Override PartName="/ppt/slides/slide46.xml" ContentType="application/vnd.openxmlformats-officedocument.presentationml.slide+xml"/>
  <Override PartName="/ppt/slides/slide19.xml" ContentType="application/vnd.openxmlformats-officedocument.presentationml.slide+xml"/>
  <Override PartName="/ppt/slides/slide26.xml" ContentType="application/vnd.openxmlformats-officedocument.presentationml.slide+xml"/>
  <Override PartName="/ppt/slides/slide73.xml" ContentType="application/vnd.openxmlformats-officedocument.presentationml.slide+xml"/>
  <Override PartName="/ppt/slides/slide14.xml" ContentType="application/vnd.openxmlformats-officedocument.presentationml.slide+xml"/>
  <Override PartName="/ppt/slides/slide7.xml" ContentType="application/vnd.openxmlformats-officedocument.presentationml.slide+xml"/>
  <Override PartName="/ppt/slides/slide1.xml" ContentType="application/vnd.openxmlformats-officedocument.presentationml.slide+xml"/>
  <Override PartName="/ppt/slides/slide91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47.xml" ContentType="application/vnd.openxmlformats-officedocument.presentationml.slide+xml"/>
  <Override PartName="/ppt/slides/slide16.xml" ContentType="application/vnd.openxmlformats-officedocument.presentationml.slide+xml"/>
  <Override PartName="/ppt/slides/slide10.xml" ContentType="application/vnd.openxmlformats-officedocument.presentationml.slide+xml"/>
  <Override PartName="/ppt/slides/slide17.xml" ContentType="application/vnd.openxmlformats-officedocument.presentationml.slide+xml"/>
  <Override PartName="/ppt/slides/slide34.xml" ContentType="application/vnd.openxmlformats-officedocument.presentationml.slide+xml"/>
  <Override PartName="/ppt/slides/slide9.xml" ContentType="application/vnd.openxmlformats-officedocument.presentationml.slide+xml"/>
  <Override PartName="/ppt/slides/slide3.xml" ContentType="application/vnd.openxmlformats-officedocument.presentationml.slide+xml"/>
  <Override PartName="/ppt/slides/slide90.xml" ContentType="application/vnd.openxmlformats-officedocument.presentationml.slide+xml"/>
  <Override PartName="/ppt/slides/slide11.xml" ContentType="application/vnd.openxmlformats-officedocument.presentationml.slide+xml"/>
  <Override PartName="/ppt/slides/slide57.xml" ContentType="application/vnd.openxmlformats-officedocument.presentationml.slide+xml"/>
  <Override PartName="/ppt/slides/slide20.xml" ContentType="application/vnd.openxmlformats-officedocument.presentationml.slide+xml"/>
  <Override PartName="/ppt/slides/slide83.xml" ContentType="application/vnd.openxmlformats-officedocument.presentationml.slide+xml"/>
  <Override PartName="/ppt/slides/slide51.xml" ContentType="application/vnd.openxmlformats-officedocument.presentationml.slide+xml"/>
  <Override PartName="/ppt/slides/slide18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notesSlides/notesSlide50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  <p:sldId id="318" r:id="rId66"/>
    <p:sldId id="319" r:id="rId67"/>
    <p:sldId id="320" r:id="rId68"/>
    <p:sldId id="321" r:id="rId69"/>
    <p:sldId id="322" r:id="rId70"/>
    <p:sldId id="323" r:id="rId71"/>
    <p:sldId id="324" r:id="rId72"/>
    <p:sldId id="325" r:id="rId73"/>
    <p:sldId id="326" r:id="rId74"/>
    <p:sldId id="327" r:id="rId75"/>
    <p:sldId id="328" r:id="rId76"/>
    <p:sldId id="329" r:id="rId77"/>
    <p:sldId id="330" r:id="rId78"/>
    <p:sldId id="331" r:id="rId79"/>
    <p:sldId id="332" r:id="rId80"/>
    <p:sldId id="333" r:id="rId81"/>
    <p:sldId id="334" r:id="rId82"/>
    <p:sldId id="335" r:id="rId83"/>
    <p:sldId id="336" r:id="rId84"/>
    <p:sldId id="337" r:id="rId85"/>
    <p:sldId id="338" r:id="rId86"/>
    <p:sldId id="339" r:id="rId87"/>
    <p:sldId id="340" r:id="rId88"/>
    <p:sldId id="341" r:id="rId89"/>
    <p:sldId id="342" r:id="rId90"/>
    <p:sldId id="343" r:id="rId91"/>
    <p:sldId id="344" r:id="rId92"/>
    <p:sldId id="345" r:id="rId93"/>
    <p:sldId id="346" r:id="rId94"/>
    <p:sldId id="347" r:id="rId95"/>
    <p:sldId id="348" r:id="rId96"/>
    <p:sldId id="349" r:id="rId97"/>
    <p:sldId id="350" r:id="rId98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slide" Target="slides/slide63.xml"/><Relationship Id="rId67" Type="http://schemas.openxmlformats.org/officeDocument/2006/relationships/slide" Target="slides/slide64.xml"/><Relationship Id="rId68" Type="http://schemas.openxmlformats.org/officeDocument/2006/relationships/slide" Target="slides/slide65.xml"/><Relationship Id="rId69" Type="http://schemas.openxmlformats.org/officeDocument/2006/relationships/slide" Target="slides/slide66.xml"/><Relationship Id="rId70" Type="http://schemas.openxmlformats.org/officeDocument/2006/relationships/slide" Target="slides/slide67.xml"/><Relationship Id="rId71" Type="http://schemas.openxmlformats.org/officeDocument/2006/relationships/slide" Target="slides/slide68.xml"/><Relationship Id="rId72" Type="http://schemas.openxmlformats.org/officeDocument/2006/relationships/slide" Target="slides/slide69.xml"/><Relationship Id="rId73" Type="http://schemas.openxmlformats.org/officeDocument/2006/relationships/slide" Target="slides/slide70.xml"/><Relationship Id="rId74" Type="http://schemas.openxmlformats.org/officeDocument/2006/relationships/slide" Target="slides/slide71.xml"/><Relationship Id="rId75" Type="http://schemas.openxmlformats.org/officeDocument/2006/relationships/slide" Target="slides/slide72.xml"/><Relationship Id="rId76" Type="http://schemas.openxmlformats.org/officeDocument/2006/relationships/slide" Target="slides/slide73.xml"/><Relationship Id="rId77" Type="http://schemas.openxmlformats.org/officeDocument/2006/relationships/slide" Target="slides/slide74.xml"/><Relationship Id="rId78" Type="http://schemas.openxmlformats.org/officeDocument/2006/relationships/slide" Target="slides/slide75.xml"/><Relationship Id="rId79" Type="http://schemas.openxmlformats.org/officeDocument/2006/relationships/slide" Target="slides/slide76.xml"/><Relationship Id="rId80" Type="http://schemas.openxmlformats.org/officeDocument/2006/relationships/slide" Target="slides/slide77.xml"/><Relationship Id="rId81" Type="http://schemas.openxmlformats.org/officeDocument/2006/relationships/slide" Target="slides/slide78.xml"/><Relationship Id="rId82" Type="http://schemas.openxmlformats.org/officeDocument/2006/relationships/slide" Target="slides/slide79.xml"/><Relationship Id="rId83" Type="http://schemas.openxmlformats.org/officeDocument/2006/relationships/slide" Target="slides/slide80.xml"/><Relationship Id="rId84" Type="http://schemas.openxmlformats.org/officeDocument/2006/relationships/slide" Target="slides/slide81.xml"/><Relationship Id="rId85" Type="http://schemas.openxmlformats.org/officeDocument/2006/relationships/slide" Target="slides/slide82.xml"/><Relationship Id="rId86" Type="http://schemas.openxmlformats.org/officeDocument/2006/relationships/slide" Target="slides/slide83.xml"/><Relationship Id="rId87" Type="http://schemas.openxmlformats.org/officeDocument/2006/relationships/slide" Target="slides/slide84.xml"/><Relationship Id="rId88" Type="http://schemas.openxmlformats.org/officeDocument/2006/relationships/slide" Target="slides/slide85.xml"/><Relationship Id="rId89" Type="http://schemas.openxmlformats.org/officeDocument/2006/relationships/slide" Target="slides/slide86.xml"/><Relationship Id="rId90" Type="http://schemas.openxmlformats.org/officeDocument/2006/relationships/slide" Target="slides/slide87.xml"/><Relationship Id="rId91" Type="http://schemas.openxmlformats.org/officeDocument/2006/relationships/slide" Target="slides/slide88.xml"/><Relationship Id="rId92" Type="http://schemas.openxmlformats.org/officeDocument/2006/relationships/slide" Target="slides/slide89.xml"/><Relationship Id="rId93" Type="http://schemas.openxmlformats.org/officeDocument/2006/relationships/slide" Target="slides/slide90.xml"/><Relationship Id="rId94" Type="http://schemas.openxmlformats.org/officeDocument/2006/relationships/slide" Target="slides/slide91.xml"/><Relationship Id="rId95" Type="http://schemas.openxmlformats.org/officeDocument/2006/relationships/slide" Target="slides/slide92.xml"/><Relationship Id="rId96" Type="http://schemas.openxmlformats.org/officeDocument/2006/relationships/slide" Target="slides/slide93.xml"/><Relationship Id="rId97" Type="http://schemas.openxmlformats.org/officeDocument/2006/relationships/slide" Target="slides/slide94.xml"/><Relationship Id="rId98" Type="http://schemas.openxmlformats.org/officeDocument/2006/relationships/slide" Target="slides/slide95.xml"/><Relationship Id="rId9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 defTabSz="457200"/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4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5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6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0641E9A3-AD3E-4E7F-9089-6CA8EBD51CD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50.xml.rels><?xml version="1.0" encoding="UTF-8"?>
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
</Relationships>
</file>

<file path=ppt/notesSlides/_rels/notesSlide51.xml.rels><?xml version="1.0" encoding="UTF-8"?>
<Relationships xmlns="http://schemas.openxmlformats.org/package/2006/relationships"><Relationship Id="rId1" Type="http://schemas.openxmlformats.org/officeDocument/2006/relationships/slide" Target="../slides/slide51.xml"/><Relationship Id="rId2" Type="http://schemas.openxmlformats.org/officeDocument/2006/relationships/notesMaster" Target="../notesMasters/notesMaster1.xml"/>
</Relationships>
</file>

<file path=ppt/notesSlides/_rels/notesSlide52.xml.rels><?xml version="1.0" encoding="UTF-8"?>
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
</Relationships>
</file>

<file path=ppt/notesSlides/_rels/notesSlide53.xml.rels><?xml version="1.0" encoding="UTF-8"?>
<Relationships xmlns="http://schemas.openxmlformats.org/package/2006/relationships"><Relationship Id="rId1" Type="http://schemas.openxmlformats.org/officeDocument/2006/relationships/slide" Target="../slides/slide53.xml"/><Relationship Id="rId2" Type="http://schemas.openxmlformats.org/officeDocument/2006/relationships/notesMaster" Target="../notesMasters/notesMaster1.xml"/>
</Relationships>
</file>

<file path=ppt/notesSlides/_rels/notesSlide54.xml.rels><?xml version="1.0" encoding="UTF-8"?>
<Relationships xmlns="http://schemas.openxmlformats.org/package/2006/relationships"><Relationship Id="rId1" Type="http://schemas.openxmlformats.org/officeDocument/2006/relationships/slide" Target="../slides/slide54.xml"/><Relationship Id="rId2" Type="http://schemas.openxmlformats.org/officeDocument/2006/relationships/notesMaster" Target="../notesMasters/notesMaster1.xml"/>
</Relationships>
</file>

<file path=ppt/notesSlides/_rels/notesSlide55.xml.rels><?xml version="1.0" encoding="UTF-8"?>
<Relationships xmlns="http://schemas.openxmlformats.org/package/2006/relationships"><Relationship Id="rId1" Type="http://schemas.openxmlformats.org/officeDocument/2006/relationships/slide" Target="../slides/slide55.xml"/><Relationship Id="rId2" Type="http://schemas.openxmlformats.org/officeDocument/2006/relationships/notesMaster" Target="../notesMasters/notesMaster1.xml"/>
</Relationships>
</file>

<file path=ppt/notesSlides/_rels/notesSlide56.xml.rels><?xml version="1.0" encoding="UTF-8"?>
<Relationships xmlns="http://schemas.openxmlformats.org/package/2006/relationships"><Relationship Id="rId1" Type="http://schemas.openxmlformats.org/officeDocument/2006/relationships/slide" Target="../slides/slide56.xml"/><Relationship Id="rId2" Type="http://schemas.openxmlformats.org/officeDocument/2006/relationships/notesMaster" Target="../notesMasters/notesMaster1.xml"/>
</Relationships>
</file>

<file path=ppt/notesSlides/_rels/notesSlide57.xml.rels><?xml version="1.0" encoding="UTF-8"?>
<Relationships xmlns="http://schemas.openxmlformats.org/package/2006/relationships"><Relationship Id="rId1" Type="http://schemas.openxmlformats.org/officeDocument/2006/relationships/slide" Target="../slides/slide57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2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08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Source: [DRAFT] course PDF; README.md; USECASE.md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4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5BD94C55-8386-4B33-9B85-7313FC95817F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08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Source: README.md; mongodb/docker-compose.yml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7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7F30A7B-01FF-4F4D-8C99-E9554076065D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8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08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Source: Course primer; MongoDB concepts used throughout the modules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0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54099CE9-5B0B-4E50-B084-244768AC14C4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1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09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Source: MongoDB primer comparison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3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D47341C6-72F2-4EEF-A7D3-5F48ABFDB9D3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4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09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Source: USECASE.md; Module2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6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54AAF66C-14FE-4200-8DE4-BC86C56540BA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7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09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Source: MongoDB primer example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9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CC50957-DAF5-4117-88FE-B9A6D632CEC7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0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10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Source: MongoDB primer modeling guidance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2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6060FAE-234F-4E45-98E6-8101FA389A08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3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10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Source: MongoDB CRUD primer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5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516B21D8-B13A-42DA-9B74-490FCF447F86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6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107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Source: README.md; mongodb/docker-compose.yml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8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1036D6B4-AB14-4D86-83BB-E30740EE86E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9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11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Source: README.md; mongodb/docker-compose.yml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1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679BE69A-EAED-4B52-A876-46986028CA45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2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11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Source: README.md; mongodb/docker-compose.yml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4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CCABDF44-F6D7-409C-B7AC-42A16B58879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5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11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Source: README.md; mongodb/docker-compose.yml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7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C7B67FBA-CA3B-4CCA-9EB4-9E07AB0E1E1C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8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11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Source: README.md; mongodb/docker-compose.yml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0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09B68AC2-6E1D-45C3-B2EA-3A843EB3DB77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1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12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Source: README.md; mongodb/docker-compose.yml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3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1B9F9F1F-C62C-4D02-B83F-98BD7ABD3A0E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4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12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Source: README.md; mongodb/docker-compose.yml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6" name="PlaceHolder 3"/>
          <p:cNvSpPr>
            <a:spLocks noGrp="1"/>
          </p:cNvSpPr>
          <p:nvPr>
            <p:ph type="sldNum" idx="51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52B8D10-B8ED-4F08-B7D9-7B5035D72F65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7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12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Source: [DRAFT] course PDF; USECASE.md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9" name="PlaceHolder 3"/>
          <p:cNvSpPr>
            <a:spLocks noGrp="1"/>
          </p:cNvSpPr>
          <p:nvPr>
            <p:ph type="sldNum" idx="52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C67CD002-A1A2-4B0F-94E7-09F4BA42919C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0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13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Source: KAFKA_UI_GUIDE.md; Kafbat UI v1.5.0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2" name="PlaceHolder 3"/>
          <p:cNvSpPr>
            <a:spLocks noGrp="1"/>
          </p:cNvSpPr>
          <p:nvPr>
            <p:ph type="sldNum" idx="53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72577DC4-DDA2-46F3-BA23-D2AE386C9D7F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3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13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Source: kafka/docker-compose.yml; README.md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5" name="PlaceHolder 3"/>
          <p:cNvSpPr>
            <a:spLocks noGrp="1"/>
          </p:cNvSpPr>
          <p:nvPr>
            <p:ph type="sldNum" idx="54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D6C029DA-C29E-4622-B4BF-B8C6FFB5C858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6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137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Source: KAFKA_UI_GUIDE.md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8" name="PlaceHolder 3"/>
          <p:cNvSpPr>
            <a:spLocks noGrp="1"/>
          </p:cNvSpPr>
          <p:nvPr>
            <p:ph type="sldNum" idx="55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7917BF4C-523F-450E-8BFF-6DDE7B9FD993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9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14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Source: KAFKA_UI_EXERCISES.md Exercises 2–3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1" name="PlaceHolder 3"/>
          <p:cNvSpPr>
            <a:spLocks noGrp="1"/>
          </p:cNvSpPr>
          <p:nvPr>
            <p:ph type="sldNum" idx="56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3CD9AE8F-3594-46FF-BD16-89F6E66BAF41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2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14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Source: KAFKA_UI_GUIDE.md; Module3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4" name="PlaceHolder 3"/>
          <p:cNvSpPr>
            <a:spLocks noGrp="1"/>
          </p:cNvSpPr>
          <p:nvPr>
            <p:ph type="sldNum" idx="57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33519F43-DA03-4467-9B79-4A3409956BCE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5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14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Source: KAFKA_UI_GUIDE.md; Module3/02-Consumer-Lag.md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7" name="PlaceHolder 3"/>
          <p:cNvSpPr>
            <a:spLocks noGrp="1"/>
          </p:cNvSpPr>
          <p:nvPr>
            <p:ph type="sldNum" idx="58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E55FFFAB-DAC6-4346-A365-58941679B95E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8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14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Source: KAFKA_UI_GUIDE.md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0" name="PlaceHolder 3"/>
          <p:cNvSpPr>
            <a:spLocks noGrp="1"/>
          </p:cNvSpPr>
          <p:nvPr>
            <p:ph type="sldNum" idx="59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D4194D4D-9EF1-4F58-8E3A-9BBD998F718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1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15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Source: KAFKA_UI_EXERCISES.md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3" name="PlaceHolder 3"/>
          <p:cNvSpPr>
            <a:spLocks noGrp="1"/>
          </p:cNvSpPr>
          <p:nvPr>
            <p:ph type="sldNum" idx="60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A8578DB9-02B9-4526-893E-C6E35139674C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DDC6F80-5B36-4D11-AECC-6F749BB76D6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9680D42-E31A-415B-9010-2786BEC138E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ck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8A6B326-DA81-4188-9C0A-3BA95F00F68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8713399-9B21-41D0-B967-18347930D76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l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i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k 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o 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d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i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t 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M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a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s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r 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i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l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e 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s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y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l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45E7001-653F-459F-B065-5DCB12C8E17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D273B5B-765B-46BE-9931-BA1AE59616E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C38A5EB-23A5-4313-81CD-370F4BA6FAE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2E86FC3-8C79-4D0C-B1AE-034D711D084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6045813-1DDC-47B5-B787-E31D5EF72C7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E0A24A0-B39E-4CCF-8BD8-91AD656A599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DBD01C9-0DF1-4DD0-B4F4-1B5877E4BFC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0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1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2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3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4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5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6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7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7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7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7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7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7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7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7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7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7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7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9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9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9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9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9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9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8" name="Rectangle 2"/>
          <p:cNvSpPr/>
          <p:nvPr/>
        </p:nvSpPr>
        <p:spPr>
          <a:xfrm>
            <a:off x="0" y="0"/>
            <a:ext cx="200880" cy="68576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9" name="TextBox 3"/>
          <p:cNvSpPr/>
          <p:nvPr/>
        </p:nvSpPr>
        <p:spPr>
          <a:xfrm>
            <a:off x="822960" y="1078920"/>
            <a:ext cx="1051524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r>
              <a:rPr lang="en-US" sz="34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Monitoring MongoDB and Apache Kafka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for Event-Driven Data Applications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4"/>
          <p:cNvSpPr/>
          <p:nvPr/>
        </p:nvSpPr>
        <p:spPr>
          <a:xfrm>
            <a:off x="859680" y="3063240"/>
            <a:ext cx="4960440" cy="39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Fundamentals, Monitoring, Maintenance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6"/>
          <p:cNvSpPr/>
          <p:nvPr/>
        </p:nvSpPr>
        <p:spPr>
          <a:xfrm>
            <a:off x="859680" y="6016680"/>
            <a:ext cx="7772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Instructor deck • 2026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F7A5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" name="TextBox 2"/>
          <p:cNvSpPr/>
          <p:nvPr/>
        </p:nvSpPr>
        <p:spPr>
          <a:xfrm>
            <a:off x="786240" y="960120"/>
            <a:ext cx="22856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PRIMER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3"/>
          <p:cNvSpPr/>
          <p:nvPr/>
        </p:nvSpPr>
        <p:spPr>
          <a:xfrm>
            <a:off x="786240" y="1847160"/>
            <a:ext cx="1033236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MongoDB for complete beginners</a:t>
            </a:r>
            <a:endParaRPr lang="en-US" sz="3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4"/>
          <p:cNvSpPr/>
          <p:nvPr/>
        </p:nvSpPr>
        <p:spPr>
          <a:xfrm>
            <a:off x="813960" y="3200400"/>
            <a:ext cx="98751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100" b="0" u="none" strike="noStrike">
                <a:solidFill>
                  <a:srgbClr val="E8F6EF"/>
                </a:solidFill>
                <a:effectLst/>
                <a:uFillTx/>
                <a:latin typeface="Aptos"/>
              </a:rPr>
              <a:t>Documents, collections, relational-database comparisons, and basic CRUD with mongosh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Rectangle 5"/>
          <p:cNvSpPr/>
          <p:nvPr/>
        </p:nvSpPr>
        <p:spPr>
          <a:xfrm>
            <a:off x="813960" y="5358240"/>
            <a:ext cx="1828440" cy="453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720" rIns="90000" bIns="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7" name="TextBox 6"/>
          <p:cNvSpPr/>
          <p:nvPr/>
        </p:nvSpPr>
        <p:spPr>
          <a:xfrm>
            <a:off x="813960" y="5605200"/>
            <a:ext cx="8229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Use the local mongodb_primer database; workshop data stays separate.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MongoDB in one sentence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3"/>
          <p:cNvSpPr/>
          <p:nvPr/>
        </p:nvSpPr>
        <p:spPr>
          <a:xfrm>
            <a:off x="594360" y="749880"/>
            <a:ext cx="10881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MONGODB PRIMER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Rectangle 4"/>
          <p:cNvSpPr/>
          <p:nvPr/>
        </p:nvSpPr>
        <p:spPr>
          <a:xfrm>
            <a:off x="594360" y="105156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" name="TextBox 5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6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3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7"/>
          <p:cNvSpPr/>
          <p:nvPr/>
        </p:nvSpPr>
        <p:spPr>
          <a:xfrm>
            <a:off x="713160" y="1353240"/>
            <a:ext cx="10698120" cy="498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5000"/>
              </a:lnSpc>
              <a:spcAft>
                <a:spcPts val="1301"/>
              </a:spcAft>
            </a:pPr>
            <a:r>
              <a:rPr lang="en-US" sz="20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MongoDB is a database that stores records as flexible, JSON-like documents rather than rows in fixed tables.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301"/>
              </a:spcAft>
            </a:pPr>
            <a:r>
              <a:rPr lang="en-US" sz="20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Documents are grouped into collections; collections belong to databases.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301"/>
              </a:spcAft>
            </a:pPr>
            <a:r>
              <a:rPr lang="en-US" sz="20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A document can contain strings, numbers, dates, arrays, nested objects, and references to other documents.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301"/>
              </a:spcAft>
            </a:pPr>
            <a:r>
              <a:rPr lang="en-US" sz="20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MongoDB provides indexes, aggregation, transactions, replication, security, and operational tooling expected from a production database.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Rounded Rectangle 8"/>
          <p:cNvSpPr/>
          <p:nvPr/>
        </p:nvSpPr>
        <p:spPr>
          <a:xfrm>
            <a:off x="768240" y="5440680"/>
            <a:ext cx="10652400" cy="456840"/>
          </a:xfrm>
          <a:prstGeom prst="roundRect">
            <a:avLst>
              <a:gd name="adj" fmla="val 16667"/>
            </a:avLst>
          </a:prstGeom>
          <a:solidFill>
            <a:srgbClr val="F2F9F6"/>
          </a:solidFill>
          <a:ln>
            <a:solidFill>
              <a:srgbClr val="1F7A5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6" name="TextBox 9"/>
          <p:cNvSpPr/>
          <p:nvPr/>
        </p:nvSpPr>
        <p:spPr>
          <a:xfrm>
            <a:off x="932760" y="5523120"/>
            <a:ext cx="10286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20" b="1" u="none" strike="noStrike">
                <a:solidFill>
                  <a:srgbClr val="1F7A56"/>
                </a:solidFill>
                <a:effectLst/>
                <a:uFillTx/>
                <a:latin typeface="Aptos"/>
              </a:rPr>
              <a:t>Think: database → collection → document → field.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8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MongoDB compared with a relational database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3"/>
          <p:cNvSpPr/>
          <p:nvPr/>
        </p:nvSpPr>
        <p:spPr>
          <a:xfrm>
            <a:off x="594360" y="749880"/>
            <a:ext cx="10881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MONGODB PRIMER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Rectangle 4"/>
          <p:cNvSpPr/>
          <p:nvPr/>
        </p:nvSpPr>
        <p:spPr>
          <a:xfrm>
            <a:off x="594360" y="105156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1" name="TextBox 5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Box 6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4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3" name="Table 7"/>
          <p:cNvGraphicFramePr/>
          <p:nvPr/>
        </p:nvGraphicFramePr>
        <p:xfrm>
          <a:off x="603360" y="1243440"/>
          <a:ext cx="10972440" cy="4525920"/>
        </p:xfrm>
        <a:graphic>
          <a:graphicData uri="http://schemas.openxmlformats.org/drawingml/2006/table">
            <a:tbl>
              <a:tblPr/>
              <a:tblGrid>
                <a:gridCol w="2148840"/>
                <a:gridCol w="4251960"/>
                <a:gridCol w="4572000"/>
              </a:tblGrid>
              <a:tr h="565560">
                <a:tc>
                  <a:txBody>
                    <a:bodyPr lIns="73080" r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8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Dimension</a:t>
                      </a:r>
                      <a:endParaRPr lang="en-US" sz="128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74E"/>
                    </a:solidFill>
                  </a:tcPr>
                </a:tc>
                <a:tc>
                  <a:txBody>
                    <a:bodyPr lIns="73080" r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8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Relational database</a:t>
                      </a:r>
                      <a:endParaRPr lang="en-US" sz="128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74E"/>
                    </a:solidFill>
                  </a:tcPr>
                </a:tc>
                <a:tc>
                  <a:txBody>
                    <a:bodyPr lIns="73080" r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8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MongoDB</a:t>
                      </a:r>
                      <a:endParaRPr lang="en-US" sz="128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74E"/>
                    </a:solidFill>
                  </a:tcPr>
                </a:tc>
              </a:tr>
              <a:tr h="56556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8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Primary structure</a:t>
                      </a:r>
                      <a:endParaRPr lang="en-US" sz="12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8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Tables containing rows</a:t>
                      </a:r>
                      <a:endParaRPr lang="en-US" sz="12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8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Collections containing documents</a:t>
                      </a:r>
                      <a:endParaRPr lang="en-US" sz="12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556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8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Record shape</a:t>
                      </a:r>
                      <a:endParaRPr lang="en-US" sz="12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8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Columns defined by a table schema</a:t>
                      </a:r>
                      <a:endParaRPr lang="en-US" sz="12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8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Fields can vary between documents</a:t>
                      </a:r>
                      <a:endParaRPr lang="en-US" sz="12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  <a:tr h="56556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8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Relationships</a:t>
                      </a:r>
                      <a:endParaRPr lang="en-US" sz="12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8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Foreign keys and JOINs</a:t>
                      </a:r>
                      <a:endParaRPr lang="en-US" sz="12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8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Embedding, references, and $lookup</a:t>
                      </a:r>
                      <a:endParaRPr lang="en-US" sz="12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556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8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Query style</a:t>
                      </a:r>
                      <a:endParaRPr lang="en-US" sz="12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8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SQL</a:t>
                      </a:r>
                      <a:endParaRPr lang="en-US" sz="12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8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Document query and aggregation syntax</a:t>
                      </a:r>
                      <a:endParaRPr lang="en-US" sz="12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  <a:tr h="56556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8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Identity</a:t>
                      </a:r>
                      <a:endParaRPr lang="en-US" sz="12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8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Primary key chosen by schema</a:t>
                      </a:r>
                      <a:endParaRPr lang="en-US" sz="12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8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Every document has a unique _id</a:t>
                      </a:r>
                      <a:endParaRPr lang="en-US" sz="12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556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8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Transactions</a:t>
                      </a:r>
                      <a:endParaRPr lang="en-US" sz="12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8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A central modeling tool</a:t>
                      </a:r>
                      <a:endParaRPr lang="en-US" sz="12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8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Supported; often scoped around document/aggregate design</a:t>
                      </a:r>
                      <a:endParaRPr lang="en-US" sz="12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  <a:tr h="56556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8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Scaling pattern</a:t>
                      </a:r>
                      <a:endParaRPr lang="en-US" sz="12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8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Often scale-up; vendor-specific scale-out</a:t>
                      </a:r>
                      <a:endParaRPr lang="en-US" sz="12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8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Built for replica sets and sharding</a:t>
                      </a:r>
                      <a:endParaRPr lang="en-US" sz="12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4" name="Rounded Rectangle 8"/>
          <p:cNvSpPr/>
          <p:nvPr/>
        </p:nvSpPr>
        <p:spPr>
          <a:xfrm>
            <a:off x="768240" y="5806440"/>
            <a:ext cx="10652400" cy="456840"/>
          </a:xfrm>
          <a:prstGeom prst="roundRect">
            <a:avLst>
              <a:gd name="adj" fmla="val 16667"/>
            </a:avLst>
          </a:prstGeom>
          <a:solidFill>
            <a:srgbClr val="F2F9F6"/>
          </a:solidFill>
          <a:ln>
            <a:solidFill>
              <a:srgbClr val="1F7A5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5" name="TextBox 9"/>
          <p:cNvSpPr/>
          <p:nvPr/>
        </p:nvSpPr>
        <p:spPr>
          <a:xfrm>
            <a:off x="932760" y="5888880"/>
            <a:ext cx="10286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20" b="1" u="none" strike="noStrike">
                <a:solidFill>
                  <a:srgbClr val="1F7A56"/>
                </a:solidFill>
                <a:effectLst/>
                <a:uFillTx/>
                <a:latin typeface="Aptos"/>
              </a:rPr>
              <a:t>Neither model is universally better: choose based on data shape, access patterns, consistency, and operations.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7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Translate familiar relational terms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Box 3"/>
          <p:cNvSpPr/>
          <p:nvPr/>
        </p:nvSpPr>
        <p:spPr>
          <a:xfrm>
            <a:off x="594360" y="749880"/>
            <a:ext cx="10881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MONGODB PRIMER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Rectangle 4"/>
          <p:cNvSpPr/>
          <p:nvPr/>
        </p:nvSpPr>
        <p:spPr>
          <a:xfrm>
            <a:off x="594360" y="105156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0" name="TextBox 5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Box 6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5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2" name="Table 7"/>
          <p:cNvGraphicFramePr/>
          <p:nvPr/>
        </p:nvGraphicFramePr>
        <p:xfrm>
          <a:off x="603360" y="1243440"/>
          <a:ext cx="10972440" cy="4525920"/>
        </p:xfrm>
        <a:graphic>
          <a:graphicData uri="http://schemas.openxmlformats.org/drawingml/2006/table">
            <a:tbl>
              <a:tblPr/>
              <a:tblGrid>
                <a:gridCol w="2286000"/>
                <a:gridCol w="3337560"/>
                <a:gridCol w="5349240"/>
              </a:tblGrid>
              <a:tr h="565560">
                <a:tc>
                  <a:txBody>
                    <a:bodyPr lIns="73080" r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2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Relational term</a:t>
                      </a:r>
                      <a:endParaRPr lang="en-US" sz="132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74E"/>
                    </a:solidFill>
                  </a:tcPr>
                </a:tc>
                <a:tc>
                  <a:txBody>
                    <a:bodyPr lIns="73080" r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2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MongoDB term</a:t>
                      </a:r>
                      <a:endParaRPr lang="en-US" sz="132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74E"/>
                    </a:solidFill>
                  </a:tcPr>
                </a:tc>
                <a:tc>
                  <a:txBody>
                    <a:bodyPr lIns="73080" r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2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Example in this course</a:t>
                      </a:r>
                      <a:endParaRPr lang="en-US" sz="132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74E"/>
                    </a:solidFill>
                  </a:tcPr>
                </a:tc>
              </a:tr>
              <a:tr h="56556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Database</a:t>
                      </a:r>
                      <a:endParaRPr lang="en-US" sz="13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Database</a:t>
                      </a:r>
                      <a:endParaRPr lang="en-US" sz="13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workshop</a:t>
                      </a:r>
                      <a:endParaRPr lang="en-US" sz="13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556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Table</a:t>
                      </a:r>
                      <a:endParaRPr lang="en-US" sz="13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Collection</a:t>
                      </a:r>
                      <a:endParaRPr lang="en-US" sz="13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orders</a:t>
                      </a:r>
                      <a:endParaRPr lang="en-US" sz="13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  <a:tr h="56556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Row</a:t>
                      </a:r>
                      <a:endParaRPr lang="en-US" sz="13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Document</a:t>
                      </a:r>
                      <a:endParaRPr lang="en-US" sz="13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One stored order</a:t>
                      </a:r>
                      <a:endParaRPr lang="en-US" sz="13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556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Column</a:t>
                      </a:r>
                      <a:endParaRPr lang="en-US" sz="13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Field</a:t>
                      </a:r>
                      <a:endParaRPr lang="en-US" sz="13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customer_id or status</a:t>
                      </a:r>
                      <a:endParaRPr lang="en-US" sz="13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  <a:tr h="56556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Primary key</a:t>
                      </a:r>
                      <a:endParaRPr lang="en-US" sz="13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_id (plus business keys)</a:t>
                      </a:r>
                      <a:endParaRPr lang="en-US" sz="13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_id and unique order_id</a:t>
                      </a:r>
                      <a:endParaRPr lang="en-US" sz="13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556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Index</a:t>
                      </a:r>
                      <a:endParaRPr lang="en-US" sz="13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Index</a:t>
                      </a:r>
                      <a:endParaRPr lang="en-US" sz="13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customer_id_1</a:t>
                      </a:r>
                      <a:endParaRPr lang="en-US" sz="13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  <a:tr h="56556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JOIN</a:t>
                      </a:r>
                      <a:endParaRPr lang="en-US" sz="13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$lookup or application/modeling choice</a:t>
                      </a:r>
                      <a:endParaRPr lang="en-US" sz="13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Usually not needed for the simple order flow</a:t>
                      </a:r>
                      <a:endParaRPr lang="en-US" sz="13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3" name="Rounded Rectangle 8"/>
          <p:cNvSpPr/>
          <p:nvPr/>
        </p:nvSpPr>
        <p:spPr>
          <a:xfrm>
            <a:off x="768240" y="5806440"/>
            <a:ext cx="10652400" cy="456840"/>
          </a:xfrm>
          <a:prstGeom prst="roundRect">
            <a:avLst>
              <a:gd name="adj" fmla="val 16667"/>
            </a:avLst>
          </a:prstGeom>
          <a:solidFill>
            <a:srgbClr val="F2F9F6"/>
          </a:solidFill>
          <a:ln>
            <a:solidFill>
              <a:srgbClr val="1F7A5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4" name="TextBox 9"/>
          <p:cNvSpPr/>
          <p:nvPr/>
        </p:nvSpPr>
        <p:spPr>
          <a:xfrm>
            <a:off x="932760" y="5888880"/>
            <a:ext cx="10286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20" b="1" u="none" strike="noStrike">
                <a:solidFill>
                  <a:srgbClr val="1F7A56"/>
                </a:solidFill>
                <a:effectLst/>
                <a:uFillTx/>
                <a:latin typeface="Aptos"/>
              </a:rPr>
              <a:t>Collection names and field names are case-sensitive; use exact names in commands and runbooks.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A MongoDB document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Box 3"/>
          <p:cNvSpPr/>
          <p:nvPr/>
        </p:nvSpPr>
        <p:spPr>
          <a:xfrm>
            <a:off x="594360" y="749880"/>
            <a:ext cx="10881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MONGODB PRIMER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Rectangle 4"/>
          <p:cNvSpPr/>
          <p:nvPr/>
        </p:nvSpPr>
        <p:spPr>
          <a:xfrm>
            <a:off x="594360" y="105156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" name="TextBox 5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Box 6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6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Rounded Rectangle 7"/>
          <p:cNvSpPr/>
          <p:nvPr/>
        </p:nvSpPr>
        <p:spPr>
          <a:xfrm>
            <a:off x="658440" y="1298520"/>
            <a:ext cx="5166000" cy="4434480"/>
          </a:xfrm>
          <a:prstGeom prst="roundRect">
            <a:avLst>
              <a:gd name="adj" fmla="val 16667"/>
            </a:avLst>
          </a:prstGeom>
          <a:solidFill>
            <a:srgbClr val="F8F9FB"/>
          </a:solidFill>
          <a:ln>
            <a:solidFill>
              <a:srgbClr val="CDD2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" name="TextBox 8"/>
          <p:cNvSpPr/>
          <p:nvPr/>
        </p:nvSpPr>
        <p:spPr>
          <a:xfrm>
            <a:off x="841320" y="1408320"/>
            <a:ext cx="4800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BSON DOCUMENT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Box 9"/>
          <p:cNvSpPr/>
          <p:nvPr/>
        </p:nvSpPr>
        <p:spPr>
          <a:xfrm>
            <a:off x="841320" y="1737360"/>
            <a:ext cx="4800240" cy="388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{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  _id: ObjectId('...'),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  name: 'Ada Rivera',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  email: 'ada@example.com',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  active: true,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  skills: ['MongoDB', 'Kafka'],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  address: { city: 'Manila', country: 'PH' },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  enrolledAt: ISODate('2026-08-27T00:00:00Z')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Rounded Rectangle 10"/>
          <p:cNvSpPr/>
          <p:nvPr/>
        </p:nvSpPr>
        <p:spPr>
          <a:xfrm>
            <a:off x="6144840" y="1298520"/>
            <a:ext cx="5348880" cy="4434480"/>
          </a:xfrm>
          <a:prstGeom prst="roundRect">
            <a:avLst>
              <a:gd name="adj" fmla="val 16667"/>
            </a:avLst>
          </a:prstGeom>
          <a:solidFill>
            <a:srgbClr val="F4F6F8"/>
          </a:solidFill>
          <a:ln>
            <a:solidFill>
              <a:srgbClr val="DCE1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" name="Rectangle 11"/>
          <p:cNvSpPr/>
          <p:nvPr/>
        </p:nvSpPr>
        <p:spPr>
          <a:xfrm>
            <a:off x="6144840" y="1298520"/>
            <a:ext cx="72720" cy="4434480"/>
          </a:xfrm>
          <a:prstGeom prst="rect">
            <a:avLst/>
          </a:prstGeom>
          <a:solidFill>
            <a:srgbClr val="1F7A5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" name="TextBox 12"/>
          <p:cNvSpPr/>
          <p:nvPr/>
        </p:nvSpPr>
        <p:spPr>
          <a:xfrm>
            <a:off x="6355080" y="1463040"/>
            <a:ext cx="49557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F7A56"/>
                </a:solidFill>
                <a:effectLst/>
                <a:uFillTx/>
                <a:latin typeface="Aptos"/>
              </a:rPr>
              <a:t>What to notice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Box 13"/>
          <p:cNvSpPr/>
          <p:nvPr/>
        </p:nvSpPr>
        <p:spPr>
          <a:xfrm>
            <a:off x="6346080" y="1956960"/>
            <a:ext cx="4964760" cy="362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Field names describe the data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Values have types—not just text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Arrays and nested objects are native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_id uniquely identifies the document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MongoDB stores BSON, a binary document format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Flexible schema does not mean no data design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Box 3"/>
          <p:cNvSpPr/>
          <p:nvPr/>
        </p:nvSpPr>
        <p:spPr>
          <a:xfrm>
            <a:off x="594360" y="749880"/>
            <a:ext cx="10881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MONGODB PRIMER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Rectangle 4"/>
          <p:cNvSpPr/>
          <p:nvPr/>
        </p:nvSpPr>
        <p:spPr>
          <a:xfrm>
            <a:off x="594360" y="105156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" name="TextBox 5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Box 6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7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Rounded Rectangle 7"/>
          <p:cNvSpPr/>
          <p:nvPr/>
        </p:nvSpPr>
        <p:spPr>
          <a:xfrm>
            <a:off x="640080" y="1298520"/>
            <a:ext cx="3437640" cy="4343040"/>
          </a:xfrm>
          <a:prstGeom prst="roundRect">
            <a:avLst>
              <a:gd name="adj" fmla="val 16667"/>
            </a:avLst>
          </a:prstGeom>
          <a:solidFill>
            <a:srgbClr val="F4F6F8"/>
          </a:solidFill>
          <a:ln>
            <a:solidFill>
              <a:srgbClr val="DCE1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" name="Rectangle 8"/>
          <p:cNvSpPr/>
          <p:nvPr/>
        </p:nvSpPr>
        <p:spPr>
          <a:xfrm>
            <a:off x="640080" y="1298520"/>
            <a:ext cx="72720" cy="43430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" name="TextBox 9"/>
          <p:cNvSpPr/>
          <p:nvPr/>
        </p:nvSpPr>
        <p:spPr>
          <a:xfrm>
            <a:off x="850320" y="1463040"/>
            <a:ext cx="30445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Relational instinct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Box 10"/>
          <p:cNvSpPr/>
          <p:nvPr/>
        </p:nvSpPr>
        <p:spPr>
          <a:xfrm>
            <a:off x="841320" y="1956960"/>
            <a:ext cx="3053880" cy="353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Normalize repeated data into tables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Use foreign keys for integrity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Join tables when reading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Apply one schema to every row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Rounded Rectangle 11"/>
          <p:cNvSpPr/>
          <p:nvPr/>
        </p:nvSpPr>
        <p:spPr>
          <a:xfrm>
            <a:off x="4370760" y="1298520"/>
            <a:ext cx="3437640" cy="4343040"/>
          </a:xfrm>
          <a:prstGeom prst="roundRect">
            <a:avLst>
              <a:gd name="adj" fmla="val 16667"/>
            </a:avLst>
          </a:prstGeom>
          <a:solidFill>
            <a:srgbClr val="F4F6F8"/>
          </a:solidFill>
          <a:ln>
            <a:solidFill>
              <a:srgbClr val="DCE1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" name="Rectangle 12"/>
          <p:cNvSpPr/>
          <p:nvPr/>
        </p:nvSpPr>
        <p:spPr>
          <a:xfrm>
            <a:off x="4370760" y="1298520"/>
            <a:ext cx="72720" cy="4343040"/>
          </a:xfrm>
          <a:prstGeom prst="rect">
            <a:avLst/>
          </a:prstGeom>
          <a:solidFill>
            <a:srgbClr val="1F7A5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" name="TextBox 13"/>
          <p:cNvSpPr/>
          <p:nvPr/>
        </p:nvSpPr>
        <p:spPr>
          <a:xfrm>
            <a:off x="4581000" y="1463040"/>
            <a:ext cx="30445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F7A56"/>
                </a:solidFill>
                <a:effectLst/>
                <a:uFillTx/>
                <a:latin typeface="Aptos"/>
              </a:rPr>
              <a:t>MongoDB choices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Box 14"/>
          <p:cNvSpPr/>
          <p:nvPr/>
        </p:nvSpPr>
        <p:spPr>
          <a:xfrm>
            <a:off x="4572000" y="1956960"/>
            <a:ext cx="3053880" cy="353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Embed data read and changed together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Reference independent or unbounded data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Design around common access patterns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Use validation when fields must conform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Rounded Rectangle 15"/>
          <p:cNvSpPr/>
          <p:nvPr/>
        </p:nvSpPr>
        <p:spPr>
          <a:xfrm>
            <a:off x="8101440" y="1298520"/>
            <a:ext cx="3437640" cy="4343040"/>
          </a:xfrm>
          <a:prstGeom prst="roundRect">
            <a:avLst>
              <a:gd name="adj" fmla="val 16667"/>
            </a:avLst>
          </a:prstGeom>
          <a:solidFill>
            <a:srgbClr val="F4F6F8"/>
          </a:solidFill>
          <a:ln>
            <a:solidFill>
              <a:srgbClr val="DCE1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" name="Rectangle 16"/>
          <p:cNvSpPr/>
          <p:nvPr/>
        </p:nvSpPr>
        <p:spPr>
          <a:xfrm>
            <a:off x="8101440" y="1298520"/>
            <a:ext cx="72720" cy="4343040"/>
          </a:xfrm>
          <a:prstGeom prst="rect">
            <a:avLst/>
          </a:prstGeom>
          <a:solidFill>
            <a:srgbClr val="B4691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" name="TextBox 17"/>
          <p:cNvSpPr/>
          <p:nvPr/>
        </p:nvSpPr>
        <p:spPr>
          <a:xfrm>
            <a:off x="8312040" y="1463040"/>
            <a:ext cx="30445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B46914"/>
                </a:solidFill>
                <a:effectLst/>
                <a:uFillTx/>
                <a:latin typeface="Aptos"/>
              </a:rPr>
              <a:t>Operational effect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Box 18"/>
          <p:cNvSpPr/>
          <p:nvPr/>
        </p:nvSpPr>
        <p:spPr>
          <a:xfrm>
            <a:off x="8302680" y="1956960"/>
            <a:ext cx="3053880" cy="353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Large documents have cost and limits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Indexes speed reads but cost writes/storage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Shape changes need compatibility planning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Correctness still needs explicit invariants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Rounded Rectangle 19"/>
          <p:cNvSpPr/>
          <p:nvPr/>
        </p:nvSpPr>
        <p:spPr>
          <a:xfrm>
            <a:off x="768240" y="5779080"/>
            <a:ext cx="10652400" cy="456840"/>
          </a:xfrm>
          <a:prstGeom prst="roundRect">
            <a:avLst>
              <a:gd name="adj" fmla="val 16667"/>
            </a:avLst>
          </a:prstGeom>
          <a:solidFill>
            <a:srgbClr val="F2F9F6"/>
          </a:solidFill>
          <a:ln>
            <a:solidFill>
              <a:srgbClr val="1F7A5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" name="TextBox 20"/>
          <p:cNvSpPr/>
          <p:nvPr/>
        </p:nvSpPr>
        <p:spPr>
          <a:xfrm>
            <a:off x="932760" y="5861160"/>
            <a:ext cx="10286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20" b="1" u="none" strike="noStrike">
                <a:solidFill>
                  <a:srgbClr val="1F7A56"/>
                </a:solidFill>
                <a:effectLst/>
                <a:uFillTx/>
                <a:latin typeface="Aptos"/>
              </a:rPr>
              <a:t>Start with the application’s read/write patterns, then choose embedding, references, and indexes.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CRUD: SQL and mongosh side by side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Box 3"/>
          <p:cNvSpPr/>
          <p:nvPr/>
        </p:nvSpPr>
        <p:spPr>
          <a:xfrm>
            <a:off x="594360" y="749880"/>
            <a:ext cx="10881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MONGODB PRIMER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Rectangle 4"/>
          <p:cNvSpPr/>
          <p:nvPr/>
        </p:nvSpPr>
        <p:spPr>
          <a:xfrm>
            <a:off x="594360" y="105156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2" name="TextBox 5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Box 6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8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44" name="Table 7"/>
          <p:cNvGraphicFramePr/>
          <p:nvPr/>
        </p:nvGraphicFramePr>
        <p:xfrm>
          <a:off x="603360" y="1243440"/>
          <a:ext cx="10972440" cy="4525920"/>
        </p:xfrm>
        <a:graphic>
          <a:graphicData uri="http://schemas.openxmlformats.org/drawingml/2006/table">
            <a:tbl>
              <a:tblPr/>
              <a:tblGrid>
                <a:gridCol w="1417320"/>
                <a:gridCol w="4160520"/>
                <a:gridCol w="5394960"/>
              </a:tblGrid>
              <a:tr h="754200">
                <a:tc>
                  <a:txBody>
                    <a:bodyPr lIns="73080" r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3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Operation</a:t>
                      </a:r>
                      <a:endParaRPr lang="en-US" sz="123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74E"/>
                    </a:solidFill>
                  </a:tcPr>
                </a:tc>
                <a:tc>
                  <a:txBody>
                    <a:bodyPr lIns="73080" r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3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Relational SQL</a:t>
                      </a:r>
                      <a:endParaRPr lang="en-US" sz="123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74E"/>
                    </a:solidFill>
                  </a:tcPr>
                </a:tc>
                <a:tc>
                  <a:txBody>
                    <a:bodyPr lIns="73080" r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3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MongoDB / mongosh</a:t>
                      </a:r>
                      <a:endParaRPr lang="en-US" sz="123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74E"/>
                    </a:solidFill>
                  </a:tcPr>
                </a:tc>
              </a:tr>
              <a:tr h="75420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3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Create container</a:t>
                      </a:r>
                      <a:endParaRPr lang="en-US" sz="12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3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CREATE TABLE learners (...);</a:t>
                      </a:r>
                      <a:endParaRPr lang="en-US" sz="12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3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db.createCollection('learners')</a:t>
                      </a:r>
                      <a:endParaRPr lang="en-US" sz="12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5420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3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Insert</a:t>
                      </a:r>
                      <a:endParaRPr lang="en-US" sz="12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3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INSERT INTO learners ...</a:t>
                      </a:r>
                      <a:endParaRPr lang="en-US" sz="12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3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db.learners.insertOne({...})</a:t>
                      </a:r>
                      <a:endParaRPr lang="en-US" sz="12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  <a:tr h="75420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3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Fetch</a:t>
                      </a:r>
                      <a:endParaRPr lang="en-US" sz="12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3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SELECT * FROM learners WHERE active=true;</a:t>
                      </a:r>
                      <a:endParaRPr lang="en-US" sz="12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3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db.learners.find({active: true})</a:t>
                      </a:r>
                      <a:endParaRPr lang="en-US" sz="12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5420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3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Update</a:t>
                      </a:r>
                      <a:endParaRPr lang="en-US" sz="12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3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UPDATE learners SET active=false WHERE email=...;</a:t>
                      </a:r>
                      <a:endParaRPr lang="en-US" sz="12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3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db.learners.updateOne({email: ...}, {$set: {active:false}})</a:t>
                      </a:r>
                      <a:endParaRPr lang="en-US" sz="12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  <a:tr h="75420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3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Delete</a:t>
                      </a:r>
                      <a:endParaRPr lang="en-US" sz="12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3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DELETE FROM learners WHERE email=...;</a:t>
                      </a:r>
                      <a:endParaRPr lang="en-US" sz="12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3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db.learners.deleteOne({email: ...})</a:t>
                      </a:r>
                      <a:endParaRPr lang="en-US" sz="12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5" name="Rounded Rectangle 8"/>
          <p:cNvSpPr/>
          <p:nvPr/>
        </p:nvSpPr>
        <p:spPr>
          <a:xfrm>
            <a:off x="768240" y="5806440"/>
            <a:ext cx="10652400" cy="456840"/>
          </a:xfrm>
          <a:prstGeom prst="roundRect">
            <a:avLst>
              <a:gd name="adj" fmla="val 16667"/>
            </a:avLst>
          </a:prstGeom>
          <a:solidFill>
            <a:srgbClr val="F2F9F6"/>
          </a:solidFill>
          <a:ln>
            <a:solidFill>
              <a:srgbClr val="1F7A5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6" name="TextBox 9"/>
          <p:cNvSpPr/>
          <p:nvPr/>
        </p:nvSpPr>
        <p:spPr>
          <a:xfrm>
            <a:off x="932760" y="5888880"/>
            <a:ext cx="10286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20" b="1" u="none" strike="noStrike">
                <a:solidFill>
                  <a:srgbClr val="1F7A56"/>
                </a:solidFill>
                <a:effectLst/>
                <a:uFillTx/>
                <a:latin typeface="Aptos"/>
              </a:rPr>
              <a:t>MongoDB filters and updates are documents. Operators such as $set, $inc, $in, and $gt begin with $.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8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Start MongoDB and open the client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Box 3"/>
          <p:cNvSpPr/>
          <p:nvPr/>
        </p:nvSpPr>
        <p:spPr>
          <a:xfrm>
            <a:off x="594360" y="749880"/>
            <a:ext cx="10881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MONGODB PRIMER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Rectangle 4"/>
          <p:cNvSpPr/>
          <p:nvPr/>
        </p:nvSpPr>
        <p:spPr>
          <a:xfrm>
            <a:off x="594360" y="105156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1" name="TextBox 5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Box 6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9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Rounded Rectangle 7"/>
          <p:cNvSpPr/>
          <p:nvPr/>
        </p:nvSpPr>
        <p:spPr>
          <a:xfrm>
            <a:off x="685800" y="1261800"/>
            <a:ext cx="10789560" cy="4343040"/>
          </a:xfrm>
          <a:prstGeom prst="roundRect">
            <a:avLst>
              <a:gd name="adj" fmla="val 16667"/>
            </a:avLst>
          </a:prstGeom>
          <a:solidFill>
            <a:srgbClr val="F8F9FB"/>
          </a:solidFill>
          <a:ln>
            <a:solidFill>
              <a:srgbClr val="CDD2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4" name="TextBox 8"/>
          <p:cNvSpPr/>
          <p:nvPr/>
        </p:nvSpPr>
        <p:spPr>
          <a:xfrm>
            <a:off x="868680" y="1371600"/>
            <a:ext cx="104238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BASH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Box 9"/>
          <p:cNvSpPr/>
          <p:nvPr/>
        </p:nvSpPr>
        <p:spPr>
          <a:xfrm>
            <a:off x="868680" y="1700640"/>
            <a:ext cx="1042380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# From the repository root: start MongoDB and wait for health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docker compose -f mongodb/docker-compose.yml up -d --wait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# Confirm the container is healthy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docker compose -f mongodb/docker-compose.yml ps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# Open mongosh inside the MongoDB container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docker compose -f mongodb/docker-compose.yml exec mongodb \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  mongosh 'mongodb://localhost:27017/?replicaSet=rs0&amp;directConnection=true'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Rounded Rectangle 10"/>
          <p:cNvSpPr/>
          <p:nvPr/>
        </p:nvSpPr>
        <p:spPr>
          <a:xfrm>
            <a:off x="768240" y="5779080"/>
            <a:ext cx="10652400" cy="456840"/>
          </a:xfrm>
          <a:prstGeom prst="roundRect">
            <a:avLst>
              <a:gd name="adj" fmla="val 16667"/>
            </a:avLst>
          </a:prstGeom>
          <a:solidFill>
            <a:srgbClr val="F2F9F6"/>
          </a:solidFill>
          <a:ln>
            <a:solidFill>
              <a:srgbClr val="1F7A5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7" name="TextBox 11"/>
          <p:cNvSpPr/>
          <p:nvPr/>
        </p:nvSpPr>
        <p:spPr>
          <a:xfrm>
            <a:off x="932760" y="5861160"/>
            <a:ext cx="10286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20" b="1" u="none" strike="noStrike">
                <a:solidFill>
                  <a:srgbClr val="1F7A56"/>
                </a:solidFill>
                <a:effectLst/>
                <a:uFillTx/>
                <a:latin typeface="Aptos"/>
              </a:rPr>
              <a:t>The prompt stays open for the next examples. Type exit or press Ctrl+D to leave mongosh.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9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Navigate mongosh and create a collection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Box 3"/>
          <p:cNvSpPr/>
          <p:nvPr/>
        </p:nvSpPr>
        <p:spPr>
          <a:xfrm>
            <a:off x="594360" y="749880"/>
            <a:ext cx="10881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MONGODB PRIMER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Rectangle 4"/>
          <p:cNvSpPr/>
          <p:nvPr/>
        </p:nvSpPr>
        <p:spPr>
          <a:xfrm>
            <a:off x="594360" y="105156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2" name="TextBox 5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Box 6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10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Rounded Rectangle 7"/>
          <p:cNvSpPr/>
          <p:nvPr/>
        </p:nvSpPr>
        <p:spPr>
          <a:xfrm>
            <a:off x="685800" y="1261800"/>
            <a:ext cx="10789560" cy="4343040"/>
          </a:xfrm>
          <a:prstGeom prst="roundRect">
            <a:avLst>
              <a:gd name="adj" fmla="val 16667"/>
            </a:avLst>
          </a:prstGeom>
          <a:solidFill>
            <a:srgbClr val="F8F9FB"/>
          </a:solidFill>
          <a:ln>
            <a:solidFill>
              <a:srgbClr val="CDD2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5" name="TextBox 8"/>
          <p:cNvSpPr/>
          <p:nvPr/>
        </p:nvSpPr>
        <p:spPr>
          <a:xfrm>
            <a:off x="868680" y="1371600"/>
            <a:ext cx="104238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MONGOSH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Box 9"/>
          <p:cNvSpPr/>
          <p:nvPr/>
        </p:nvSpPr>
        <p:spPr>
          <a:xfrm>
            <a:off x="868680" y="1700640"/>
            <a:ext cx="10423800" cy="37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// List databases currently visible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show dbs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// Select a database for this isolated primer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use mongodb_primer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// Print the current database name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db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// Create and inspect a collection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db.createCollection('learners')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show collections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Rounded Rectangle 10"/>
          <p:cNvSpPr/>
          <p:nvPr/>
        </p:nvSpPr>
        <p:spPr>
          <a:xfrm>
            <a:off x="768240" y="5779080"/>
            <a:ext cx="10652400" cy="456840"/>
          </a:xfrm>
          <a:prstGeom prst="roundRect">
            <a:avLst>
              <a:gd name="adj" fmla="val 16667"/>
            </a:avLst>
          </a:prstGeom>
          <a:solidFill>
            <a:srgbClr val="F2F9F6"/>
          </a:solidFill>
          <a:ln>
            <a:solidFill>
              <a:srgbClr val="1F7A5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8" name="TextBox 11"/>
          <p:cNvSpPr/>
          <p:nvPr/>
        </p:nvSpPr>
        <p:spPr>
          <a:xfrm>
            <a:off x="932760" y="5861160"/>
            <a:ext cx="10286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20" b="1" u="none" strike="noStrike">
                <a:solidFill>
                  <a:srgbClr val="1F7A56"/>
                </a:solidFill>
                <a:effectLst/>
                <a:uFillTx/>
                <a:latin typeface="Aptos"/>
              </a:rPr>
              <a:t>use selects a database; MongoDB creates storage when a collection or document is created.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0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Insert documents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Box 3"/>
          <p:cNvSpPr/>
          <p:nvPr/>
        </p:nvSpPr>
        <p:spPr>
          <a:xfrm>
            <a:off x="594360" y="749880"/>
            <a:ext cx="10881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MONGODB PRIMER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Rectangle 4"/>
          <p:cNvSpPr/>
          <p:nvPr/>
        </p:nvSpPr>
        <p:spPr>
          <a:xfrm>
            <a:off x="594360" y="105156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3" name="TextBox 5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Box 6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11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Rounded Rectangle 7"/>
          <p:cNvSpPr/>
          <p:nvPr/>
        </p:nvSpPr>
        <p:spPr>
          <a:xfrm>
            <a:off x="685800" y="1234440"/>
            <a:ext cx="10789560" cy="4663080"/>
          </a:xfrm>
          <a:prstGeom prst="roundRect">
            <a:avLst>
              <a:gd name="adj" fmla="val 16667"/>
            </a:avLst>
          </a:prstGeom>
          <a:solidFill>
            <a:srgbClr val="F8F9FB"/>
          </a:solidFill>
          <a:ln>
            <a:solidFill>
              <a:srgbClr val="CDD2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" name="TextBox 8"/>
          <p:cNvSpPr/>
          <p:nvPr/>
        </p:nvSpPr>
        <p:spPr>
          <a:xfrm>
            <a:off x="868680" y="1344240"/>
            <a:ext cx="104238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MONGOSH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Box 9"/>
          <p:cNvSpPr/>
          <p:nvPr/>
        </p:nvSpPr>
        <p:spPr>
          <a:xfrm>
            <a:off x="868680" y="1673280"/>
            <a:ext cx="10423800" cy="411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db.learners.insertOne({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  name: 'Ada Rivera',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  email: 'ada@example.com',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  active: true,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  level: 1,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  skills: ['MongoDB'],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  enrolledAt: new Date()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})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db.learners.insertMany([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  {name: 'Ben Santos', email: 'ben@example.com', active: true, level: 1},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  {name: 'Cara Lim', email: 'cara@example.com', active: false, level: 2}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])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Rounded Rectangle 10"/>
          <p:cNvSpPr/>
          <p:nvPr/>
        </p:nvSpPr>
        <p:spPr>
          <a:xfrm>
            <a:off x="768240" y="5961960"/>
            <a:ext cx="10652400" cy="456840"/>
          </a:xfrm>
          <a:prstGeom prst="roundRect">
            <a:avLst>
              <a:gd name="adj" fmla="val 16667"/>
            </a:avLst>
          </a:prstGeom>
          <a:solidFill>
            <a:srgbClr val="F2F9F6"/>
          </a:solidFill>
          <a:ln>
            <a:solidFill>
              <a:srgbClr val="1F7A5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9" name="TextBox 11"/>
          <p:cNvSpPr/>
          <p:nvPr/>
        </p:nvSpPr>
        <p:spPr>
          <a:xfrm>
            <a:off x="932760" y="6044040"/>
            <a:ext cx="10286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20" b="1" u="none" strike="noStrike">
                <a:solidFill>
                  <a:srgbClr val="1F7A56"/>
                </a:solidFill>
                <a:effectLst/>
                <a:uFillTx/>
                <a:latin typeface="Aptos"/>
              </a:rPr>
              <a:t>Expected result: acknowledged: true and generated _id values. Keep email unique in this exercise.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1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Fetch and filter documents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Box 3"/>
          <p:cNvSpPr/>
          <p:nvPr/>
        </p:nvSpPr>
        <p:spPr>
          <a:xfrm>
            <a:off x="594360" y="749880"/>
            <a:ext cx="10881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MONGODB PRIMER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Rectangle 4"/>
          <p:cNvSpPr/>
          <p:nvPr/>
        </p:nvSpPr>
        <p:spPr>
          <a:xfrm>
            <a:off x="594360" y="105156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" name="TextBox 5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Box 6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12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Rounded Rectangle 7"/>
          <p:cNvSpPr/>
          <p:nvPr/>
        </p:nvSpPr>
        <p:spPr>
          <a:xfrm>
            <a:off x="685800" y="1234440"/>
            <a:ext cx="10789560" cy="4663080"/>
          </a:xfrm>
          <a:prstGeom prst="roundRect">
            <a:avLst>
              <a:gd name="adj" fmla="val 16667"/>
            </a:avLst>
          </a:prstGeom>
          <a:solidFill>
            <a:srgbClr val="F8F9FB"/>
          </a:solidFill>
          <a:ln>
            <a:solidFill>
              <a:srgbClr val="CDD2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" name="TextBox 8"/>
          <p:cNvSpPr/>
          <p:nvPr/>
        </p:nvSpPr>
        <p:spPr>
          <a:xfrm>
            <a:off x="868680" y="1344240"/>
            <a:ext cx="104238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MONGOSH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Box 9"/>
          <p:cNvSpPr/>
          <p:nvPr/>
        </p:nvSpPr>
        <p:spPr>
          <a:xfrm>
            <a:off x="868680" y="1673280"/>
            <a:ext cx="10423800" cy="411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// Fetch every document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db.learners.find()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// Fetch one document by a business field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db.learners.findOne({email: 'ada@example.com'})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// Filter and return selected fields; hide _id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db.learners.find(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  {active: true, level: {$gte: 1}},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  {_id: 0, name: 1, email: 1, level: 1}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).sort({name: 1})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// Count matching documents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db.learners.countDocuments({active: true})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Rounded Rectangle 10"/>
          <p:cNvSpPr/>
          <p:nvPr/>
        </p:nvSpPr>
        <p:spPr>
          <a:xfrm>
            <a:off x="768240" y="5961960"/>
            <a:ext cx="10652400" cy="456840"/>
          </a:xfrm>
          <a:prstGeom prst="roundRect">
            <a:avLst>
              <a:gd name="adj" fmla="val 16667"/>
            </a:avLst>
          </a:prstGeom>
          <a:solidFill>
            <a:srgbClr val="F2F9F6"/>
          </a:solidFill>
          <a:ln>
            <a:solidFill>
              <a:srgbClr val="1F7A5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0" name="TextBox 11"/>
          <p:cNvSpPr/>
          <p:nvPr/>
        </p:nvSpPr>
        <p:spPr>
          <a:xfrm>
            <a:off x="932760" y="6044040"/>
            <a:ext cx="10286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20" b="1" u="none" strike="noStrike">
                <a:solidFill>
                  <a:srgbClr val="1F7A56"/>
                </a:solidFill>
                <a:effectLst/>
                <a:uFillTx/>
                <a:latin typeface="Aptos"/>
              </a:rPr>
              <a:t>The first document is the filter; the second is the projection of fields to return.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2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Update documents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Box 3"/>
          <p:cNvSpPr/>
          <p:nvPr/>
        </p:nvSpPr>
        <p:spPr>
          <a:xfrm>
            <a:off x="594360" y="749880"/>
            <a:ext cx="10881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MONGODB PRIMER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Rectangle 4"/>
          <p:cNvSpPr/>
          <p:nvPr/>
        </p:nvSpPr>
        <p:spPr>
          <a:xfrm>
            <a:off x="594360" y="105156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5" name="TextBox 5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Box 6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13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Rounded Rectangle 7"/>
          <p:cNvSpPr/>
          <p:nvPr/>
        </p:nvSpPr>
        <p:spPr>
          <a:xfrm>
            <a:off x="685800" y="1234440"/>
            <a:ext cx="10789560" cy="4663080"/>
          </a:xfrm>
          <a:prstGeom prst="roundRect">
            <a:avLst>
              <a:gd name="adj" fmla="val 16667"/>
            </a:avLst>
          </a:prstGeom>
          <a:solidFill>
            <a:srgbClr val="F8F9FB"/>
          </a:solidFill>
          <a:ln>
            <a:solidFill>
              <a:srgbClr val="CDD2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8" name="TextBox 8"/>
          <p:cNvSpPr/>
          <p:nvPr/>
        </p:nvSpPr>
        <p:spPr>
          <a:xfrm>
            <a:off x="868680" y="1344240"/>
            <a:ext cx="104238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MONGOSH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Box 9"/>
          <p:cNvSpPr/>
          <p:nvPr/>
        </p:nvSpPr>
        <p:spPr>
          <a:xfrm>
            <a:off x="868680" y="1673280"/>
            <a:ext cx="10423800" cy="411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// Change selected fields without replacing the document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db.learners.updateOne(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  {email: 'ada@example.com'},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  {$set: {active: false}, $inc: {level: 1}, $addToSet: {skills: 'Kafka'}}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// Verify the result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db.learners.findOne(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  {email: 'ada@example.com'},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  {_id: 0, name: 1, active: 1, level: 1, skills: 1}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// Multiple matches require updateMany explicitly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db.learners.updateMany({active: false}, {$set: {reviewRequired: true}})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Rounded Rectangle 10"/>
          <p:cNvSpPr/>
          <p:nvPr/>
        </p:nvSpPr>
        <p:spPr>
          <a:xfrm>
            <a:off x="768240" y="5961960"/>
            <a:ext cx="10652400" cy="456840"/>
          </a:xfrm>
          <a:prstGeom prst="roundRect">
            <a:avLst>
              <a:gd name="adj" fmla="val 16667"/>
            </a:avLst>
          </a:prstGeom>
          <a:solidFill>
            <a:srgbClr val="F2F9F6"/>
          </a:solidFill>
          <a:ln>
            <a:solidFill>
              <a:srgbClr val="1F7A5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" name="TextBox 11"/>
          <p:cNvSpPr/>
          <p:nvPr/>
        </p:nvSpPr>
        <p:spPr>
          <a:xfrm>
            <a:off x="932760" y="6044040"/>
            <a:ext cx="10286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20" b="1" u="none" strike="noStrike">
                <a:solidFill>
                  <a:srgbClr val="1F7A56"/>
                </a:solidFill>
                <a:effectLst/>
                <a:uFillTx/>
                <a:latin typeface="Aptos"/>
              </a:rPr>
              <a:t>Expected update result includes matchedCount and modifiedCount; inspect them before declaring success.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3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Delete documents and clean up safely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Box 3"/>
          <p:cNvSpPr/>
          <p:nvPr/>
        </p:nvSpPr>
        <p:spPr>
          <a:xfrm>
            <a:off x="594360" y="749880"/>
            <a:ext cx="10881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MONGODB PRIMER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Rectangle 4"/>
          <p:cNvSpPr/>
          <p:nvPr/>
        </p:nvSpPr>
        <p:spPr>
          <a:xfrm>
            <a:off x="594360" y="105156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6" name="TextBox 5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Box 6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14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Rounded Rectangle 7"/>
          <p:cNvSpPr/>
          <p:nvPr/>
        </p:nvSpPr>
        <p:spPr>
          <a:xfrm>
            <a:off x="685800" y="1234440"/>
            <a:ext cx="10789560" cy="4388760"/>
          </a:xfrm>
          <a:prstGeom prst="roundRect">
            <a:avLst>
              <a:gd name="adj" fmla="val 16667"/>
            </a:avLst>
          </a:prstGeom>
          <a:solidFill>
            <a:srgbClr val="F8F9FB"/>
          </a:solidFill>
          <a:ln>
            <a:solidFill>
              <a:srgbClr val="CDD2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" name="TextBox 8"/>
          <p:cNvSpPr/>
          <p:nvPr/>
        </p:nvSpPr>
        <p:spPr>
          <a:xfrm>
            <a:off x="868680" y="1344240"/>
            <a:ext cx="104238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MONGOSH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Box 9"/>
          <p:cNvSpPr/>
          <p:nvPr/>
        </p:nvSpPr>
        <p:spPr>
          <a:xfrm>
            <a:off x="868680" y="1673280"/>
            <a:ext cx="10423800" cy="384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// Inspect the exact target first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db.learners.find({email: 'cara@example.com'})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// Delete one matching document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db.learners.deleteOne({email: 'cara@example.com'})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// Verify the remaining documents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db.learners.find({}, {_id: 0, name: 1, email: 1}).sort({name: 1})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// Optional: remove only this primer database when finished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db.dropDatabase()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Rounded Rectangle 10"/>
          <p:cNvSpPr/>
          <p:nvPr/>
        </p:nvSpPr>
        <p:spPr>
          <a:xfrm>
            <a:off x="768240" y="5715000"/>
            <a:ext cx="10652400" cy="456840"/>
          </a:xfrm>
          <a:prstGeom prst="roundRect">
            <a:avLst>
              <a:gd name="adj" fmla="val 16667"/>
            </a:avLst>
          </a:prstGeom>
          <a:solidFill>
            <a:srgbClr val="F2F9F6"/>
          </a:solidFill>
          <a:ln>
            <a:solidFill>
              <a:srgbClr val="B0303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2" name="TextBox 11"/>
          <p:cNvSpPr/>
          <p:nvPr/>
        </p:nvSpPr>
        <p:spPr>
          <a:xfrm>
            <a:off x="932760" y="5797440"/>
            <a:ext cx="10286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20" b="1" u="none" strike="noStrike">
                <a:solidFill>
                  <a:srgbClr val="B03030"/>
                </a:solidFill>
                <a:effectLst/>
                <a:uFillTx/>
                <a:latin typeface="Aptos"/>
              </a:rPr>
              <a:t>deleteMany({}) and dropDatabase() are destructive. Confirm db and filter before running them.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4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Primer practice: complete the CRUD cycle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Box 3"/>
          <p:cNvSpPr/>
          <p:nvPr/>
        </p:nvSpPr>
        <p:spPr>
          <a:xfrm>
            <a:off x="594360" y="749880"/>
            <a:ext cx="10881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MONGODB PRIMER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Rectangle 4"/>
          <p:cNvSpPr/>
          <p:nvPr/>
        </p:nvSpPr>
        <p:spPr>
          <a:xfrm>
            <a:off x="594360" y="105156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7" name="TextBox 5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Box 6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15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Box 7"/>
          <p:cNvSpPr/>
          <p:nvPr/>
        </p:nvSpPr>
        <p:spPr>
          <a:xfrm>
            <a:off x="713160" y="1225440"/>
            <a:ext cx="10698120" cy="498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5000"/>
              </a:lnSpc>
              <a:spcAft>
                <a:spcPts val="799"/>
              </a:spcAft>
            </a:pPr>
            <a:r>
              <a:rPr lang="en-US" sz="17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1. Start MongoDB, open mongosh, and select mongodb_primer.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799"/>
              </a:spcAft>
            </a:pPr>
            <a:r>
              <a:rPr lang="en-US" sz="17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2. Create a courses collection and insert two course documents with title, durationHours, active, and topics fields.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799"/>
              </a:spcAft>
            </a:pPr>
            <a:r>
              <a:rPr lang="en-US" sz="17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3. Fetch active courses and project only title and durationHours.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799"/>
              </a:spcAft>
            </a:pPr>
            <a:r>
              <a:rPr lang="en-US" sz="17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4. Update one course with $set and $addToSet; verify matchedCount, modifiedCount, and the stored document.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799"/>
              </a:spcAft>
            </a:pPr>
            <a:r>
              <a:rPr lang="en-US" sz="17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5. Delete one course using a specific title filter; verify the remaining count.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799"/>
              </a:spcAft>
            </a:pPr>
            <a:r>
              <a:rPr lang="en-US" sz="17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6. Explain which parts resemble a relational table and which document features differ.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Rounded Rectangle 8"/>
          <p:cNvSpPr/>
          <p:nvPr/>
        </p:nvSpPr>
        <p:spPr>
          <a:xfrm>
            <a:off x="768240" y="5641920"/>
            <a:ext cx="10652400" cy="456840"/>
          </a:xfrm>
          <a:prstGeom prst="roundRect">
            <a:avLst>
              <a:gd name="adj" fmla="val 16667"/>
            </a:avLst>
          </a:prstGeom>
          <a:solidFill>
            <a:srgbClr val="F2F9F6"/>
          </a:solidFill>
          <a:ln>
            <a:solidFill>
              <a:srgbClr val="1F7A5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1" name="TextBox 9"/>
          <p:cNvSpPr/>
          <p:nvPr/>
        </p:nvSpPr>
        <p:spPr>
          <a:xfrm>
            <a:off x="932760" y="5724000"/>
            <a:ext cx="10286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20" b="1" u="none" strike="noStrike">
                <a:solidFill>
                  <a:srgbClr val="1F7A56"/>
                </a:solidFill>
                <a:effectLst/>
                <a:uFillTx/>
                <a:latin typeface="Aptos"/>
              </a:rPr>
              <a:t>Keep the terminal open: the monitoring modules will reuse the same MongoDB client and concepts.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3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Course overview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Rectangle 3"/>
          <p:cNvSpPr/>
          <p:nvPr/>
        </p:nvSpPr>
        <p:spPr>
          <a:xfrm>
            <a:off x="594360" y="86868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5" name="TextBox 4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Box 5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16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Box 6"/>
          <p:cNvSpPr/>
          <p:nvPr/>
        </p:nvSpPr>
        <p:spPr>
          <a:xfrm>
            <a:off x="685800" y="1325880"/>
            <a:ext cx="10789560" cy="507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18360" rIns="45720" bIns="45000" anchor="t">
            <a:spAutoFit/>
          </a:bodyPr>
          <a:p>
            <a:pPr defTabSz="457200">
              <a:lnSpc>
                <a:spcPct val="105000"/>
              </a:lnSpc>
              <a:spcAft>
                <a:spcPts val="1500"/>
              </a:spcAft>
            </a:pPr>
            <a:r>
              <a:rPr lang="en-US" sz="21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Focus: operate and maintain MongoDB, Apache Kafka, and Kafka Connect in an event-driven data pipeline.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500"/>
              </a:spcAft>
            </a:pPr>
            <a:r>
              <a:rPr lang="en-US" sz="21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Practice: collect health and performance evidence, make controlled changes, and verify business flow after recovery.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500"/>
              </a:spcAft>
            </a:pPr>
            <a:r>
              <a:rPr lang="en-US" sz="21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Common incidents: slow queries, storage growth, broker or partition pressure, consumer lag, failed tasks, poison records, and data drift.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500"/>
              </a:spcAft>
            </a:pPr>
            <a:r>
              <a:rPr lang="en-US" sz="21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Capstone: produce an operations runbook with checks, alerts, owners, first-response steps, rollback, and verification.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Rounded Rectangle 7"/>
          <p:cNvSpPr/>
          <p:nvPr/>
        </p:nvSpPr>
        <p:spPr>
          <a:xfrm>
            <a:off x="777240" y="5440680"/>
            <a:ext cx="10606680" cy="502560"/>
          </a:xfrm>
          <a:prstGeom prst="roundRect">
            <a:avLst>
              <a:gd name="adj" fmla="val 16667"/>
            </a:avLst>
          </a:prstGeom>
          <a:solidFill>
            <a:srgbClr val="F2F9F6"/>
          </a:solidFill>
          <a:ln>
            <a:solidFill>
              <a:srgbClr val="1F7A5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9" name="TextBox 8"/>
          <p:cNvSpPr/>
          <p:nvPr/>
        </p:nvSpPr>
        <p:spPr>
          <a:xfrm>
            <a:off x="941760" y="5532120"/>
            <a:ext cx="10277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1F7A56"/>
                </a:solidFill>
                <a:effectLst/>
                <a:uFillTx/>
                <a:latin typeface="Aptos"/>
              </a:rPr>
              <a:t>Course habit: observe the problem before fixing it.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1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Who this course is for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Rectangle 3"/>
          <p:cNvSpPr/>
          <p:nvPr/>
        </p:nvSpPr>
        <p:spPr>
          <a:xfrm>
            <a:off x="594360" y="86868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3" name="TextBox 4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Box 5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17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Rounded Rectangle 6"/>
          <p:cNvSpPr/>
          <p:nvPr/>
        </p:nvSpPr>
        <p:spPr>
          <a:xfrm>
            <a:off x="621720" y="1234440"/>
            <a:ext cx="5412960" cy="4891680"/>
          </a:xfrm>
          <a:prstGeom prst="roundRect">
            <a:avLst>
              <a:gd name="adj" fmla="val 16667"/>
            </a:avLst>
          </a:prstGeom>
          <a:solidFill>
            <a:srgbClr val="F4F6F8"/>
          </a:solidFill>
          <a:ln>
            <a:solidFill>
              <a:srgbClr val="DCE1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6" name="Rectangle 7"/>
          <p:cNvSpPr/>
          <p:nvPr/>
        </p:nvSpPr>
        <p:spPr>
          <a:xfrm>
            <a:off x="621720" y="1234440"/>
            <a:ext cx="72720" cy="489168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7" name="TextBox 8"/>
          <p:cNvSpPr/>
          <p:nvPr/>
        </p:nvSpPr>
        <p:spPr>
          <a:xfrm>
            <a:off x="850320" y="1398960"/>
            <a:ext cx="50014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Target audience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Box 9"/>
          <p:cNvSpPr/>
          <p:nvPr/>
        </p:nvSpPr>
        <p:spPr>
          <a:xfrm>
            <a:off x="822960" y="1874520"/>
            <a:ext cx="5028840" cy="411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18360" rIns="45720" bIns="45000" anchor="t">
            <a:spAutoFit/>
          </a:bodyPr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Operations, platform, and support engineers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MongoDB administrators and data engineers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Application support teams for event-driven systems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Technical leads defining operational standards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Rounded Rectangle 10"/>
          <p:cNvSpPr/>
          <p:nvPr/>
        </p:nvSpPr>
        <p:spPr>
          <a:xfrm>
            <a:off x="6163200" y="1234440"/>
            <a:ext cx="5412960" cy="4891680"/>
          </a:xfrm>
          <a:prstGeom prst="roundRect">
            <a:avLst>
              <a:gd name="adj" fmla="val 16667"/>
            </a:avLst>
          </a:prstGeom>
          <a:solidFill>
            <a:srgbClr val="F4F6F8"/>
          </a:solidFill>
          <a:ln>
            <a:solidFill>
              <a:srgbClr val="DCE1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0" name="Rectangle 11"/>
          <p:cNvSpPr/>
          <p:nvPr/>
        </p:nvSpPr>
        <p:spPr>
          <a:xfrm>
            <a:off x="6163200" y="1234440"/>
            <a:ext cx="72720" cy="4891680"/>
          </a:xfrm>
          <a:prstGeom prst="rect">
            <a:avLst/>
          </a:prstGeom>
          <a:solidFill>
            <a:srgbClr val="1F7A5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1" name="TextBox 12"/>
          <p:cNvSpPr/>
          <p:nvPr/>
        </p:nvSpPr>
        <p:spPr>
          <a:xfrm>
            <a:off x="6391800" y="1398960"/>
            <a:ext cx="50014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F7A56"/>
                </a:solidFill>
                <a:effectLst/>
                <a:uFillTx/>
                <a:latin typeface="Aptos"/>
              </a:rPr>
              <a:t>Prerequisites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Box 13"/>
          <p:cNvSpPr/>
          <p:nvPr/>
        </p:nvSpPr>
        <p:spPr>
          <a:xfrm>
            <a:off x="6364080" y="1874520"/>
            <a:ext cx="5028840" cy="411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18360" rIns="45720" bIns="45000" anchor="t">
            <a:spAutoFit/>
          </a:bodyPr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MongoDB collections, indexes, and query basics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Kafka topics, partitions, producers, consumers, offsets, and groups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Comfort with command-line tools, logs, and monitoring systems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Recommended: Docker, VS Code, Git, and a local sandbox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4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Learning outcomes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Rectangle 3"/>
          <p:cNvSpPr/>
          <p:nvPr/>
        </p:nvSpPr>
        <p:spPr>
          <a:xfrm>
            <a:off x="594360" y="86868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6" name="TextBox 4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Box 5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18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Box 6"/>
          <p:cNvSpPr/>
          <p:nvPr/>
        </p:nvSpPr>
        <p:spPr>
          <a:xfrm>
            <a:off x="685800" y="1207080"/>
            <a:ext cx="10789560" cy="507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18360" rIns="45720" bIns="45000" anchor="t">
            <a:spAutoFit/>
          </a:bodyPr>
          <a:p>
            <a:pPr defTabSz="457200">
              <a:lnSpc>
                <a:spcPct val="105000"/>
              </a:lnSpc>
              <a:spcAft>
                <a:spcPts val="901"/>
              </a:spcAft>
            </a:pPr>
            <a:r>
              <a:rPr lang="en-US" sz="19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Identify key MongoDB, Kafka, and Kafka Connect health indicators.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901"/>
              </a:spcAft>
            </a:pPr>
            <a:r>
              <a:rPr lang="en-US" sz="19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Interpret database growth, query plans, replication state, and backup evidence.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901"/>
              </a:spcAft>
            </a:pPr>
            <a:r>
              <a:rPr lang="en-US" sz="19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Interpret broker/topic health, partition distribution, offsets, lag, throughput, and lifecycle configuration.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901"/>
              </a:spcAft>
            </a:pPr>
            <a:r>
              <a:rPr lang="en-US" sz="19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Diagnose failed connector tasks, retries, malformed records, and DLQ behavior.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901"/>
              </a:spcAft>
            </a:pPr>
            <a:r>
              <a:rPr lang="en-US" sz="19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Perform scoped maintenance with prechecks, abort criteria, rollback, and post-change validation.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901"/>
              </a:spcAft>
            </a:pPr>
            <a:r>
              <a:rPr lang="en-US" sz="19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Build a usable operations runbook and maintenance checklist.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0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One-day course flow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Rectangle 3"/>
          <p:cNvSpPr/>
          <p:nvPr/>
        </p:nvSpPr>
        <p:spPr>
          <a:xfrm>
            <a:off x="594360" y="86868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2" name="TextBox 4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Box 5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19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54" name="Table 6"/>
          <p:cNvGraphicFramePr/>
          <p:nvPr/>
        </p:nvGraphicFramePr>
        <p:xfrm>
          <a:off x="603360" y="1234440"/>
          <a:ext cx="10972440" cy="4480200"/>
        </p:xfrm>
        <a:graphic>
          <a:graphicData uri="http://schemas.openxmlformats.org/drawingml/2006/table">
            <a:tbl>
              <a:tblPr/>
              <a:tblGrid>
                <a:gridCol w="1828800"/>
                <a:gridCol w="6766560"/>
                <a:gridCol w="2377440"/>
              </a:tblGrid>
              <a:tr h="746640">
                <a:tc>
                  <a:txBody>
                    <a:bodyPr lIns="73080" r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Block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74E"/>
                    </a:solidFill>
                  </a:tcPr>
                </a:tc>
                <a:tc>
                  <a:txBody>
                    <a:bodyPr lIns="73080" r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Focus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74E"/>
                    </a:solidFill>
                  </a:tcPr>
                </a:tc>
                <a:tc>
                  <a:txBody>
                    <a:bodyPr lIns="73080" r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Approx. time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74E"/>
                    </a:solidFill>
                  </a:tcPr>
                </a:tc>
              </a:tr>
              <a:tr h="74664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Module 1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Operational architecture and evidence-first triage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60 min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4664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Module 2 + Lab 1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MongoDB monitoring, query performance, maintenance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75 min + lab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  <a:tr h="74664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Module 3 + Lab 2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Kafka health, lag, lifecycle, failure signatures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75 min + lab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4664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Module 4 + Lab 3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Kafka Connect and MongoDB connector operations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90 min + lab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  <a:tr h="74664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Final activity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Operations runbook and maintenance checklist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60 min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5" name="Rounded Rectangle 7"/>
          <p:cNvSpPr/>
          <p:nvPr/>
        </p:nvSpPr>
        <p:spPr>
          <a:xfrm>
            <a:off x="777240" y="5806440"/>
            <a:ext cx="10606680" cy="411120"/>
          </a:xfrm>
          <a:prstGeom prst="roundRect">
            <a:avLst>
              <a:gd name="adj" fmla="val 16667"/>
            </a:avLst>
          </a:prstGeom>
          <a:solidFill>
            <a:srgbClr val="F2F9F6"/>
          </a:solidFill>
          <a:ln>
            <a:solidFill>
              <a:srgbClr val="1F7A5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6" name="TextBox 8"/>
          <p:cNvSpPr/>
          <p:nvPr/>
        </p:nvSpPr>
        <p:spPr>
          <a:xfrm>
            <a:off x="941760" y="5897880"/>
            <a:ext cx="10277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20" b="1" u="none" strike="noStrike">
                <a:solidFill>
                  <a:srgbClr val="1F7A56"/>
                </a:solidFill>
                <a:effectLst/>
                <a:uFillTx/>
                <a:latin typeface="Aptos"/>
              </a:rPr>
              <a:t>For new learners: begin with the MongoDB primer before Module 1 and the Kafbat visual primer before Module 3.</a:t>
            </a:r>
            <a:endParaRPr lang="en-US" sz="12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8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Required tools and workshop environment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Rectangle 3"/>
          <p:cNvSpPr/>
          <p:nvPr/>
        </p:nvSpPr>
        <p:spPr>
          <a:xfrm>
            <a:off x="594360" y="86868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0" name="TextBox 4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Box 5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20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Box 6"/>
          <p:cNvSpPr/>
          <p:nvPr/>
        </p:nvSpPr>
        <p:spPr>
          <a:xfrm>
            <a:off x="685800" y="1234440"/>
            <a:ext cx="10789560" cy="507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18360" rIns="45720" bIns="45000" anchor="t">
            <a:spAutoFit/>
          </a:bodyPr>
          <a:p>
            <a:pPr defTabSz="457200">
              <a:lnSpc>
                <a:spcPct val="105000"/>
              </a:lnSpc>
              <a:spcAft>
                <a:spcPts val="1001"/>
              </a:spcAft>
            </a:pPr>
            <a:r>
              <a:rPr lang="en-US" sz="19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Docker Desktop or Docker Engine with Compose v2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001"/>
              </a:spcAft>
            </a:pPr>
            <a:r>
              <a:rPr lang="en-US" sz="19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Python 3.10+ virtual environment and dependencies from demo/requirements.txt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001"/>
              </a:spcAft>
            </a:pPr>
            <a:r>
              <a:rPr lang="en-US" sz="19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MongoDB replica-set container, single-node Kafka KRaft broker, and Kafka Connect worker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001"/>
              </a:spcAft>
            </a:pPr>
            <a:r>
              <a:rPr lang="en-US" sz="19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mongosh, Kafka command-line utilities, curl, jq, Git, and a text editor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001"/>
              </a:spcAft>
            </a:pPr>
            <a:r>
              <a:rPr lang="en-US" sz="19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Two or more terminal windows for producers, consumers, monitors, and logs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Rounded Rectangle 7"/>
          <p:cNvSpPr/>
          <p:nvPr/>
        </p:nvSpPr>
        <p:spPr>
          <a:xfrm>
            <a:off x="685800" y="4599360"/>
            <a:ext cx="10789560" cy="1142640"/>
          </a:xfrm>
          <a:prstGeom prst="roundRect">
            <a:avLst>
              <a:gd name="adj" fmla="val 16667"/>
            </a:avLst>
          </a:prstGeom>
          <a:solidFill>
            <a:srgbClr val="F8F9FB"/>
          </a:solidFill>
          <a:ln>
            <a:solidFill>
              <a:srgbClr val="CDD2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4" name="TextBox 8"/>
          <p:cNvSpPr/>
          <p:nvPr/>
        </p:nvSpPr>
        <p:spPr>
          <a:xfrm>
            <a:off x="887040" y="4718160"/>
            <a:ext cx="103870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PREFLIGHT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Box 9"/>
          <p:cNvSpPr/>
          <p:nvPr/>
        </p:nvSpPr>
        <p:spPr>
          <a:xfrm>
            <a:off x="887040" y="5056560"/>
            <a:ext cx="10387080" cy="55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docker --version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docker compose version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python3 --version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jq --version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7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Workshop use case: Northwind Outfitters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Rectangle 3"/>
          <p:cNvSpPr/>
          <p:nvPr/>
        </p:nvSpPr>
        <p:spPr>
          <a:xfrm>
            <a:off x="594360" y="86868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9" name="TextBox 4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Box 5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21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Box 6"/>
          <p:cNvSpPr/>
          <p:nvPr/>
        </p:nvSpPr>
        <p:spPr>
          <a:xfrm>
            <a:off x="685800" y="1234440"/>
            <a:ext cx="10789560" cy="507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18360" rIns="45720" bIns="45000" anchor="t">
            <a:spAutoFit/>
          </a:bodyPr>
          <a:p>
            <a:pPr defTabSz="457200">
              <a:lnSpc>
                <a:spcPct val="105000"/>
              </a:lnSpc>
              <a:spcAft>
                <a:spcPts val="1199"/>
              </a:spcAft>
            </a:pPr>
            <a:r>
              <a:rPr lang="en-US" sz="20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Checkout publishes an order.created event when a customer completes a purchase.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199"/>
              </a:spcAft>
            </a:pPr>
            <a:r>
              <a:rPr lang="en-US" sz="20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Kafka stores and partitions the events; an order processor consumes them.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199"/>
              </a:spcAft>
            </a:pPr>
            <a:r>
              <a:rPr lang="en-US" sz="20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The processor transforms each event and upserts a support-facing order document into MongoDB.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199"/>
              </a:spcAft>
            </a:pPr>
            <a:r>
              <a:rPr lang="en-US" sz="20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Module 4 adds the official MongoDB Kafka source and sink connectors using isolated collections.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Rounded Rectangle 7"/>
          <p:cNvSpPr/>
          <p:nvPr/>
        </p:nvSpPr>
        <p:spPr>
          <a:xfrm>
            <a:off x="777240" y="5440680"/>
            <a:ext cx="10606680" cy="502560"/>
          </a:xfrm>
          <a:prstGeom prst="roundRect">
            <a:avLst>
              <a:gd name="adj" fmla="val 16667"/>
            </a:avLst>
          </a:prstGeom>
          <a:solidFill>
            <a:srgbClr val="F2F9F6"/>
          </a:solidFill>
          <a:ln>
            <a:solidFill>
              <a:srgbClr val="1F7A5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3" name="TextBox 8"/>
          <p:cNvSpPr/>
          <p:nvPr/>
        </p:nvSpPr>
        <p:spPr>
          <a:xfrm>
            <a:off x="941760" y="5532120"/>
            <a:ext cx="10277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1F7A56"/>
                </a:solidFill>
                <a:effectLst/>
                <a:uFillTx/>
                <a:latin typeface="Aptos"/>
              </a:rPr>
              <a:t>Business question: how quickly and correctly do acknowledged orders become queryable?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5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Northwind pipeline architecture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Rectangle 3"/>
          <p:cNvSpPr/>
          <p:nvPr/>
        </p:nvSpPr>
        <p:spPr>
          <a:xfrm>
            <a:off x="594360" y="86868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7" name="TextBox 4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Box 5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22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Rounded Rectangle 6"/>
          <p:cNvSpPr/>
          <p:nvPr/>
        </p:nvSpPr>
        <p:spPr>
          <a:xfrm>
            <a:off x="594360" y="2103120"/>
            <a:ext cx="1965600" cy="1051200"/>
          </a:xfrm>
          <a:prstGeom prst="roundRect">
            <a:avLst>
              <a:gd name="adj" fmla="val 16667"/>
            </a:avLst>
          </a:prstGeom>
          <a:solidFill>
            <a:srgbClr val="E8F1FA"/>
          </a:solidFill>
          <a:ln>
            <a:solidFill>
              <a:srgbClr val="2B6C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0" name="TextBox 7"/>
          <p:cNvSpPr/>
          <p:nvPr/>
        </p:nvSpPr>
        <p:spPr>
          <a:xfrm>
            <a:off x="667440" y="2322720"/>
            <a:ext cx="18194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ctr">
            <a:spAutoFit/>
          </a:bodyPr>
          <a:p>
            <a:r>
              <a:rPr lang="en-US" sz="16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Dummy orders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orders.jsonl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Rounded Rectangle 8"/>
          <p:cNvSpPr/>
          <p:nvPr/>
        </p:nvSpPr>
        <p:spPr>
          <a:xfrm>
            <a:off x="2880360" y="2103120"/>
            <a:ext cx="1874160" cy="1051200"/>
          </a:xfrm>
          <a:prstGeom prst="roundRect">
            <a:avLst>
              <a:gd name="adj" fmla="val 16667"/>
            </a:avLst>
          </a:prstGeom>
          <a:solidFill>
            <a:srgbClr val="F4F6F8"/>
          </a:solidFill>
          <a:ln>
            <a:solidFill>
              <a:srgbClr val="1F374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2" name="TextBox 9"/>
          <p:cNvSpPr/>
          <p:nvPr/>
        </p:nvSpPr>
        <p:spPr>
          <a:xfrm>
            <a:off x="2953440" y="2322720"/>
            <a:ext cx="172800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ctr">
            <a:spAutoFit/>
          </a:bodyPr>
          <a:p>
            <a:r>
              <a:rPr lang="en-US" sz="16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Producer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producer.py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Rounded Rectangle 10"/>
          <p:cNvSpPr/>
          <p:nvPr/>
        </p:nvSpPr>
        <p:spPr>
          <a:xfrm>
            <a:off x="5102280" y="2103120"/>
            <a:ext cx="2148480" cy="1051200"/>
          </a:xfrm>
          <a:prstGeom prst="roundRect">
            <a:avLst>
              <a:gd name="adj" fmla="val 16667"/>
            </a:avLst>
          </a:prstGeom>
          <a:solidFill>
            <a:srgbClr val="E8F1FA"/>
          </a:solidFill>
          <a:ln>
            <a:solidFill>
              <a:srgbClr val="2B6C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4" name="TextBox 11"/>
          <p:cNvSpPr/>
          <p:nvPr/>
        </p:nvSpPr>
        <p:spPr>
          <a:xfrm>
            <a:off x="5175360" y="2322720"/>
            <a:ext cx="20023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ctr">
            <a:spAutoFit/>
          </a:bodyPr>
          <a:p>
            <a:r>
              <a:rPr lang="en-US" sz="16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Kafka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workshop-orders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Rounded Rectangle 12"/>
          <p:cNvSpPr/>
          <p:nvPr/>
        </p:nvSpPr>
        <p:spPr>
          <a:xfrm>
            <a:off x="7607880" y="2103120"/>
            <a:ext cx="1874160" cy="1051200"/>
          </a:xfrm>
          <a:prstGeom prst="roundRect">
            <a:avLst>
              <a:gd name="adj" fmla="val 16667"/>
            </a:avLst>
          </a:prstGeom>
          <a:solidFill>
            <a:srgbClr val="F4F6F8"/>
          </a:solidFill>
          <a:ln>
            <a:solidFill>
              <a:srgbClr val="1F374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6" name="TextBox 13"/>
          <p:cNvSpPr/>
          <p:nvPr/>
        </p:nvSpPr>
        <p:spPr>
          <a:xfrm>
            <a:off x="7680960" y="2322720"/>
            <a:ext cx="172800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ctr">
            <a:spAutoFit/>
          </a:bodyPr>
          <a:p>
            <a:r>
              <a:rPr lang="en-US" sz="16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Consumer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consumer.py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Rounded Rectangle 14"/>
          <p:cNvSpPr/>
          <p:nvPr/>
        </p:nvSpPr>
        <p:spPr>
          <a:xfrm>
            <a:off x="9829800" y="2103120"/>
            <a:ext cx="1782720" cy="1051200"/>
          </a:xfrm>
          <a:prstGeom prst="roundRect">
            <a:avLst>
              <a:gd name="adj" fmla="val 16667"/>
            </a:avLst>
          </a:prstGeom>
          <a:solidFill>
            <a:srgbClr val="EFF8F3"/>
          </a:solidFill>
          <a:ln>
            <a:solidFill>
              <a:srgbClr val="1F7A5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8" name="TextBox 15"/>
          <p:cNvSpPr/>
          <p:nvPr/>
        </p:nvSpPr>
        <p:spPr>
          <a:xfrm>
            <a:off x="9902880" y="2322720"/>
            <a:ext cx="16365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ctr">
            <a:spAutoFit/>
          </a:bodyPr>
          <a:p>
            <a:r>
              <a:rPr lang="en-US" sz="1600" b="1" u="none" strike="noStrike">
                <a:solidFill>
                  <a:srgbClr val="1F7A56"/>
                </a:solidFill>
                <a:effectLst/>
                <a:uFillTx/>
                <a:latin typeface="Aptos"/>
              </a:rPr>
              <a:t>MongoDB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1F7A56"/>
                </a:solidFill>
                <a:effectLst/>
                <a:uFillTx/>
                <a:latin typeface="Aptos"/>
              </a:rPr>
              <a:t>workshop.orders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Box 16"/>
          <p:cNvSpPr/>
          <p:nvPr/>
        </p:nvSpPr>
        <p:spPr>
          <a:xfrm>
            <a:off x="2587680" y="2395800"/>
            <a:ext cx="2556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→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Box 17"/>
          <p:cNvSpPr/>
          <p:nvPr/>
        </p:nvSpPr>
        <p:spPr>
          <a:xfrm>
            <a:off x="4782240" y="2395800"/>
            <a:ext cx="2556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→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Box 18"/>
          <p:cNvSpPr/>
          <p:nvPr/>
        </p:nvSpPr>
        <p:spPr>
          <a:xfrm>
            <a:off x="7278480" y="2395800"/>
            <a:ext cx="2556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→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Box 19"/>
          <p:cNvSpPr/>
          <p:nvPr/>
        </p:nvSpPr>
        <p:spPr>
          <a:xfrm>
            <a:off x="9509760" y="2395800"/>
            <a:ext cx="2556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→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Rounded Rectangle 20"/>
          <p:cNvSpPr/>
          <p:nvPr/>
        </p:nvSpPr>
        <p:spPr>
          <a:xfrm>
            <a:off x="5440680" y="3886200"/>
            <a:ext cx="1508400" cy="685440"/>
          </a:xfrm>
          <a:prstGeom prst="roundRect">
            <a:avLst>
              <a:gd name="adj" fmla="val 16667"/>
            </a:avLst>
          </a:prstGeom>
          <a:solidFill>
            <a:srgbClr val="FDF5EB"/>
          </a:solidFill>
          <a:ln>
            <a:solidFill>
              <a:srgbClr val="B4691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4" name="TextBox 21"/>
          <p:cNvSpPr/>
          <p:nvPr/>
        </p:nvSpPr>
        <p:spPr>
          <a:xfrm>
            <a:off x="5513760" y="4014360"/>
            <a:ext cx="13528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B46914"/>
                </a:solidFill>
                <a:effectLst/>
                <a:uFillTx/>
                <a:latin typeface="Aptos"/>
              </a:rPr>
              <a:t>DLQ topic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Box 22"/>
          <p:cNvSpPr/>
          <p:nvPr/>
        </p:nvSpPr>
        <p:spPr>
          <a:xfrm>
            <a:off x="6117480" y="3246120"/>
            <a:ext cx="228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↓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Box 23"/>
          <p:cNvSpPr/>
          <p:nvPr/>
        </p:nvSpPr>
        <p:spPr>
          <a:xfrm>
            <a:off x="960120" y="5074920"/>
            <a:ext cx="101494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Key = customer_id • Group = workshop-order-processor • Idempotency key = order_id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8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Order event model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Rectangle 3"/>
          <p:cNvSpPr/>
          <p:nvPr/>
        </p:nvSpPr>
        <p:spPr>
          <a:xfrm>
            <a:off x="594360" y="86868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0" name="TextBox 4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Box 5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23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02" name="Table 6"/>
          <p:cNvGraphicFramePr/>
          <p:nvPr/>
        </p:nvGraphicFramePr>
        <p:xfrm>
          <a:off x="603360" y="1234440"/>
          <a:ext cx="10881000" cy="4480560"/>
        </p:xfrm>
        <a:graphic>
          <a:graphicData uri="http://schemas.openxmlformats.org/drawingml/2006/table">
            <a:tbl>
              <a:tblPr/>
              <a:tblGrid>
                <a:gridCol w="1371600"/>
                <a:gridCol w="4069080"/>
                <a:gridCol w="1371600"/>
                <a:gridCol w="4069080"/>
              </a:tblGrid>
              <a:tr h="640080">
                <a:tc>
                  <a:txBody>
                    <a:bodyPr lIns="73080" r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Field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74E"/>
                    </a:solidFill>
                  </a:tcPr>
                </a:tc>
                <a:tc>
                  <a:txBody>
                    <a:bodyPr lIns="73080" r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Operational purpose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74E"/>
                    </a:solidFill>
                  </a:tcPr>
                </a:tc>
                <a:tc>
                  <a:txBody>
                    <a:bodyPr lIns="73080" r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Field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74E"/>
                    </a:solidFill>
                  </a:tcPr>
                </a:tc>
                <a:tc>
                  <a:txBody>
                    <a:bodyPr lIns="73080" r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Operational purpose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74E"/>
                    </a:solidFill>
                  </a:tcPr>
                </a:tc>
              </a:tr>
              <a:tr h="64008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event_type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Identifies order.created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event_id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Unique published event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order_id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Business/idempotency key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customer_id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Kafka key and support lookup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  <a:tr h="64008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product_id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Ordered item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quantity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Number of units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unit_price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Price per unit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region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Fulfillment region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  <a:tr h="64008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created_at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Source event time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processed_at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Sink processing time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status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Processing state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total_amount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Derived quantity × price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303" name="Rounded Rectangle 7"/>
          <p:cNvSpPr/>
          <p:nvPr/>
        </p:nvSpPr>
        <p:spPr>
          <a:xfrm>
            <a:off x="777240" y="5806440"/>
            <a:ext cx="10606680" cy="411120"/>
          </a:xfrm>
          <a:prstGeom prst="roundRect">
            <a:avLst>
              <a:gd name="adj" fmla="val 16667"/>
            </a:avLst>
          </a:prstGeom>
          <a:solidFill>
            <a:srgbClr val="F2F9F6"/>
          </a:solidFill>
          <a:ln>
            <a:solidFill>
              <a:srgbClr val="1F7A5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4" name="TextBox 8"/>
          <p:cNvSpPr/>
          <p:nvPr/>
        </p:nvSpPr>
        <p:spPr>
          <a:xfrm>
            <a:off x="941760" y="5897880"/>
            <a:ext cx="10277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1F7A56"/>
                </a:solidFill>
                <a:effectLst/>
                <a:uFillTx/>
                <a:latin typeface="Aptos"/>
              </a:rPr>
              <a:t>Use order_id for replay-safe upserts; use created_at vs. processed_at to observe end-to-end delay.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6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Operational objectives and constraints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Rectangle 3"/>
          <p:cNvSpPr/>
          <p:nvPr/>
        </p:nvSpPr>
        <p:spPr>
          <a:xfrm>
            <a:off x="594360" y="86868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8" name="TextBox 4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Box 5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24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Rounded Rectangle 6"/>
          <p:cNvSpPr/>
          <p:nvPr/>
        </p:nvSpPr>
        <p:spPr>
          <a:xfrm>
            <a:off x="621720" y="1234440"/>
            <a:ext cx="5412960" cy="4891680"/>
          </a:xfrm>
          <a:prstGeom prst="roundRect">
            <a:avLst>
              <a:gd name="adj" fmla="val 16667"/>
            </a:avLst>
          </a:prstGeom>
          <a:solidFill>
            <a:srgbClr val="F4F6F8"/>
          </a:solidFill>
          <a:ln>
            <a:solidFill>
              <a:srgbClr val="DCE1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1" name="Rectangle 7"/>
          <p:cNvSpPr/>
          <p:nvPr/>
        </p:nvSpPr>
        <p:spPr>
          <a:xfrm>
            <a:off x="621720" y="1234440"/>
            <a:ext cx="72720" cy="4891680"/>
          </a:xfrm>
          <a:prstGeom prst="rect">
            <a:avLst/>
          </a:prstGeom>
          <a:solidFill>
            <a:srgbClr val="1F7A5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2" name="TextBox 8"/>
          <p:cNvSpPr/>
          <p:nvPr/>
        </p:nvSpPr>
        <p:spPr>
          <a:xfrm>
            <a:off x="850320" y="1398960"/>
            <a:ext cx="50014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F7A56"/>
                </a:solidFill>
                <a:effectLst/>
                <a:uFillTx/>
                <a:latin typeface="Aptos"/>
              </a:rPr>
              <a:t>Objectives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Box 9"/>
          <p:cNvSpPr/>
          <p:nvPr/>
        </p:nvSpPr>
        <p:spPr>
          <a:xfrm>
            <a:off x="822960" y="1874520"/>
            <a:ext cx="5028840" cy="411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18360" rIns="45720" bIns="45000" anchor="t">
            <a:spAutoFit/>
          </a:bodyPr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Do not lose acknowledged checkout messages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Preserve per-customer ordering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Keep processing delay within the support expectation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Make replay idempotent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Keep customer lookups efficient as data grows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Separate broker, worker, application, and database failures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Rounded Rectangle 10"/>
          <p:cNvSpPr/>
          <p:nvPr/>
        </p:nvSpPr>
        <p:spPr>
          <a:xfrm>
            <a:off x="6163200" y="1234440"/>
            <a:ext cx="5412960" cy="4891680"/>
          </a:xfrm>
          <a:prstGeom prst="roundRect">
            <a:avLst>
              <a:gd name="adj" fmla="val 16667"/>
            </a:avLst>
          </a:prstGeom>
          <a:solidFill>
            <a:srgbClr val="F4F6F8"/>
          </a:solidFill>
          <a:ln>
            <a:solidFill>
              <a:srgbClr val="DCE1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5" name="Rectangle 11"/>
          <p:cNvSpPr/>
          <p:nvPr/>
        </p:nvSpPr>
        <p:spPr>
          <a:xfrm>
            <a:off x="6163200" y="1234440"/>
            <a:ext cx="72720" cy="4891680"/>
          </a:xfrm>
          <a:prstGeom prst="rect">
            <a:avLst/>
          </a:prstGeom>
          <a:solidFill>
            <a:srgbClr val="B4691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6" name="TextBox 12"/>
          <p:cNvSpPr/>
          <p:nvPr/>
        </p:nvSpPr>
        <p:spPr>
          <a:xfrm>
            <a:off x="6391800" y="1398960"/>
            <a:ext cx="50014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B46914"/>
                </a:solidFill>
                <a:effectLst/>
                <a:uFillTx/>
                <a:latin typeface="Aptos"/>
              </a:rPr>
              <a:t>Lab constraints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Box 13"/>
          <p:cNvSpPr/>
          <p:nvPr/>
        </p:nvSpPr>
        <p:spPr>
          <a:xfrm>
            <a:off x="6364080" y="1874520"/>
            <a:ext cx="5028840" cy="411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18360" rIns="45720" bIns="45000" anchor="t">
            <a:spAutoFit/>
          </a:bodyPr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Single Kafka broker and replication factor 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One-member MongoDB replica set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Single Kafka Connect worker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Local, unsecured networking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No production failover or zero-downtime rolling restart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Production controls must be added to the runbook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9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The evidence-first operating loop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Rectangle 3"/>
          <p:cNvSpPr/>
          <p:nvPr/>
        </p:nvSpPr>
        <p:spPr>
          <a:xfrm>
            <a:off x="594360" y="86868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1" name="TextBox 4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Box 5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25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Rounded Rectangle 6"/>
          <p:cNvSpPr/>
          <p:nvPr/>
        </p:nvSpPr>
        <p:spPr>
          <a:xfrm>
            <a:off x="567000" y="1965960"/>
            <a:ext cx="1874160" cy="1508400"/>
          </a:xfrm>
          <a:prstGeom prst="roundRect">
            <a:avLst>
              <a:gd name="adj" fmla="val 16667"/>
            </a:avLst>
          </a:prstGeom>
          <a:solidFill>
            <a:srgbClr val="F4F6F8"/>
          </a:solidFill>
          <a:ln>
            <a:solidFill>
              <a:srgbClr val="2B6C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4" name="TextBox 7"/>
          <p:cNvSpPr/>
          <p:nvPr/>
        </p:nvSpPr>
        <p:spPr>
          <a:xfrm>
            <a:off x="640080" y="2139840"/>
            <a:ext cx="383760" cy="383760"/>
          </a:xfrm>
          <a:prstGeom prst="rect">
            <a:avLst/>
          </a:prstGeom>
          <a:solidFill>
            <a:srgbClr val="2B6CB0"/>
          </a:solidFill>
          <a:ln w="0">
            <a:solidFill>
              <a:srgbClr val="2B6CB0"/>
            </a:solidFill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1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5" name="TextBox 8"/>
          <p:cNvSpPr/>
          <p:nvPr/>
        </p:nvSpPr>
        <p:spPr>
          <a:xfrm>
            <a:off x="731520" y="2615040"/>
            <a:ext cx="155412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r>
              <a:rPr lang="en-US" sz="15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Create or detect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a controlled symptom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Box 9"/>
          <p:cNvSpPr/>
          <p:nvPr/>
        </p:nvSpPr>
        <p:spPr>
          <a:xfrm>
            <a:off x="2468880" y="2541960"/>
            <a:ext cx="3654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→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Rounded Rectangle 10"/>
          <p:cNvSpPr/>
          <p:nvPr/>
        </p:nvSpPr>
        <p:spPr>
          <a:xfrm>
            <a:off x="2871360" y="1965960"/>
            <a:ext cx="1874160" cy="1508400"/>
          </a:xfrm>
          <a:prstGeom prst="roundRect">
            <a:avLst>
              <a:gd name="adj" fmla="val 16667"/>
            </a:avLst>
          </a:prstGeom>
          <a:solidFill>
            <a:srgbClr val="F4F6F8"/>
          </a:solidFill>
          <a:ln>
            <a:solidFill>
              <a:srgbClr val="2B6C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8" name="TextBox 11"/>
          <p:cNvSpPr/>
          <p:nvPr/>
        </p:nvSpPr>
        <p:spPr>
          <a:xfrm>
            <a:off x="2944440" y="2139840"/>
            <a:ext cx="383760" cy="383760"/>
          </a:xfrm>
          <a:prstGeom prst="rect">
            <a:avLst/>
          </a:prstGeom>
          <a:solidFill>
            <a:srgbClr val="2B6CB0"/>
          </a:solidFill>
          <a:ln w="0">
            <a:solidFill>
              <a:srgbClr val="2B6CB0"/>
            </a:solidFill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2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Box 12"/>
          <p:cNvSpPr/>
          <p:nvPr/>
        </p:nvSpPr>
        <p:spPr>
          <a:xfrm>
            <a:off x="3035880" y="2615040"/>
            <a:ext cx="155412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r>
              <a:rPr lang="en-US" sz="15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Collect evidence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from every layer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Box 13"/>
          <p:cNvSpPr/>
          <p:nvPr/>
        </p:nvSpPr>
        <p:spPr>
          <a:xfrm>
            <a:off x="4773240" y="2541960"/>
            <a:ext cx="3654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→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Rounded Rectangle 14"/>
          <p:cNvSpPr/>
          <p:nvPr/>
        </p:nvSpPr>
        <p:spPr>
          <a:xfrm>
            <a:off x="5175360" y="1965960"/>
            <a:ext cx="1874160" cy="1508400"/>
          </a:xfrm>
          <a:prstGeom prst="roundRect">
            <a:avLst>
              <a:gd name="adj" fmla="val 16667"/>
            </a:avLst>
          </a:prstGeom>
          <a:solidFill>
            <a:srgbClr val="F4F6F8"/>
          </a:solidFill>
          <a:ln>
            <a:solidFill>
              <a:srgbClr val="2B6C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2" name="TextBox 15"/>
          <p:cNvSpPr/>
          <p:nvPr/>
        </p:nvSpPr>
        <p:spPr>
          <a:xfrm>
            <a:off x="5248800" y="2139840"/>
            <a:ext cx="383760" cy="383760"/>
          </a:xfrm>
          <a:prstGeom prst="rect">
            <a:avLst/>
          </a:prstGeom>
          <a:solidFill>
            <a:srgbClr val="2B6CB0"/>
          </a:solidFill>
          <a:ln w="0">
            <a:solidFill>
              <a:srgbClr val="2B6CB0"/>
            </a:solidFill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3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Box 16"/>
          <p:cNvSpPr/>
          <p:nvPr/>
        </p:nvSpPr>
        <p:spPr>
          <a:xfrm>
            <a:off x="5340240" y="2615040"/>
            <a:ext cx="155412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r>
              <a:rPr lang="en-US" sz="15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Identify the first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unhealthy layer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Box 17"/>
          <p:cNvSpPr/>
          <p:nvPr/>
        </p:nvSpPr>
        <p:spPr>
          <a:xfrm>
            <a:off x="7077600" y="2541960"/>
            <a:ext cx="3654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→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Rounded Rectangle 18"/>
          <p:cNvSpPr/>
          <p:nvPr/>
        </p:nvSpPr>
        <p:spPr>
          <a:xfrm>
            <a:off x="7479720" y="1965960"/>
            <a:ext cx="1874160" cy="1508400"/>
          </a:xfrm>
          <a:prstGeom prst="roundRect">
            <a:avLst>
              <a:gd name="adj" fmla="val 16667"/>
            </a:avLst>
          </a:prstGeom>
          <a:solidFill>
            <a:srgbClr val="F4F6F8"/>
          </a:solidFill>
          <a:ln>
            <a:solidFill>
              <a:srgbClr val="2B6C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6" name="TextBox 19"/>
          <p:cNvSpPr/>
          <p:nvPr/>
        </p:nvSpPr>
        <p:spPr>
          <a:xfrm>
            <a:off x="7552800" y="2139840"/>
            <a:ext cx="383760" cy="383760"/>
          </a:xfrm>
          <a:prstGeom prst="rect">
            <a:avLst/>
          </a:prstGeom>
          <a:solidFill>
            <a:srgbClr val="2B6CB0"/>
          </a:solidFill>
          <a:ln w="0">
            <a:solidFill>
              <a:srgbClr val="2B6CB0"/>
            </a:solidFill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4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Box 20"/>
          <p:cNvSpPr/>
          <p:nvPr/>
        </p:nvSpPr>
        <p:spPr>
          <a:xfrm>
            <a:off x="7644240" y="2615040"/>
            <a:ext cx="155412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r>
              <a:rPr lang="en-US" sz="15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Correct only that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layer or config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Box 21"/>
          <p:cNvSpPr/>
          <p:nvPr/>
        </p:nvSpPr>
        <p:spPr>
          <a:xfrm>
            <a:off x="9381600" y="2541960"/>
            <a:ext cx="3654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→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Rounded Rectangle 22"/>
          <p:cNvSpPr/>
          <p:nvPr/>
        </p:nvSpPr>
        <p:spPr>
          <a:xfrm>
            <a:off x="9784080" y="1965960"/>
            <a:ext cx="1874160" cy="1508400"/>
          </a:xfrm>
          <a:prstGeom prst="roundRect">
            <a:avLst>
              <a:gd name="adj" fmla="val 16667"/>
            </a:avLst>
          </a:prstGeom>
          <a:solidFill>
            <a:srgbClr val="F4F6F8"/>
          </a:solidFill>
          <a:ln>
            <a:solidFill>
              <a:srgbClr val="2B6C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0" name="TextBox 23"/>
          <p:cNvSpPr/>
          <p:nvPr/>
        </p:nvSpPr>
        <p:spPr>
          <a:xfrm>
            <a:off x="9857160" y="2139840"/>
            <a:ext cx="383760" cy="383760"/>
          </a:xfrm>
          <a:prstGeom prst="rect">
            <a:avLst/>
          </a:prstGeom>
          <a:solidFill>
            <a:srgbClr val="2B6CB0"/>
          </a:solidFill>
          <a:ln w="0">
            <a:solidFill>
              <a:srgbClr val="2B6CB0"/>
            </a:solidFill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5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Box 24"/>
          <p:cNvSpPr/>
          <p:nvPr/>
        </p:nvSpPr>
        <p:spPr>
          <a:xfrm>
            <a:off x="9948600" y="2615040"/>
            <a:ext cx="155412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r>
              <a:rPr lang="en-US" sz="15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Verify signals and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business outcome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Rounded Rectangle 25"/>
          <p:cNvSpPr/>
          <p:nvPr/>
        </p:nvSpPr>
        <p:spPr>
          <a:xfrm>
            <a:off x="777240" y="4892040"/>
            <a:ext cx="10606680" cy="502560"/>
          </a:xfrm>
          <a:prstGeom prst="roundRect">
            <a:avLst>
              <a:gd name="adj" fmla="val 16667"/>
            </a:avLst>
          </a:prstGeom>
          <a:solidFill>
            <a:srgbClr val="F2F9F6"/>
          </a:solidFill>
          <a:ln>
            <a:solidFill>
              <a:srgbClr val="1F7A5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3" name="TextBox 26"/>
          <p:cNvSpPr/>
          <p:nvPr/>
        </p:nvSpPr>
        <p:spPr>
          <a:xfrm>
            <a:off x="941760" y="4983480"/>
            <a:ext cx="10277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1F7A56"/>
                </a:solidFill>
                <a:effectLst/>
                <a:uFillTx/>
                <a:latin typeface="Aptos"/>
              </a:rPr>
              <a:t>Command success is not operational validation; prove the pipeline's intended result.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5" name="TextBox 2"/>
          <p:cNvSpPr/>
          <p:nvPr/>
        </p:nvSpPr>
        <p:spPr>
          <a:xfrm>
            <a:off x="777240" y="960120"/>
            <a:ext cx="18284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01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Box 3"/>
          <p:cNvSpPr/>
          <p:nvPr/>
        </p:nvSpPr>
        <p:spPr>
          <a:xfrm>
            <a:off x="777240" y="1874520"/>
            <a:ext cx="1024092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Operational Architecture Review</a:t>
            </a:r>
            <a:endParaRPr lang="en-US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Box 4"/>
          <p:cNvSpPr/>
          <p:nvPr/>
        </p:nvSpPr>
        <p:spPr>
          <a:xfrm>
            <a:off x="804600" y="3246120"/>
            <a:ext cx="98751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100" b="0" u="none" strike="noStrike">
                <a:solidFill>
                  <a:srgbClr val="E6F0FA"/>
                </a:solidFill>
                <a:effectLst/>
                <a:uFillTx/>
                <a:latin typeface="Aptos"/>
              </a:rPr>
              <a:t>Trace the flow, assign responsibility, control changes, and recognize failure signatures.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Rectangle 5"/>
          <p:cNvSpPr/>
          <p:nvPr/>
        </p:nvSpPr>
        <p:spPr>
          <a:xfrm>
            <a:off x="804600" y="5349240"/>
            <a:ext cx="1828440" cy="453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720" rIns="90000" bIns="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9" name="TextBox 6"/>
          <p:cNvSpPr/>
          <p:nvPr/>
        </p:nvSpPr>
        <p:spPr>
          <a:xfrm>
            <a:off x="804600" y="5596200"/>
            <a:ext cx="7772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Evidence first • change only what the evidence supports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1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Core event-driven terms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Rectangle 3"/>
          <p:cNvSpPr/>
          <p:nvPr/>
        </p:nvSpPr>
        <p:spPr>
          <a:xfrm>
            <a:off x="594360" y="86868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3" name="TextBox 4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Box 5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27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55" name="Table 6"/>
          <p:cNvGraphicFramePr/>
          <p:nvPr/>
        </p:nvGraphicFramePr>
        <p:xfrm>
          <a:off x="603360" y="1234440"/>
          <a:ext cx="10972440" cy="4983120"/>
        </p:xfrm>
        <a:graphic>
          <a:graphicData uri="http://schemas.openxmlformats.org/drawingml/2006/table">
            <a:tbl>
              <a:tblPr/>
              <a:tblGrid>
                <a:gridCol w="1371600"/>
                <a:gridCol w="4572000"/>
                <a:gridCol w="5029200"/>
              </a:tblGrid>
              <a:tr h="711720">
                <a:tc>
                  <a:txBody>
                    <a:bodyPr lIns="73080" r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Term</a:t>
                      </a:r>
                      <a:endParaRPr lang="en-US" sz="13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74E"/>
                    </a:solidFill>
                  </a:tcPr>
                </a:tc>
                <a:tc>
                  <a:txBody>
                    <a:bodyPr lIns="73080" r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Meaning in this workshop</a:t>
                      </a:r>
                      <a:endParaRPr lang="en-US" sz="13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74E"/>
                    </a:solidFill>
                  </a:tcPr>
                </a:tc>
                <a:tc>
                  <a:txBody>
                    <a:bodyPr lIns="73080" r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Operational question</a:t>
                      </a:r>
                      <a:endParaRPr lang="en-US" sz="13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74E"/>
                    </a:solidFill>
                  </a:tcPr>
                </a:tc>
              </a:tr>
              <a:tr h="71172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Partition</a:t>
                      </a:r>
                      <a:endParaRPr lang="en-US" sz="13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Ordered append-only part of a topic</a:t>
                      </a:r>
                      <a:endParaRPr lang="en-US" sz="13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Does it have a leader and balanced load?</a:t>
                      </a:r>
                      <a:endParaRPr lang="en-US" sz="13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1172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Offset</a:t>
                      </a:r>
                      <a:endParaRPr lang="en-US" sz="13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Record position within one partition</a:t>
                      </a:r>
                      <a:endParaRPr lang="en-US" sz="13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Where is the group relative to the end?</a:t>
                      </a:r>
                      <a:endParaRPr lang="en-US" sz="13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  <a:tr h="71172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Consumer group</a:t>
                      </a:r>
                      <a:endParaRPr lang="en-US" sz="13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Consumers sharing work and saved progress</a:t>
                      </a:r>
                      <a:endParaRPr lang="en-US" sz="13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Who owns each partition?</a:t>
                      </a:r>
                      <a:endParaRPr lang="en-US" sz="13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1172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Lag</a:t>
                      </a:r>
                      <a:endParaRPr lang="en-US" sz="13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End offset − committed offset</a:t>
                      </a:r>
                      <a:endParaRPr lang="en-US" sz="13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Is the backlog moving or stalled?</a:t>
                      </a:r>
                      <a:endParaRPr lang="en-US" sz="13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  <a:tr h="71172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Upsert</a:t>
                      </a:r>
                      <a:endParaRPr lang="en-US" sz="13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Update or insert by order_id</a:t>
                      </a:r>
                      <a:endParaRPr lang="en-US" sz="13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Can a replay avoid duplicates?</a:t>
                      </a:r>
                      <a:endParaRPr lang="en-US" sz="13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1172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DLQ</a:t>
                      </a:r>
                      <a:endParaRPr lang="en-US" sz="13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Preserved unprocessable records plus context</a:t>
                      </a:r>
                      <a:endParaRPr lang="en-US" sz="13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Who alerts, corrects, and replays?</a:t>
                      </a:r>
                      <a:endParaRPr lang="en-US" sz="13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7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Trace one event across layers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Box 3"/>
          <p:cNvSpPr/>
          <p:nvPr/>
        </p:nvSpPr>
        <p:spPr>
          <a:xfrm>
            <a:off x="594360" y="749880"/>
            <a:ext cx="10881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MODULE 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Rectangle 4"/>
          <p:cNvSpPr/>
          <p:nvPr/>
        </p:nvSpPr>
        <p:spPr>
          <a:xfrm>
            <a:off x="594360" y="105156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0" name="TextBox 5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TextBox 6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28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62" name="Table 7"/>
          <p:cNvGraphicFramePr/>
          <p:nvPr/>
        </p:nvGraphicFramePr>
        <p:xfrm>
          <a:off x="621720" y="1234440"/>
          <a:ext cx="10954080" cy="4800240"/>
        </p:xfrm>
        <a:graphic>
          <a:graphicData uri="http://schemas.openxmlformats.org/drawingml/2006/table">
            <a:tbl>
              <a:tblPr/>
              <a:tblGrid>
                <a:gridCol w="1691640"/>
                <a:gridCol w="3063240"/>
                <a:gridCol w="3337560"/>
                <a:gridCol w="2862000"/>
              </a:tblGrid>
              <a:tr h="7999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Layer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74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Evidence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74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Healthy invariant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74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What it does not prove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74E"/>
                    </a:solidFill>
                  </a:tcPr>
                </a:tc>
              </a:tr>
              <a:tr h="7999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8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Producer</a:t>
                      </a:r>
                      <a:endParaRPr lang="en-US" sz="12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8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Delivery report</a:t>
                      </a:r>
                      <a:endParaRPr lang="en-US" sz="12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8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20 expected = 20 delivered</a:t>
                      </a:r>
                      <a:endParaRPr lang="en-US" sz="12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8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Consumer or MongoDB success</a:t>
                      </a:r>
                      <a:endParaRPr lang="en-US" sz="12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999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8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Kafka topic</a:t>
                      </a:r>
                      <a:endParaRPr lang="en-US" sz="12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8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Description + end offsets</a:t>
                      </a:r>
                      <a:endParaRPr lang="en-US" sz="12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8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3 leaders; offset sum +20</a:t>
                      </a:r>
                      <a:endParaRPr lang="en-US" sz="12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8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Consumer progress</a:t>
                      </a:r>
                      <a:endParaRPr lang="en-US" sz="12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  <a:tr h="7999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8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Consumer group</a:t>
                      </a:r>
                      <a:endParaRPr lang="en-US" sz="12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8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Current/end offsets</a:t>
                      </a:r>
                      <a:endParaRPr lang="en-US" sz="12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8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Committed = end; lag 0</a:t>
                      </a:r>
                      <a:endParaRPr lang="en-US" sz="12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8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Document correctness</a:t>
                      </a:r>
                      <a:endParaRPr lang="en-US" sz="12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999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8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MongoDB</a:t>
                      </a:r>
                      <a:endParaRPr lang="en-US" sz="12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8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Count + sample document</a:t>
                      </a:r>
                      <a:endParaRPr lang="en-US" sz="12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8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20 docs; derived fields valid</a:t>
                      </a:r>
                      <a:endParaRPr lang="en-US" sz="12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8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No future lag or drift</a:t>
                      </a:r>
                      <a:endParaRPr lang="en-US" sz="12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  <a:tr h="7999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8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Business flow</a:t>
                      </a:r>
                      <a:endParaRPr lang="en-US" sz="12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8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Trace order_id end to end</a:t>
                      </a:r>
                      <a:endParaRPr lang="en-US" sz="12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8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Same identity and fields</a:t>
                      </a:r>
                      <a:endParaRPr lang="en-US" sz="12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8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Capacity or resilience</a:t>
                      </a:r>
                      <a:endParaRPr lang="en-US" sz="12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4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Offsets, lag, and progress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Box 3"/>
          <p:cNvSpPr/>
          <p:nvPr/>
        </p:nvSpPr>
        <p:spPr>
          <a:xfrm>
            <a:off x="594360" y="749880"/>
            <a:ext cx="10881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MODULE 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Rectangle 4"/>
          <p:cNvSpPr/>
          <p:nvPr/>
        </p:nvSpPr>
        <p:spPr>
          <a:xfrm>
            <a:off x="594360" y="105156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7" name="TextBox 5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Box 6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29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TextBox 7"/>
          <p:cNvSpPr/>
          <p:nvPr/>
        </p:nvSpPr>
        <p:spPr>
          <a:xfrm>
            <a:off x="777240" y="1417320"/>
            <a:ext cx="105152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Consumer lag = log end offset − committed next-read offset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Rounded Rectangle 8"/>
          <p:cNvSpPr/>
          <p:nvPr/>
        </p:nvSpPr>
        <p:spPr>
          <a:xfrm>
            <a:off x="777240" y="2331720"/>
            <a:ext cx="3245760" cy="2331360"/>
          </a:xfrm>
          <a:prstGeom prst="roundRect">
            <a:avLst>
              <a:gd name="adj" fmla="val 16667"/>
            </a:avLst>
          </a:prstGeom>
          <a:solidFill>
            <a:srgbClr val="F4F6F8"/>
          </a:solidFill>
          <a:ln>
            <a:solidFill>
              <a:srgbClr val="DCE1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1" name="Rectangle 9"/>
          <p:cNvSpPr/>
          <p:nvPr/>
        </p:nvSpPr>
        <p:spPr>
          <a:xfrm>
            <a:off x="777240" y="2331720"/>
            <a:ext cx="72720" cy="233136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2" name="TextBox 10"/>
          <p:cNvSpPr/>
          <p:nvPr/>
        </p:nvSpPr>
        <p:spPr>
          <a:xfrm>
            <a:off x="1005840" y="2496240"/>
            <a:ext cx="28342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Example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TextBox 11"/>
          <p:cNvSpPr/>
          <p:nvPr/>
        </p:nvSpPr>
        <p:spPr>
          <a:xfrm>
            <a:off x="978480" y="2971800"/>
            <a:ext cx="286164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18360" rIns="45720" bIns="45000" anchor="t">
            <a:spAutoFit/>
          </a:bodyPr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8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Partition 0 end offset: 120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8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Group committed offset: 95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8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Lag: 25 records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Rounded Rectangle 12"/>
          <p:cNvSpPr/>
          <p:nvPr/>
        </p:nvSpPr>
        <p:spPr>
          <a:xfrm>
            <a:off x="4462200" y="2331720"/>
            <a:ext cx="3245760" cy="2331360"/>
          </a:xfrm>
          <a:prstGeom prst="roundRect">
            <a:avLst>
              <a:gd name="adj" fmla="val 16667"/>
            </a:avLst>
          </a:prstGeom>
          <a:solidFill>
            <a:srgbClr val="F4F6F8"/>
          </a:solidFill>
          <a:ln>
            <a:solidFill>
              <a:srgbClr val="DCE1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5" name="Rectangle 13"/>
          <p:cNvSpPr/>
          <p:nvPr/>
        </p:nvSpPr>
        <p:spPr>
          <a:xfrm>
            <a:off x="4462200" y="2331720"/>
            <a:ext cx="72720" cy="2331360"/>
          </a:xfrm>
          <a:prstGeom prst="rect">
            <a:avLst/>
          </a:prstGeom>
          <a:solidFill>
            <a:srgbClr val="1F7A5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6" name="TextBox 14"/>
          <p:cNvSpPr/>
          <p:nvPr/>
        </p:nvSpPr>
        <p:spPr>
          <a:xfrm>
            <a:off x="4690800" y="2496240"/>
            <a:ext cx="28342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F7A56"/>
                </a:solidFill>
                <a:effectLst/>
                <a:uFillTx/>
                <a:latin typeface="Aptos"/>
              </a:rPr>
              <a:t>Interpret movement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Box 15"/>
          <p:cNvSpPr/>
          <p:nvPr/>
        </p:nvSpPr>
        <p:spPr>
          <a:xfrm>
            <a:off x="4663440" y="2971800"/>
            <a:ext cx="286164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18360" rIns="45720" bIns="45000" anchor="t">
            <a:spAutoFit/>
          </a:bodyPr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End fixed + commits rising = draining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Both rise equally = keeping up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End rises faster = throughput deficit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Commits fixed + lag &gt; 0 = stall or failure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Rounded Rectangle 16"/>
          <p:cNvSpPr/>
          <p:nvPr/>
        </p:nvSpPr>
        <p:spPr>
          <a:xfrm>
            <a:off x="8147160" y="2331720"/>
            <a:ext cx="3245760" cy="2331360"/>
          </a:xfrm>
          <a:prstGeom prst="roundRect">
            <a:avLst>
              <a:gd name="adj" fmla="val 16667"/>
            </a:avLst>
          </a:prstGeom>
          <a:solidFill>
            <a:srgbClr val="F4F6F8"/>
          </a:solidFill>
          <a:ln>
            <a:solidFill>
              <a:srgbClr val="DCE1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9" name="Rectangle 17"/>
          <p:cNvSpPr/>
          <p:nvPr/>
        </p:nvSpPr>
        <p:spPr>
          <a:xfrm>
            <a:off x="8147160" y="2331720"/>
            <a:ext cx="72720" cy="2331360"/>
          </a:xfrm>
          <a:prstGeom prst="rect">
            <a:avLst/>
          </a:prstGeom>
          <a:solidFill>
            <a:srgbClr val="B4691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0" name="TextBox 18"/>
          <p:cNvSpPr/>
          <p:nvPr/>
        </p:nvSpPr>
        <p:spPr>
          <a:xfrm>
            <a:off x="8375760" y="2496240"/>
            <a:ext cx="28342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B46914"/>
                </a:solidFill>
                <a:effectLst/>
                <a:uFillTx/>
                <a:latin typeface="Aptos"/>
              </a:rPr>
              <a:t>Caution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TextBox 19"/>
          <p:cNvSpPr/>
          <p:nvPr/>
        </p:nvSpPr>
        <p:spPr>
          <a:xfrm>
            <a:off x="8348400" y="2971800"/>
            <a:ext cx="286164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18360" rIns="45720" bIns="45000" anchor="t">
            <a:spAutoFit/>
          </a:bodyPr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Offsets are per partition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Zero lag does not prove correct MongoDB data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No commits may mean the group does not yet exist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3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Idempotency and write-before-commit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Box 3"/>
          <p:cNvSpPr/>
          <p:nvPr/>
        </p:nvSpPr>
        <p:spPr>
          <a:xfrm>
            <a:off x="594360" y="749880"/>
            <a:ext cx="10881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MODULE 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Rectangle 4"/>
          <p:cNvSpPr/>
          <p:nvPr/>
        </p:nvSpPr>
        <p:spPr>
          <a:xfrm>
            <a:off x="594360" y="105156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6" name="TextBox 5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TextBox 6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30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Rounded Rectangle 7"/>
          <p:cNvSpPr/>
          <p:nvPr/>
        </p:nvSpPr>
        <p:spPr>
          <a:xfrm>
            <a:off x="594360" y="1965960"/>
            <a:ext cx="2422800" cy="1462680"/>
          </a:xfrm>
          <a:prstGeom prst="roundRect">
            <a:avLst>
              <a:gd name="adj" fmla="val 16667"/>
            </a:avLst>
          </a:prstGeom>
          <a:solidFill>
            <a:srgbClr val="E8F1FA"/>
          </a:solidFill>
          <a:ln>
            <a:solidFill>
              <a:srgbClr val="2B6C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9" name="TextBox 8"/>
          <p:cNvSpPr/>
          <p:nvPr/>
        </p:nvSpPr>
        <p:spPr>
          <a:xfrm>
            <a:off x="704160" y="2194560"/>
            <a:ext cx="220320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1. Read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TextBox 9"/>
          <p:cNvSpPr/>
          <p:nvPr/>
        </p:nvSpPr>
        <p:spPr>
          <a:xfrm>
            <a:off x="758880" y="2670120"/>
            <a:ext cx="20937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Consume Kafka record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Box 10"/>
          <p:cNvSpPr/>
          <p:nvPr/>
        </p:nvSpPr>
        <p:spPr>
          <a:xfrm>
            <a:off x="3044880" y="2514600"/>
            <a:ext cx="3196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→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Rounded Rectangle 11"/>
          <p:cNvSpPr/>
          <p:nvPr/>
        </p:nvSpPr>
        <p:spPr>
          <a:xfrm>
            <a:off x="3429000" y="1965960"/>
            <a:ext cx="2422800" cy="1462680"/>
          </a:xfrm>
          <a:prstGeom prst="roundRect">
            <a:avLst>
              <a:gd name="adj" fmla="val 16667"/>
            </a:avLst>
          </a:prstGeom>
          <a:solidFill>
            <a:srgbClr val="F4F6F8"/>
          </a:solidFill>
          <a:ln>
            <a:solidFill>
              <a:srgbClr val="1F374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3" name="TextBox 12"/>
          <p:cNvSpPr/>
          <p:nvPr/>
        </p:nvSpPr>
        <p:spPr>
          <a:xfrm>
            <a:off x="3538800" y="2194560"/>
            <a:ext cx="220320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2. Transform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TextBox 13"/>
          <p:cNvSpPr/>
          <p:nvPr/>
        </p:nvSpPr>
        <p:spPr>
          <a:xfrm>
            <a:off x="3593520" y="2670120"/>
            <a:ext cx="20937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Add total_amount, status, processed_at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Box 14"/>
          <p:cNvSpPr/>
          <p:nvPr/>
        </p:nvSpPr>
        <p:spPr>
          <a:xfrm>
            <a:off x="5879520" y="2514600"/>
            <a:ext cx="3196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→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Rounded Rectangle 15"/>
          <p:cNvSpPr/>
          <p:nvPr/>
        </p:nvSpPr>
        <p:spPr>
          <a:xfrm>
            <a:off x="6263640" y="1965960"/>
            <a:ext cx="2422800" cy="1462680"/>
          </a:xfrm>
          <a:prstGeom prst="roundRect">
            <a:avLst>
              <a:gd name="adj" fmla="val 16667"/>
            </a:avLst>
          </a:prstGeom>
          <a:solidFill>
            <a:srgbClr val="EFF8F3"/>
          </a:solidFill>
          <a:ln>
            <a:solidFill>
              <a:srgbClr val="1F7A5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7" name="TextBox 16"/>
          <p:cNvSpPr/>
          <p:nvPr/>
        </p:nvSpPr>
        <p:spPr>
          <a:xfrm>
            <a:off x="6373440" y="2194560"/>
            <a:ext cx="220320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F7A56"/>
                </a:solidFill>
                <a:effectLst/>
                <a:uFillTx/>
                <a:latin typeface="Aptos"/>
              </a:rPr>
              <a:t>3. Upsert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TextBox 17"/>
          <p:cNvSpPr/>
          <p:nvPr/>
        </p:nvSpPr>
        <p:spPr>
          <a:xfrm>
            <a:off x="6428160" y="2670120"/>
            <a:ext cx="20937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Write MongoDB by order_id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TextBox 18"/>
          <p:cNvSpPr/>
          <p:nvPr/>
        </p:nvSpPr>
        <p:spPr>
          <a:xfrm>
            <a:off x="8714160" y="2514600"/>
            <a:ext cx="3196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→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Rounded Rectangle 19"/>
          <p:cNvSpPr/>
          <p:nvPr/>
        </p:nvSpPr>
        <p:spPr>
          <a:xfrm>
            <a:off x="9098280" y="1965960"/>
            <a:ext cx="2422800" cy="1462680"/>
          </a:xfrm>
          <a:prstGeom prst="roundRect">
            <a:avLst>
              <a:gd name="adj" fmla="val 16667"/>
            </a:avLst>
          </a:prstGeom>
          <a:solidFill>
            <a:srgbClr val="FDF5EB"/>
          </a:solidFill>
          <a:ln>
            <a:solidFill>
              <a:srgbClr val="B4691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01" name="TextBox 20"/>
          <p:cNvSpPr/>
          <p:nvPr/>
        </p:nvSpPr>
        <p:spPr>
          <a:xfrm>
            <a:off x="9208080" y="2194560"/>
            <a:ext cx="220320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B46914"/>
                </a:solidFill>
                <a:effectLst/>
                <a:uFillTx/>
                <a:latin typeface="Aptos"/>
              </a:rPr>
              <a:t>4. Commit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Box 21"/>
          <p:cNvSpPr/>
          <p:nvPr/>
        </p:nvSpPr>
        <p:spPr>
          <a:xfrm>
            <a:off x="9262800" y="2670120"/>
            <a:ext cx="20937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Save Kafka next-read offset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TextBox 22"/>
          <p:cNvSpPr/>
          <p:nvPr/>
        </p:nvSpPr>
        <p:spPr>
          <a:xfrm>
            <a:off x="868680" y="4160520"/>
            <a:ext cx="1014948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18360" rIns="45720" bIns="45000" anchor="t">
            <a:spAutoFit/>
          </a:bodyPr>
          <a:p>
            <a:pPr defTabSz="457200">
              <a:lnSpc>
                <a:spcPct val="105000"/>
              </a:lnSpc>
              <a:spcAft>
                <a:spcPts val="901"/>
              </a:spcAft>
            </a:pPr>
            <a:r>
              <a:rPr lang="en-US" sz="18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If a crash occurs after the write but before commit, the record may be delivered again.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901"/>
              </a:spcAft>
            </a:pPr>
            <a:r>
              <a:rPr lang="en-US" sz="18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Upserting by order_id makes that replay produce one logical order rather than a duplicate.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05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Operational responsibility model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Rectangle 3"/>
          <p:cNvSpPr/>
          <p:nvPr/>
        </p:nvSpPr>
        <p:spPr>
          <a:xfrm>
            <a:off x="594360" y="86868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07" name="TextBox 4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TextBox 5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31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09" name="Table 6"/>
          <p:cNvGraphicFramePr/>
          <p:nvPr/>
        </p:nvGraphicFramePr>
        <p:xfrm>
          <a:off x="603360" y="1234440"/>
          <a:ext cx="10972440" cy="4480200"/>
        </p:xfrm>
        <a:graphic>
          <a:graphicData uri="http://schemas.openxmlformats.org/drawingml/2006/table">
            <a:tbl>
              <a:tblPr/>
              <a:tblGrid>
                <a:gridCol w="1965960"/>
                <a:gridCol w="5577840"/>
                <a:gridCol w="3429000"/>
              </a:tblGrid>
              <a:tr h="746640">
                <a:tc>
                  <a:txBody>
                    <a:bodyPr lIns="73080" r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Layer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74E"/>
                    </a:solidFill>
                  </a:tcPr>
                </a:tc>
                <a:tc>
                  <a:txBody>
                    <a:bodyPr lIns="73080" r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Typical responsibility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74E"/>
                    </a:solidFill>
                  </a:tcPr>
                </a:tc>
                <a:tc>
                  <a:txBody>
                    <a:bodyPr lIns="73080" r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First evidence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74E"/>
                    </a:solidFill>
                  </a:tcPr>
                </a:tc>
              </a:tr>
              <a:tr h="74664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Producer application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Event shape, key, delivery, rate, business semantics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Producer output and app logs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4664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Kafka broker/topic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Availability, leaders, replicas, partitions, retention, disk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Topic description, logs, end offsets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  <a:tr h="74664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Connector/consumer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Config, task state, transformation, retry, offset, DLQ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REST/status, group state, trace, DLQ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4664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MongoDB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Primary state, writes, storage, indexes, queries, backup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Replica health, stats, explain, logs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  <a:tr h="74664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Data/business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Completeness, field validity, timing, replay authorization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Reconciliation and data-quality checks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10" name="Rounded Rectangle 7"/>
          <p:cNvSpPr/>
          <p:nvPr/>
        </p:nvSpPr>
        <p:spPr>
          <a:xfrm>
            <a:off x="777240" y="5806440"/>
            <a:ext cx="10606680" cy="411120"/>
          </a:xfrm>
          <a:prstGeom prst="roundRect">
            <a:avLst>
              <a:gd name="adj" fmla="val 16667"/>
            </a:avLst>
          </a:prstGeom>
          <a:solidFill>
            <a:srgbClr val="F2F9F6"/>
          </a:solidFill>
          <a:ln>
            <a:solidFill>
              <a:srgbClr val="1F7A5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11" name="TextBox 8"/>
          <p:cNvSpPr/>
          <p:nvPr/>
        </p:nvSpPr>
        <p:spPr>
          <a:xfrm>
            <a:off x="941760" y="5897880"/>
            <a:ext cx="10277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1F7A56"/>
                </a:solidFill>
                <a:effectLst/>
                <a:uFillTx/>
                <a:latin typeface="Aptos"/>
              </a:rPr>
              <a:t>Ownership narrows the first response; cross-layer incidents still require collaboration.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13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Layered incident triage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Box 3"/>
          <p:cNvSpPr/>
          <p:nvPr/>
        </p:nvSpPr>
        <p:spPr>
          <a:xfrm>
            <a:off x="594360" y="749880"/>
            <a:ext cx="10881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MODULE 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Rectangle 4"/>
          <p:cNvSpPr/>
          <p:nvPr/>
        </p:nvSpPr>
        <p:spPr>
          <a:xfrm>
            <a:off x="594360" y="105156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16" name="TextBox 5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7" name="TextBox 6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32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TextBox 7"/>
          <p:cNvSpPr/>
          <p:nvPr/>
        </p:nvSpPr>
        <p:spPr>
          <a:xfrm>
            <a:off x="685800" y="1188720"/>
            <a:ext cx="10789560" cy="507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18360" rIns="45720" bIns="45000" anchor="t">
            <a:spAutoFit/>
          </a:bodyPr>
          <a:p>
            <a:pPr defTabSz="457200">
              <a:lnSpc>
                <a:spcPct val="105000"/>
              </a:lnSpc>
              <a:spcAft>
                <a:spcPts val="601"/>
              </a:spcAft>
            </a:pPr>
            <a:r>
              <a:rPr lang="en-US" sz="177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1. Confirm the reported business symptom and its time window.</a:t>
            </a:r>
            <a:endParaRPr lang="en-US" sz="17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601"/>
              </a:spcAft>
            </a:pPr>
            <a:r>
              <a:rPr lang="en-US" sz="177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2. Check producer acknowledgements and topic end-offset movement.</a:t>
            </a:r>
            <a:endParaRPr lang="en-US" sz="17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601"/>
              </a:spcAft>
            </a:pPr>
            <a:r>
              <a:rPr lang="en-US" sz="177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3. Check broker/topic leaders, replicas/ISR, disk, and errors.</a:t>
            </a:r>
            <a:endParaRPr lang="en-US" sz="17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601"/>
              </a:spcAft>
            </a:pPr>
            <a:r>
              <a:rPr lang="en-US" sz="177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4. Check consumer/connector membership, task state, committed-offset movement, lag, and traces.</a:t>
            </a:r>
            <a:endParaRPr lang="en-US" sz="17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601"/>
              </a:spcAft>
            </a:pPr>
            <a:r>
              <a:rPr lang="en-US" sz="177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5. Check MongoDB writable-primary state, write errors, query health, and recent documents.</a:t>
            </a:r>
            <a:endParaRPr lang="en-US" sz="17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601"/>
              </a:spcAft>
            </a:pPr>
            <a:r>
              <a:rPr lang="en-US" sz="177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6. Preserve the pre-change configuration and evidence; correct the first unhealthy layer.</a:t>
            </a:r>
            <a:endParaRPr lang="en-US" sz="17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601"/>
              </a:spcAft>
            </a:pPr>
            <a:r>
              <a:rPr lang="en-US" sz="177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7. Verify offsets, task state, counts, fields, DLQ, and the original business symptom.</a:t>
            </a:r>
            <a:endParaRPr lang="en-US" sz="17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20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Change control: minimum evidence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Rectangle 3"/>
          <p:cNvSpPr/>
          <p:nvPr/>
        </p:nvSpPr>
        <p:spPr>
          <a:xfrm>
            <a:off x="594360" y="86868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22" name="TextBox 4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Box 5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33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Rounded Rectangle 6"/>
          <p:cNvSpPr/>
          <p:nvPr/>
        </p:nvSpPr>
        <p:spPr>
          <a:xfrm>
            <a:off x="621720" y="1234440"/>
            <a:ext cx="5412960" cy="4891680"/>
          </a:xfrm>
          <a:prstGeom prst="roundRect">
            <a:avLst>
              <a:gd name="adj" fmla="val 16667"/>
            </a:avLst>
          </a:prstGeom>
          <a:solidFill>
            <a:srgbClr val="F4F6F8"/>
          </a:solidFill>
          <a:ln>
            <a:solidFill>
              <a:srgbClr val="DCE1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25" name="Rectangle 7"/>
          <p:cNvSpPr/>
          <p:nvPr/>
        </p:nvSpPr>
        <p:spPr>
          <a:xfrm>
            <a:off x="621720" y="1234440"/>
            <a:ext cx="72720" cy="489168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26" name="TextBox 8"/>
          <p:cNvSpPr/>
          <p:nvPr/>
        </p:nvSpPr>
        <p:spPr>
          <a:xfrm>
            <a:off x="850320" y="1398960"/>
            <a:ext cx="50014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Before the change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7" name="TextBox 9"/>
          <p:cNvSpPr/>
          <p:nvPr/>
        </p:nvSpPr>
        <p:spPr>
          <a:xfrm>
            <a:off x="822960" y="1874520"/>
            <a:ext cx="5028840" cy="411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18360" rIns="45720" bIns="45000" anchor="t">
            <a:spAutoFit/>
          </a:bodyPr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Scope and owner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Reason and expected benefit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Current config and health baseline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Risk, maintenance window, and dependencies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Success and abort criteria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Exact rollback artifact or command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Rounded Rectangle 10"/>
          <p:cNvSpPr/>
          <p:nvPr/>
        </p:nvSpPr>
        <p:spPr>
          <a:xfrm>
            <a:off x="6163200" y="1234440"/>
            <a:ext cx="5412960" cy="4891680"/>
          </a:xfrm>
          <a:prstGeom prst="roundRect">
            <a:avLst>
              <a:gd name="adj" fmla="val 16667"/>
            </a:avLst>
          </a:prstGeom>
          <a:solidFill>
            <a:srgbClr val="F4F6F8"/>
          </a:solidFill>
          <a:ln>
            <a:solidFill>
              <a:srgbClr val="DCE1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29" name="Rectangle 11"/>
          <p:cNvSpPr/>
          <p:nvPr/>
        </p:nvSpPr>
        <p:spPr>
          <a:xfrm>
            <a:off x="6163200" y="1234440"/>
            <a:ext cx="72720" cy="4891680"/>
          </a:xfrm>
          <a:prstGeom prst="rect">
            <a:avLst/>
          </a:prstGeom>
          <a:solidFill>
            <a:srgbClr val="1F7A5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30" name="TextBox 12"/>
          <p:cNvSpPr/>
          <p:nvPr/>
        </p:nvSpPr>
        <p:spPr>
          <a:xfrm>
            <a:off x="6391800" y="1398960"/>
            <a:ext cx="50014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F7A56"/>
                </a:solidFill>
                <a:effectLst/>
                <a:uFillTx/>
                <a:latin typeface="Aptos"/>
              </a:rPr>
              <a:t>After the change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TextBox 13"/>
          <p:cNvSpPr/>
          <p:nvPr/>
        </p:nvSpPr>
        <p:spPr>
          <a:xfrm>
            <a:off x="6364080" y="1874520"/>
            <a:ext cx="5028840" cy="411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18360" rIns="45720" bIns="45000" anchor="t">
            <a:spAutoFit/>
          </a:bodyPr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Command/API result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Component health and logs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Offset continuity and lag recovery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Query plan or storage effect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Data count/field reconciliation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Recorded decision: keep, abort, or roll back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33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Typical failure signatures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4" name="Rectangle 3"/>
          <p:cNvSpPr/>
          <p:nvPr/>
        </p:nvSpPr>
        <p:spPr>
          <a:xfrm>
            <a:off x="594360" y="86868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35" name="TextBox 4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TextBox 5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34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37" name="Table 6"/>
          <p:cNvGraphicFramePr/>
          <p:nvPr/>
        </p:nvGraphicFramePr>
        <p:xfrm>
          <a:off x="603360" y="1234440"/>
          <a:ext cx="10972440" cy="4983120"/>
        </p:xfrm>
        <a:graphic>
          <a:graphicData uri="http://schemas.openxmlformats.org/drawingml/2006/table">
            <a:tbl>
              <a:tblPr/>
              <a:tblGrid>
                <a:gridCol w="2377440"/>
                <a:gridCol w="2560320"/>
                <a:gridCol w="2743200"/>
                <a:gridCol w="3291840"/>
              </a:tblGrid>
              <a:tr h="830520">
                <a:tc>
                  <a:txBody>
                    <a:bodyPr lIns="73080" r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2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Symptom</a:t>
                      </a:r>
                      <a:endParaRPr lang="en-US" sz="122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74E"/>
                    </a:solidFill>
                  </a:tcPr>
                </a:tc>
                <a:tc>
                  <a:txBody>
                    <a:bodyPr lIns="73080" r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2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Likely affected layer</a:t>
                      </a:r>
                      <a:endParaRPr lang="en-US" sz="122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74E"/>
                    </a:solidFill>
                  </a:tcPr>
                </a:tc>
                <a:tc>
                  <a:txBody>
                    <a:bodyPr lIns="73080" r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2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Primary evidence</a:t>
                      </a:r>
                      <a:endParaRPr lang="en-US" sz="122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74E"/>
                    </a:solidFill>
                  </a:tcPr>
                </a:tc>
                <a:tc>
                  <a:txBody>
                    <a:bodyPr lIns="73080" r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2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Targeted response</a:t>
                      </a:r>
                      <a:endParaRPr lang="en-US" sz="122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74E"/>
                    </a:solidFill>
                  </a:tcPr>
                </a:tc>
              </a:tr>
              <a:tr h="83052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COLLSCAN / high examined:return</a:t>
                      </a:r>
                      <a:endParaRPr lang="en-US" sz="12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MongoDB query/index</a:t>
                      </a:r>
                      <a:endParaRPr lang="en-US" sz="12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executionStats + profiler</a:t>
                      </a:r>
                      <a:endParaRPr lang="en-US" sz="12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Review and validate index change</a:t>
                      </a:r>
                      <a:endParaRPr lang="en-US" sz="12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3052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One partition dominates</a:t>
                      </a:r>
                      <a:endParaRPr lang="en-US" sz="12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Producer key/topic design</a:t>
                      </a:r>
                      <a:endParaRPr lang="en-US" sz="12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Per-partition offsets/bytes</a:t>
                      </a:r>
                      <a:endParaRPr lang="en-US" sz="12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Fix key cardinality or partition plan</a:t>
                      </a:r>
                      <a:endParaRPr lang="en-US" sz="12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  <a:tr h="83052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Lag with moving commits</a:t>
                      </a:r>
                      <a:endParaRPr lang="en-US" sz="12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Consumer capacity/downstream</a:t>
                      </a:r>
                      <a:endParaRPr lang="en-US" sz="12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Offset rates + dependency latency</a:t>
                      </a:r>
                      <a:endParaRPr lang="en-US" sz="12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Remove bottleneck/add sustainable capacity</a:t>
                      </a:r>
                      <a:endParaRPr lang="en-US" sz="12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3052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Poison record / task FAILED</a:t>
                      </a:r>
                      <a:endParaRPr lang="en-US" sz="12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Worker processing stage</a:t>
                      </a:r>
                      <a:endParaRPr lang="en-US" sz="12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Trace + source offset + DLQ</a:t>
                      </a:r>
                      <a:endParaRPr lang="en-US" sz="12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Correct policy; restart failed task only</a:t>
                      </a:r>
                      <a:endParaRPr lang="en-US" sz="12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  <a:tr h="83052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Counts normal, field missing</a:t>
                      </a:r>
                      <a:endParaRPr lang="en-US" sz="12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Data correctness</a:t>
                      </a:r>
                      <a:endParaRPr lang="en-US" sz="12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Field-level reconciliation</a:t>
                      </a:r>
                      <a:endParaRPr lang="en-US" sz="12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Approved repair/replay from source of truth</a:t>
                      </a:r>
                      <a:endParaRPr lang="en-US" sz="12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39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Module 1 checkpoint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Rectangle 3"/>
          <p:cNvSpPr/>
          <p:nvPr/>
        </p:nvSpPr>
        <p:spPr>
          <a:xfrm>
            <a:off x="594360" y="86868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1" name="TextBox 4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2" name="TextBox 5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35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TextBox 6"/>
          <p:cNvSpPr/>
          <p:nvPr/>
        </p:nvSpPr>
        <p:spPr>
          <a:xfrm>
            <a:off x="685800" y="1325880"/>
            <a:ext cx="10789560" cy="507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18360" rIns="45720" bIns="45000" anchor="t">
            <a:spAutoFit/>
          </a:bodyPr>
          <a:p>
            <a:pPr defTabSz="457200">
              <a:lnSpc>
                <a:spcPct val="105000"/>
              </a:lnSpc>
              <a:spcAft>
                <a:spcPts val="1301"/>
              </a:spcAft>
            </a:pPr>
            <a:r>
              <a:rPr lang="en-US" sz="20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Can you trace one order from producer acknowledgement to a correct MongoDB document?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301"/>
              </a:spcAft>
            </a:pPr>
            <a:r>
              <a:rPr lang="en-US" sz="20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Can you explain what topic health, group lag, and zero lag each do—and do not—prove?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301"/>
              </a:spcAft>
            </a:pPr>
            <a:r>
              <a:rPr lang="en-US" sz="20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Can you name the first evidence and owner for each operational layer?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301"/>
              </a:spcAft>
            </a:pPr>
            <a:r>
              <a:rPr lang="en-US" sz="20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Can you distinguish an inefficient query, hot partition, throughput deficit, poison record, and data drift?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301"/>
              </a:spcAft>
            </a:pPr>
            <a:r>
              <a:rPr lang="en-US" sz="20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Can you state the rollback and verification evidence before making a change?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F7A5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5" name="TextBox 2"/>
          <p:cNvSpPr/>
          <p:nvPr/>
        </p:nvSpPr>
        <p:spPr>
          <a:xfrm>
            <a:off x="777240" y="960120"/>
            <a:ext cx="18284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02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TextBox 3"/>
          <p:cNvSpPr/>
          <p:nvPr/>
        </p:nvSpPr>
        <p:spPr>
          <a:xfrm>
            <a:off x="777240" y="1874520"/>
            <a:ext cx="1024092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MongoDB Monitoring and Maintenance</a:t>
            </a:r>
            <a:endParaRPr lang="en-US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TextBox 4"/>
          <p:cNvSpPr/>
          <p:nvPr/>
        </p:nvSpPr>
        <p:spPr>
          <a:xfrm>
            <a:off x="804600" y="3246120"/>
            <a:ext cx="98751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100" b="0" u="none" strike="noStrike">
                <a:solidFill>
                  <a:srgbClr val="E6F0FA"/>
                </a:solidFill>
                <a:effectLst/>
                <a:uFillTx/>
                <a:latin typeface="Aptos"/>
              </a:rPr>
              <a:t>Measure growth, interpret query work, manage indexes, prove restore readiness, and design actionable alerts.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Rectangle 5"/>
          <p:cNvSpPr/>
          <p:nvPr/>
        </p:nvSpPr>
        <p:spPr>
          <a:xfrm>
            <a:off x="804600" y="5349240"/>
            <a:ext cx="1828440" cy="453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720" rIns="90000" bIns="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9" name="TextBox 6"/>
          <p:cNvSpPr/>
          <p:nvPr/>
        </p:nvSpPr>
        <p:spPr>
          <a:xfrm>
            <a:off x="804600" y="5596200"/>
            <a:ext cx="7772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Evidence first • change only what the evidence supports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51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Module 2 objectives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2" name="TextBox 3"/>
          <p:cNvSpPr/>
          <p:nvPr/>
        </p:nvSpPr>
        <p:spPr>
          <a:xfrm>
            <a:off x="594360" y="749880"/>
            <a:ext cx="10881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MONGODB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Rectangle 4"/>
          <p:cNvSpPr/>
          <p:nvPr/>
        </p:nvSpPr>
        <p:spPr>
          <a:xfrm>
            <a:off x="594360" y="105156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54" name="TextBox 5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TextBox 6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37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TextBox 7"/>
          <p:cNvSpPr/>
          <p:nvPr/>
        </p:nvSpPr>
        <p:spPr>
          <a:xfrm>
            <a:off x="685800" y="1325880"/>
            <a:ext cx="10789560" cy="507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18360" rIns="45720" bIns="45000" anchor="t">
            <a:spAutoFit/>
          </a:bodyPr>
          <a:p>
            <a:pPr defTabSz="457200">
              <a:lnSpc>
                <a:spcPct val="105000"/>
              </a:lnSpc>
              <a:spcAft>
                <a:spcPts val="1301"/>
              </a:spcAft>
            </a:pPr>
            <a:r>
              <a:rPr lang="en-US" sz="20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Measure database, collection, index, and storage growth at two points.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301"/>
              </a:spcAft>
            </a:pPr>
            <a:r>
              <a:rPr lang="en-US" sz="20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Correlate profiler evidence with executionStats and query shape.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301"/>
              </a:spcAft>
            </a:pPr>
            <a:r>
              <a:rPr lang="en-US" sz="20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Propose, validate, monitor, and roll back an index change.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301"/>
              </a:spcAft>
            </a:pPr>
            <a:r>
              <a:rPr lang="en-US" sz="20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Prove writable-primary state, replica status, backup creation, and isolated restore.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301"/>
              </a:spcAft>
            </a:pPr>
            <a:r>
              <a:rPr lang="en-US" sz="20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Translate MongoDB signals into alerts with duration, owner, and first action.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58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MongoDB growth signals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Rectangle 3"/>
          <p:cNvSpPr/>
          <p:nvPr/>
        </p:nvSpPr>
        <p:spPr>
          <a:xfrm>
            <a:off x="594360" y="86868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60" name="TextBox 4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TextBox 5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38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62" name="Table 6"/>
          <p:cNvGraphicFramePr/>
          <p:nvPr/>
        </p:nvGraphicFramePr>
        <p:xfrm>
          <a:off x="603360" y="1234440"/>
          <a:ext cx="10972440" cy="4480560"/>
        </p:xfrm>
        <a:graphic>
          <a:graphicData uri="http://schemas.openxmlformats.org/drawingml/2006/table">
            <a:tbl>
              <a:tblPr/>
              <a:tblGrid>
                <a:gridCol w="2011680"/>
                <a:gridCol w="4754880"/>
                <a:gridCol w="4206240"/>
              </a:tblGrid>
              <a:tr h="640080">
                <a:tc>
                  <a:txBody>
                    <a:bodyPr lIns="73080" r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Signal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74E"/>
                    </a:solidFill>
                  </a:tcPr>
                </a:tc>
                <a:tc>
                  <a:txBody>
                    <a:bodyPr lIns="73080" r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What it represents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74E"/>
                    </a:solidFill>
                  </a:tcPr>
                </a:tc>
                <a:tc>
                  <a:txBody>
                    <a:bodyPr lIns="73080" r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Operational use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74E"/>
                    </a:solidFill>
                  </a:tcPr>
                </a:tc>
              </a:tr>
              <a:tr h="64008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count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Logical document count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Business workload volume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size / dataSize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Logical document bytes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Data growth rate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  <a:tr h="64008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storageSize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Allocated collection storage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Allocation and compression behavior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totalIndexSize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Bytes used by all indexes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Index cost and capacity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  <a:tr h="64008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Filesystem usage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Journal, oplog, indexes, metadata, free space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Time until volume limit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Process stats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CPU, memory, network, block I/O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Resource pressure correlation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63" name="Rounded Rectangle 7"/>
          <p:cNvSpPr/>
          <p:nvPr/>
        </p:nvSpPr>
        <p:spPr>
          <a:xfrm>
            <a:off x="777240" y="5806440"/>
            <a:ext cx="10606680" cy="411120"/>
          </a:xfrm>
          <a:prstGeom prst="roundRect">
            <a:avLst>
              <a:gd name="adj" fmla="val 16667"/>
            </a:avLst>
          </a:prstGeom>
          <a:solidFill>
            <a:srgbClr val="F2F9F6"/>
          </a:solidFill>
          <a:ln>
            <a:solidFill>
              <a:srgbClr val="1F7A5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64" name="TextBox 8"/>
          <p:cNvSpPr/>
          <p:nvPr/>
        </p:nvSpPr>
        <p:spPr>
          <a:xfrm>
            <a:off x="941760" y="5897880"/>
            <a:ext cx="10277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1F7A56"/>
                </a:solidFill>
                <a:effectLst/>
                <a:uFillTx/>
                <a:latin typeface="Aptos"/>
              </a:rPr>
              <a:t>A point-in-time size is not a trend. Measure a delta and forecast against an operational limit.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66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Measure growth at two points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7" name="TextBox 3"/>
          <p:cNvSpPr/>
          <p:nvPr/>
        </p:nvSpPr>
        <p:spPr>
          <a:xfrm>
            <a:off x="594360" y="749880"/>
            <a:ext cx="10881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MONGODB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Rectangle 4"/>
          <p:cNvSpPr/>
          <p:nvPr/>
        </p:nvSpPr>
        <p:spPr>
          <a:xfrm>
            <a:off x="594360" y="105156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69" name="TextBox 5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0" name="TextBox 6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39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1" name="Rounded Rectangle 7"/>
          <p:cNvSpPr/>
          <p:nvPr/>
        </p:nvSpPr>
        <p:spPr>
          <a:xfrm>
            <a:off x="685800" y="1298520"/>
            <a:ext cx="10789560" cy="3565800"/>
          </a:xfrm>
          <a:prstGeom prst="roundRect">
            <a:avLst>
              <a:gd name="adj" fmla="val 16667"/>
            </a:avLst>
          </a:prstGeom>
          <a:solidFill>
            <a:srgbClr val="F8F9FB"/>
          </a:solidFill>
          <a:ln>
            <a:solidFill>
              <a:srgbClr val="CDD2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72" name="TextBox 8"/>
          <p:cNvSpPr/>
          <p:nvPr/>
        </p:nvSpPr>
        <p:spPr>
          <a:xfrm>
            <a:off x="887040" y="1417320"/>
            <a:ext cx="103870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COMMAND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3" name="TextBox 9"/>
          <p:cNvSpPr/>
          <p:nvPr/>
        </p:nvSpPr>
        <p:spPr>
          <a:xfrm>
            <a:off x="887040" y="1755720"/>
            <a:ext cx="10387080" cy="298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# Baseline at 100 documents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python demo/monitor_mongodb.py snapshot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python demo/inspect_mongodb.py stats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# Add and process 400 more orders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python demo/producer.py --repeat 20 --interval-ms 0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python demo/consumer.py --max-messages 400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python demo/monitor_mongodb.py snapshot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4" name="TextBox 10"/>
          <p:cNvSpPr/>
          <p:nvPr/>
        </p:nvSpPr>
        <p:spPr>
          <a:xfrm>
            <a:off x="804600" y="5120640"/>
            <a:ext cx="10515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18360" rIns="45720" bIns="45000" anchor="t">
            <a:spAutoFit/>
          </a:bodyPr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lang="en-US" sz="16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Calculate document, logical-data, allocated-storage, and index-size deltas.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lang="en-US" sz="16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Forecast time to a defined disk threshold; do not equate collection bytes with filesystem use.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76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Slow-query evidence: latency is not enough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7" name="TextBox 3"/>
          <p:cNvSpPr/>
          <p:nvPr/>
        </p:nvSpPr>
        <p:spPr>
          <a:xfrm>
            <a:off x="594360" y="749880"/>
            <a:ext cx="10881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MONGODB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8" name="Rectangle 4"/>
          <p:cNvSpPr/>
          <p:nvPr/>
        </p:nvSpPr>
        <p:spPr>
          <a:xfrm>
            <a:off x="594360" y="105156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79" name="TextBox 5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0" name="TextBox 6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40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Rounded Rectangle 7"/>
          <p:cNvSpPr/>
          <p:nvPr/>
        </p:nvSpPr>
        <p:spPr>
          <a:xfrm>
            <a:off x="640080" y="1298520"/>
            <a:ext cx="3456000" cy="4251600"/>
          </a:xfrm>
          <a:prstGeom prst="roundRect">
            <a:avLst>
              <a:gd name="adj" fmla="val 16667"/>
            </a:avLst>
          </a:prstGeom>
          <a:solidFill>
            <a:srgbClr val="F4F6F8"/>
          </a:solidFill>
          <a:ln>
            <a:solidFill>
              <a:srgbClr val="DCE1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82" name="Rectangle 8"/>
          <p:cNvSpPr/>
          <p:nvPr/>
        </p:nvSpPr>
        <p:spPr>
          <a:xfrm>
            <a:off x="640080" y="1298520"/>
            <a:ext cx="72720" cy="425160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83" name="TextBox 9"/>
          <p:cNvSpPr/>
          <p:nvPr/>
        </p:nvSpPr>
        <p:spPr>
          <a:xfrm>
            <a:off x="868680" y="1463040"/>
            <a:ext cx="30445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Capture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4" name="TextBox 10"/>
          <p:cNvSpPr/>
          <p:nvPr/>
        </p:nvSpPr>
        <p:spPr>
          <a:xfrm>
            <a:off x="841320" y="1938600"/>
            <a:ext cx="3071880" cy="347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18360" rIns="45720" bIns="45000" anchor="t">
            <a:spAutoFit/>
          </a:bodyPr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Enable profiling briefly and deliberately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Capture namespace, command/query shape, timestamp, and runtime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Disable profiling immediately after the test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Rounded Rectangle 11"/>
          <p:cNvSpPr/>
          <p:nvPr/>
        </p:nvSpPr>
        <p:spPr>
          <a:xfrm>
            <a:off x="4352400" y="1298520"/>
            <a:ext cx="3456000" cy="4251600"/>
          </a:xfrm>
          <a:prstGeom prst="roundRect">
            <a:avLst>
              <a:gd name="adj" fmla="val 16667"/>
            </a:avLst>
          </a:prstGeom>
          <a:solidFill>
            <a:srgbClr val="F4F6F8"/>
          </a:solidFill>
          <a:ln>
            <a:solidFill>
              <a:srgbClr val="DCE1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86" name="Rectangle 12"/>
          <p:cNvSpPr/>
          <p:nvPr/>
        </p:nvSpPr>
        <p:spPr>
          <a:xfrm>
            <a:off x="4352400" y="1298520"/>
            <a:ext cx="72720" cy="4251600"/>
          </a:xfrm>
          <a:prstGeom prst="rect">
            <a:avLst/>
          </a:prstGeom>
          <a:solidFill>
            <a:srgbClr val="1F7A5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87" name="TextBox 13"/>
          <p:cNvSpPr/>
          <p:nvPr/>
        </p:nvSpPr>
        <p:spPr>
          <a:xfrm>
            <a:off x="4581000" y="1463040"/>
            <a:ext cx="30445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F7A56"/>
                </a:solidFill>
                <a:effectLst/>
                <a:uFillTx/>
                <a:latin typeface="Aptos"/>
              </a:rPr>
              <a:t>Explain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8" name="TextBox 14"/>
          <p:cNvSpPr/>
          <p:nvPr/>
        </p:nvSpPr>
        <p:spPr>
          <a:xfrm>
            <a:off x="4553640" y="1938600"/>
            <a:ext cx="3071880" cy="347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18360" rIns="45720" bIns="45000" anchor="t">
            <a:spAutoFit/>
          </a:bodyPr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Read winning plan stages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Compare totalDocsExamined and nReturned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Compare totalKeysExamined and returned rows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Correlate with the same query shape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9" name="Rounded Rectangle 15"/>
          <p:cNvSpPr/>
          <p:nvPr/>
        </p:nvSpPr>
        <p:spPr>
          <a:xfrm>
            <a:off x="8065080" y="1298520"/>
            <a:ext cx="3456000" cy="4251600"/>
          </a:xfrm>
          <a:prstGeom prst="roundRect">
            <a:avLst>
              <a:gd name="adj" fmla="val 16667"/>
            </a:avLst>
          </a:prstGeom>
          <a:solidFill>
            <a:srgbClr val="F4F6F8"/>
          </a:solidFill>
          <a:ln>
            <a:solidFill>
              <a:srgbClr val="DCE1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0" name="Rectangle 16"/>
          <p:cNvSpPr/>
          <p:nvPr/>
        </p:nvSpPr>
        <p:spPr>
          <a:xfrm>
            <a:off x="8065080" y="1298520"/>
            <a:ext cx="72720" cy="4251600"/>
          </a:xfrm>
          <a:prstGeom prst="rect">
            <a:avLst/>
          </a:prstGeom>
          <a:solidFill>
            <a:srgbClr val="B4691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1" name="TextBox 17"/>
          <p:cNvSpPr/>
          <p:nvPr/>
        </p:nvSpPr>
        <p:spPr>
          <a:xfrm>
            <a:off x="8293680" y="1463040"/>
            <a:ext cx="30445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B46914"/>
                </a:solidFill>
                <a:effectLst/>
                <a:uFillTx/>
                <a:latin typeface="Aptos"/>
              </a:rPr>
              <a:t>Interpret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TextBox 18"/>
          <p:cNvSpPr/>
          <p:nvPr/>
        </p:nvSpPr>
        <p:spPr>
          <a:xfrm>
            <a:off x="8266320" y="1938600"/>
            <a:ext cx="3071880" cy="347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18360" rIns="45720" bIns="45000" anchor="t">
            <a:spAutoFit/>
          </a:bodyPr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COLLSCAN + high examined:return = inefficient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Fast execution on a small dataset can still be wasteful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A log miss does not override profiler/explain evidence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4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Capture and read a query regression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5" name="TextBox 3"/>
          <p:cNvSpPr/>
          <p:nvPr/>
        </p:nvSpPr>
        <p:spPr>
          <a:xfrm>
            <a:off x="594360" y="749880"/>
            <a:ext cx="10881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MONGODB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6" name="Rectangle 4"/>
          <p:cNvSpPr/>
          <p:nvPr/>
        </p:nvSpPr>
        <p:spPr>
          <a:xfrm>
            <a:off x="594360" y="105156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7" name="TextBox 5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8" name="TextBox 6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41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9" name="Rounded Rectangle 7"/>
          <p:cNvSpPr/>
          <p:nvPr/>
        </p:nvSpPr>
        <p:spPr>
          <a:xfrm>
            <a:off x="685800" y="1298520"/>
            <a:ext cx="10789560" cy="4251600"/>
          </a:xfrm>
          <a:prstGeom prst="roundRect">
            <a:avLst>
              <a:gd name="adj" fmla="val 16667"/>
            </a:avLst>
          </a:prstGeom>
          <a:solidFill>
            <a:srgbClr val="F8F9FB"/>
          </a:solidFill>
          <a:ln>
            <a:solidFill>
              <a:srgbClr val="CDD2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0" name="TextBox 8"/>
          <p:cNvSpPr/>
          <p:nvPr/>
        </p:nvSpPr>
        <p:spPr>
          <a:xfrm>
            <a:off x="887040" y="1417320"/>
            <a:ext cx="103870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COMMAND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TextBox 9"/>
          <p:cNvSpPr/>
          <p:nvPr/>
        </p:nvSpPr>
        <p:spPr>
          <a:xfrm>
            <a:off x="887040" y="1755720"/>
            <a:ext cx="10387080" cy="366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python demo/inspect_mongodb.py drop-index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mongosh ... --eval 'db.setProfilingLevel(1, {slowms: 0, sampleRate: 1})'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python demo/inspect_mongodb.py query --customer-id CUST-1001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mongosh ... --eval 'db.setProfilingLevel(0)'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python demo/monitor_mongodb.py profile --limit 5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python demo/inspect_mongodb.py query --customer-id CUST-1001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2" name="Rounded Rectangle 10"/>
          <p:cNvSpPr/>
          <p:nvPr/>
        </p:nvSpPr>
        <p:spPr>
          <a:xfrm>
            <a:off x="777240" y="5696640"/>
            <a:ext cx="10606680" cy="420120"/>
          </a:xfrm>
          <a:prstGeom prst="roundRect">
            <a:avLst>
              <a:gd name="adj" fmla="val 16667"/>
            </a:avLst>
          </a:prstGeom>
          <a:solidFill>
            <a:srgbClr val="F2F9F6"/>
          </a:solidFill>
          <a:ln>
            <a:solidFill>
              <a:srgbClr val="B4691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3" name="TextBox 11"/>
          <p:cNvSpPr/>
          <p:nvPr/>
        </p:nvSpPr>
        <p:spPr>
          <a:xfrm>
            <a:off x="941760" y="5788080"/>
            <a:ext cx="1027764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B46914"/>
                </a:solidFill>
                <a:effectLst/>
                <a:uFillTx/>
                <a:latin typeface="Aptos"/>
              </a:rPr>
              <a:t>Expected evidence: COLLSCAN, all or many documents examined, and zero index keys.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5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Index maintenance as a controlled change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6" name="TextBox 3"/>
          <p:cNvSpPr/>
          <p:nvPr/>
        </p:nvSpPr>
        <p:spPr>
          <a:xfrm>
            <a:off x="594360" y="749880"/>
            <a:ext cx="10881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MONGODB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7" name="Rectangle 4"/>
          <p:cNvSpPr/>
          <p:nvPr/>
        </p:nvSpPr>
        <p:spPr>
          <a:xfrm>
            <a:off x="594360" y="105156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8" name="TextBox 5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TextBox 6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42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Rounded Rectangle 7"/>
          <p:cNvSpPr/>
          <p:nvPr/>
        </p:nvSpPr>
        <p:spPr>
          <a:xfrm>
            <a:off x="567000" y="1664280"/>
            <a:ext cx="1919880" cy="2880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2B6C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1" name="Rounded Rectangle 8"/>
          <p:cNvSpPr/>
          <p:nvPr/>
        </p:nvSpPr>
        <p:spPr>
          <a:xfrm>
            <a:off x="567000" y="1664280"/>
            <a:ext cx="1919880" cy="5299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>
            <a:solidFill>
              <a:srgbClr val="2B6C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2" name="TextBox 9"/>
          <p:cNvSpPr/>
          <p:nvPr/>
        </p:nvSpPr>
        <p:spPr>
          <a:xfrm>
            <a:off x="640080" y="1792080"/>
            <a:ext cx="17737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Baseline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3" name="TextBox 10"/>
          <p:cNvSpPr/>
          <p:nvPr/>
        </p:nvSpPr>
        <p:spPr>
          <a:xfrm>
            <a:off x="722520" y="2450520"/>
            <a:ext cx="1608840" cy="169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4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Correct results; COLLSCAN; examined:return; index bytes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4" name="Rounded Rectangle 11"/>
          <p:cNvSpPr/>
          <p:nvPr/>
        </p:nvSpPr>
        <p:spPr>
          <a:xfrm>
            <a:off x="2880360" y="1664280"/>
            <a:ext cx="1919880" cy="2880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2B6C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5" name="Rounded Rectangle 12"/>
          <p:cNvSpPr/>
          <p:nvPr/>
        </p:nvSpPr>
        <p:spPr>
          <a:xfrm>
            <a:off x="2880360" y="1664280"/>
            <a:ext cx="1919880" cy="5299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>
            <a:solidFill>
              <a:srgbClr val="2B6C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6" name="TextBox 13"/>
          <p:cNvSpPr/>
          <p:nvPr/>
        </p:nvSpPr>
        <p:spPr>
          <a:xfrm>
            <a:off x="2953440" y="1792080"/>
            <a:ext cx="17737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Proposal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7" name="TextBox 14"/>
          <p:cNvSpPr/>
          <p:nvPr/>
        </p:nvSpPr>
        <p:spPr>
          <a:xfrm>
            <a:off x="3035880" y="2450520"/>
            <a:ext cx="1608840" cy="169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4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{customer_id: 1}; name customer_id_1; benefit and cost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Rounded Rectangle 15"/>
          <p:cNvSpPr/>
          <p:nvPr/>
        </p:nvSpPr>
        <p:spPr>
          <a:xfrm>
            <a:off x="5193720" y="1664280"/>
            <a:ext cx="1919880" cy="2880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2B6C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9" name="Rounded Rectangle 16"/>
          <p:cNvSpPr/>
          <p:nvPr/>
        </p:nvSpPr>
        <p:spPr>
          <a:xfrm>
            <a:off x="5193720" y="1664280"/>
            <a:ext cx="1919880" cy="5299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>
            <a:solidFill>
              <a:srgbClr val="2B6C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20" name="TextBox 17"/>
          <p:cNvSpPr/>
          <p:nvPr/>
        </p:nvSpPr>
        <p:spPr>
          <a:xfrm>
            <a:off x="5266800" y="1792080"/>
            <a:ext cx="17737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Apply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1" name="TextBox 18"/>
          <p:cNvSpPr/>
          <p:nvPr/>
        </p:nvSpPr>
        <p:spPr>
          <a:xfrm>
            <a:off x="5349240" y="2450520"/>
            <a:ext cx="1608840" cy="169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4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Create index under approved scope and window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2" name="Rounded Rectangle 19"/>
          <p:cNvSpPr/>
          <p:nvPr/>
        </p:nvSpPr>
        <p:spPr>
          <a:xfrm>
            <a:off x="7507080" y="1664280"/>
            <a:ext cx="1919880" cy="2880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2B6C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23" name="Rounded Rectangle 20"/>
          <p:cNvSpPr/>
          <p:nvPr/>
        </p:nvSpPr>
        <p:spPr>
          <a:xfrm>
            <a:off x="7507080" y="1664280"/>
            <a:ext cx="1919880" cy="5299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>
            <a:solidFill>
              <a:srgbClr val="2B6C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24" name="TextBox 21"/>
          <p:cNvSpPr/>
          <p:nvPr/>
        </p:nvSpPr>
        <p:spPr>
          <a:xfrm>
            <a:off x="7580520" y="1792080"/>
            <a:ext cx="17737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Validate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5" name="TextBox 22"/>
          <p:cNvSpPr/>
          <p:nvPr/>
        </p:nvSpPr>
        <p:spPr>
          <a:xfrm>
            <a:off x="7662600" y="2450520"/>
            <a:ext cx="1608840" cy="169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4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IXSCAN/FETCH; fewer documents examined; correct results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6" name="Rounded Rectangle 23"/>
          <p:cNvSpPr/>
          <p:nvPr/>
        </p:nvSpPr>
        <p:spPr>
          <a:xfrm>
            <a:off x="9820800" y="1664280"/>
            <a:ext cx="1919880" cy="2880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2B6C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27" name="Rounded Rectangle 24"/>
          <p:cNvSpPr/>
          <p:nvPr/>
        </p:nvSpPr>
        <p:spPr>
          <a:xfrm>
            <a:off x="9820800" y="1664280"/>
            <a:ext cx="1919880" cy="529920"/>
          </a:xfrm>
          <a:prstGeom prst="roundRect">
            <a:avLst>
              <a:gd name="adj" fmla="val 16667"/>
            </a:avLst>
          </a:prstGeom>
          <a:solidFill>
            <a:srgbClr val="2B6CB0"/>
          </a:solidFill>
          <a:ln>
            <a:solidFill>
              <a:srgbClr val="2B6C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28" name="TextBox 25"/>
          <p:cNvSpPr/>
          <p:nvPr/>
        </p:nvSpPr>
        <p:spPr>
          <a:xfrm>
            <a:off x="9893880" y="1792080"/>
            <a:ext cx="17737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Observe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9" name="TextBox 26"/>
          <p:cNvSpPr/>
          <p:nvPr/>
        </p:nvSpPr>
        <p:spPr>
          <a:xfrm>
            <a:off x="9975960" y="2450520"/>
            <a:ext cx="1608840" cy="169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4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$indexStats usage; storage/write cost; rollback boundary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0" name="Rounded Rectangle 27"/>
          <p:cNvSpPr/>
          <p:nvPr/>
        </p:nvSpPr>
        <p:spPr>
          <a:xfrm>
            <a:off x="777240" y="5230440"/>
            <a:ext cx="10606680" cy="502560"/>
          </a:xfrm>
          <a:prstGeom prst="roundRect">
            <a:avLst>
              <a:gd name="adj" fmla="val 16667"/>
            </a:avLst>
          </a:prstGeom>
          <a:solidFill>
            <a:srgbClr val="F2F9F6"/>
          </a:solidFill>
          <a:ln>
            <a:solidFill>
              <a:srgbClr val="1F7A5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31" name="TextBox 28"/>
          <p:cNvSpPr/>
          <p:nvPr/>
        </p:nvSpPr>
        <p:spPr>
          <a:xfrm>
            <a:off x="941760" y="5321880"/>
            <a:ext cx="10277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1F7A56"/>
                </a:solidFill>
                <a:effectLst/>
                <a:uFillTx/>
                <a:latin typeface="Aptos"/>
              </a:rPr>
              <a:t>Review unused indexes over time; do not delete automatically from one zero-use snapshot.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33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Replication and availability evidence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Rectangle 3"/>
          <p:cNvSpPr/>
          <p:nvPr/>
        </p:nvSpPr>
        <p:spPr>
          <a:xfrm>
            <a:off x="594360" y="86868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35" name="TextBox 4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6" name="TextBox 5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43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7" name="Rounded Rectangle 6"/>
          <p:cNvSpPr/>
          <p:nvPr/>
        </p:nvSpPr>
        <p:spPr>
          <a:xfrm>
            <a:off x="621720" y="1234440"/>
            <a:ext cx="5412960" cy="4891680"/>
          </a:xfrm>
          <a:prstGeom prst="roundRect">
            <a:avLst>
              <a:gd name="adj" fmla="val 16667"/>
            </a:avLst>
          </a:prstGeom>
          <a:solidFill>
            <a:srgbClr val="F4F6F8"/>
          </a:solidFill>
          <a:ln>
            <a:solidFill>
              <a:srgbClr val="DCE1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38" name="Rectangle 7"/>
          <p:cNvSpPr/>
          <p:nvPr/>
        </p:nvSpPr>
        <p:spPr>
          <a:xfrm>
            <a:off x="621720" y="1234440"/>
            <a:ext cx="72720" cy="489168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39" name="TextBox 8"/>
          <p:cNvSpPr/>
          <p:nvPr/>
        </p:nvSpPr>
        <p:spPr>
          <a:xfrm>
            <a:off x="850320" y="1398960"/>
            <a:ext cx="50014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What to inspect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0" name="TextBox 9"/>
          <p:cNvSpPr/>
          <p:nvPr/>
        </p:nvSpPr>
        <p:spPr>
          <a:xfrm>
            <a:off x="822960" y="1874520"/>
            <a:ext cx="5028840" cy="411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18360" rIns="45720" bIns="45000" anchor="t">
            <a:spAutoFit/>
          </a:bodyPr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Replica-set name and expected members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isWritablePrimary / member state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Member health and optime movement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Replication lag and elections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Connections and write errors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1" name="Rounded Rectangle 10"/>
          <p:cNvSpPr/>
          <p:nvPr/>
        </p:nvSpPr>
        <p:spPr>
          <a:xfrm>
            <a:off x="6163200" y="1234440"/>
            <a:ext cx="5412960" cy="4891680"/>
          </a:xfrm>
          <a:prstGeom prst="roundRect">
            <a:avLst>
              <a:gd name="adj" fmla="val 16667"/>
            </a:avLst>
          </a:prstGeom>
          <a:solidFill>
            <a:srgbClr val="F4F6F8"/>
          </a:solidFill>
          <a:ln>
            <a:solidFill>
              <a:srgbClr val="DCE1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42" name="Rectangle 11"/>
          <p:cNvSpPr/>
          <p:nvPr/>
        </p:nvSpPr>
        <p:spPr>
          <a:xfrm>
            <a:off x="6163200" y="1234440"/>
            <a:ext cx="72720" cy="4891680"/>
          </a:xfrm>
          <a:prstGeom prst="rect">
            <a:avLst/>
          </a:prstGeom>
          <a:solidFill>
            <a:srgbClr val="B4691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43" name="TextBox 12"/>
          <p:cNvSpPr/>
          <p:nvPr/>
        </p:nvSpPr>
        <p:spPr>
          <a:xfrm>
            <a:off x="6391800" y="1398960"/>
            <a:ext cx="50014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B46914"/>
                </a:solidFill>
                <a:effectLst/>
                <a:uFillTx/>
                <a:latin typeface="Aptos"/>
              </a:rPr>
              <a:t>Lab limitation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4" name="TextBox 13"/>
          <p:cNvSpPr/>
          <p:nvPr/>
        </p:nvSpPr>
        <p:spPr>
          <a:xfrm>
            <a:off x="6364080" y="1874520"/>
            <a:ext cx="5028840" cy="411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18360" rIns="45720" bIns="45000" anchor="t">
            <a:spAutoFit/>
          </a:bodyPr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rs0 has one PRIMARY member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It accepts writes and supports change streams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It has no redundant copy or failover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A green single node is still a major availability risk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Production maintenance requires healthy redundancy first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46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Backup readiness requires a tested restore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7" name="TextBox 3"/>
          <p:cNvSpPr/>
          <p:nvPr/>
        </p:nvSpPr>
        <p:spPr>
          <a:xfrm>
            <a:off x="594360" y="749880"/>
            <a:ext cx="10881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MONGODB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8" name="Rectangle 4"/>
          <p:cNvSpPr/>
          <p:nvPr/>
        </p:nvSpPr>
        <p:spPr>
          <a:xfrm>
            <a:off x="594360" y="105156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49" name="TextBox 5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0" name="TextBox 6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44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1" name="Rounded Rectangle 7"/>
          <p:cNvSpPr/>
          <p:nvPr/>
        </p:nvSpPr>
        <p:spPr>
          <a:xfrm>
            <a:off x="685800" y="1234440"/>
            <a:ext cx="10789560" cy="3428640"/>
          </a:xfrm>
          <a:prstGeom prst="roundRect">
            <a:avLst>
              <a:gd name="adj" fmla="val 16667"/>
            </a:avLst>
          </a:prstGeom>
          <a:solidFill>
            <a:srgbClr val="F8F9FB"/>
          </a:solidFill>
          <a:ln>
            <a:solidFill>
              <a:srgbClr val="CDD2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52" name="TextBox 8"/>
          <p:cNvSpPr/>
          <p:nvPr/>
        </p:nvSpPr>
        <p:spPr>
          <a:xfrm>
            <a:off x="887040" y="1353240"/>
            <a:ext cx="103870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COMMAND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3" name="TextBox 9"/>
          <p:cNvSpPr/>
          <p:nvPr/>
        </p:nvSpPr>
        <p:spPr>
          <a:xfrm>
            <a:off x="887040" y="1691640"/>
            <a:ext cx="10387080" cy="284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export BACKUP_NAME='workshop-&lt;UTC timestamp&gt;.archive'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mongodump --uri 'mongodb://localhost:27017/?replicaSet=rs0&amp;directConnection=true' \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  --db workshop --archive="/backups/$BACKUP_NAME" --gzip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mongorestore --uri 'mongodb://localhost:27017/?replicaSet=rs0&amp;directConnection=true' \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  --archive="/backups/$BACKUP_NAME" --gzip \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  --nsFrom='workshop.*' --nsTo='workshop_restore.*' --drop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4" name="TextBox 10"/>
          <p:cNvSpPr/>
          <p:nvPr/>
        </p:nvSpPr>
        <p:spPr>
          <a:xfrm>
            <a:off x="768240" y="4864680"/>
            <a:ext cx="1056096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18360" rIns="45720" bIns="45000" anchor="t">
            <a:spAutoFit/>
          </a:bodyPr>
          <a:p>
            <a:pPr defTabSz="457200">
              <a:lnSpc>
                <a:spcPct val="105000"/>
              </a:lnSpc>
              <a:spcAft>
                <a:spcPts val="300"/>
              </a:spcAft>
            </a:pPr>
            <a:r>
              <a:rPr lang="en-US" sz="15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Verify archive exists and is nonzero; restore with zero failures into an isolated namespace.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300"/>
              </a:spcAft>
            </a:pPr>
            <a:r>
              <a:rPr lang="en-US" sz="15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Compare source/restored counts and required indexes; then remove only workshop_restore.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300"/>
              </a:spcAft>
            </a:pPr>
            <a:r>
              <a:rPr lang="en-US" sz="15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This local drill does not prove PITR, encryption, off-host copies, retention, or production recovery time.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56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MongoDB capacity review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7" name="TextBox 3"/>
          <p:cNvSpPr/>
          <p:nvPr/>
        </p:nvSpPr>
        <p:spPr>
          <a:xfrm>
            <a:off x="594360" y="749880"/>
            <a:ext cx="10881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MONGODB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8" name="Rectangle 4"/>
          <p:cNvSpPr/>
          <p:nvPr/>
        </p:nvSpPr>
        <p:spPr>
          <a:xfrm>
            <a:off x="594360" y="105156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59" name="TextBox 5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0" name="TextBox 6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45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1" name="TextBox 7"/>
          <p:cNvSpPr/>
          <p:nvPr/>
        </p:nvSpPr>
        <p:spPr>
          <a:xfrm>
            <a:off x="685800" y="1353240"/>
            <a:ext cx="10789560" cy="507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18360" rIns="45720" bIns="45000" anchor="t">
            <a:spAutoFit/>
          </a:bodyPr>
          <a:p>
            <a:pPr defTabSz="457200">
              <a:lnSpc>
                <a:spcPct val="105000"/>
              </a:lnSpc>
              <a:spcAft>
                <a:spcPts val="1301"/>
              </a:spcAft>
            </a:pPr>
            <a:r>
              <a:rPr lang="en-US" sz="19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Measure collection, index, oplog, backup, and filesystem growth separately.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301"/>
              </a:spcAft>
            </a:pPr>
            <a:r>
              <a:rPr lang="en-US" sz="19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Track connections, cache and memory behavior, operation rates, and write/read latency.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301"/>
              </a:spcAft>
            </a:pPr>
            <a:r>
              <a:rPr lang="en-US" sz="19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Calculate remaining capacity and time-to-limit using a representative rate, not a single snapshot.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301"/>
              </a:spcAft>
            </a:pPr>
            <a:r>
              <a:rPr lang="en-US" sz="19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Escalate when the forecast enters the time needed to investigate, approve, and add capacity.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301"/>
              </a:spcAft>
            </a:pPr>
            <a:r>
              <a:rPr lang="en-US" sz="19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Preserve evidence before emergency cleanup; never delete data, indexes, or logs reflexively.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2" name="Rounded Rectangle 8"/>
          <p:cNvSpPr/>
          <p:nvPr/>
        </p:nvSpPr>
        <p:spPr>
          <a:xfrm>
            <a:off x="777240" y="5532120"/>
            <a:ext cx="10606680" cy="502560"/>
          </a:xfrm>
          <a:prstGeom prst="roundRect">
            <a:avLst>
              <a:gd name="adj" fmla="val 16667"/>
            </a:avLst>
          </a:prstGeom>
          <a:solidFill>
            <a:srgbClr val="F2F9F6"/>
          </a:solidFill>
          <a:ln>
            <a:solidFill>
              <a:srgbClr val="B4691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63" name="TextBox 9"/>
          <p:cNvSpPr/>
          <p:nvPr/>
        </p:nvSpPr>
        <p:spPr>
          <a:xfrm>
            <a:off x="941760" y="5623560"/>
            <a:ext cx="10277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B46914"/>
                </a:solidFill>
                <a:effectLst/>
                <a:uFillTx/>
                <a:latin typeface="Aptos"/>
              </a:rPr>
              <a:t>Largest lab risk: the only database member is also the only copy and the only write target.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65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MongoDB alert design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6" name="Rectangle 3"/>
          <p:cNvSpPr/>
          <p:nvPr/>
        </p:nvSpPr>
        <p:spPr>
          <a:xfrm>
            <a:off x="594360" y="86868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67" name="TextBox 4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8" name="TextBox 5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46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69" name="Table 6"/>
          <p:cNvGraphicFramePr/>
          <p:nvPr/>
        </p:nvGraphicFramePr>
        <p:xfrm>
          <a:off x="603360" y="1234440"/>
          <a:ext cx="10972440" cy="4480560"/>
        </p:xfrm>
        <a:graphic>
          <a:graphicData uri="http://schemas.openxmlformats.org/drawingml/2006/table">
            <a:tbl>
              <a:tblPr/>
              <a:tblGrid>
                <a:gridCol w="1920240"/>
                <a:gridCol w="4846320"/>
                <a:gridCol w="4206240"/>
              </a:tblGrid>
              <a:tr h="640080">
                <a:tc>
                  <a:txBody>
                    <a:bodyPr lIns="73080" r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2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Signal</a:t>
                      </a:r>
                      <a:endParaRPr lang="en-US" sz="132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74E"/>
                    </a:solidFill>
                  </a:tcPr>
                </a:tc>
                <a:tc>
                  <a:txBody>
                    <a:bodyPr lIns="73080" r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2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Actionable condition</a:t>
                      </a:r>
                      <a:endParaRPr lang="en-US" sz="132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74E"/>
                    </a:solidFill>
                  </a:tcPr>
                </a:tc>
                <a:tc>
                  <a:txBody>
                    <a:bodyPr lIns="73080" r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2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Owner / first action</a:t>
                      </a:r>
                      <a:endParaRPr lang="en-US" sz="132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74E"/>
                    </a:solidFill>
                  </a:tcPr>
                </a:tc>
              </a:tr>
              <a:tr h="64008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Writable primary</a:t>
                      </a:r>
                      <a:endParaRPr lang="en-US" sz="13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False when writes are expected</a:t>
                      </a:r>
                      <a:endParaRPr lang="en-US" sz="13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DBA: inspect member state and elections</a:t>
                      </a:r>
                      <a:endParaRPr lang="en-US" sz="13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Disk forecast</a:t>
                      </a:r>
                      <a:endParaRPr lang="en-US" sz="13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Limit crossed inside response window</a:t>
                      </a:r>
                      <a:endParaRPr lang="en-US" sz="13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Platform/DBA: identify growth and add capacity</a:t>
                      </a:r>
                      <a:endParaRPr lang="en-US" sz="13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  <a:tr h="64008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Query efficiency</a:t>
                      </a:r>
                      <a:endParaRPr lang="en-US" sz="13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Sustained high examined:return for important shape</a:t>
                      </a:r>
                      <a:endParaRPr lang="en-US" sz="13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DBA/app: inspect plan and workload</a:t>
                      </a:r>
                      <a:endParaRPr lang="en-US" sz="13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Connections</a:t>
                      </a:r>
                      <a:endParaRPr lang="en-US" sz="13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Sustained use near configured/platform limit</a:t>
                      </a:r>
                      <a:endParaRPr lang="en-US" sz="13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DBA/app: inspect pools and leaks</a:t>
                      </a:r>
                      <a:endParaRPr lang="en-US" sz="13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  <a:tr h="64008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Replication</a:t>
                      </a:r>
                      <a:endParaRPr lang="en-US" sz="13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Unhealthy member or growing optime lag</a:t>
                      </a:r>
                      <a:endParaRPr lang="en-US" sz="13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DBA: protect redundancy before maintenance</a:t>
                      </a:r>
                      <a:endParaRPr lang="en-US" sz="13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Backup readiness</a:t>
                      </a:r>
                      <a:endParaRPr lang="en-US" sz="13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Backup/restore validation overdue or failed</a:t>
                      </a:r>
                      <a:endParaRPr lang="en-US" sz="13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Backup owner: investigate before declaration</a:t>
                      </a:r>
                      <a:endParaRPr lang="en-US" sz="13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570" name="Rounded Rectangle 7"/>
          <p:cNvSpPr/>
          <p:nvPr/>
        </p:nvSpPr>
        <p:spPr>
          <a:xfrm>
            <a:off x="777240" y="5806440"/>
            <a:ext cx="10606680" cy="411120"/>
          </a:xfrm>
          <a:prstGeom prst="roundRect">
            <a:avLst>
              <a:gd name="adj" fmla="val 16667"/>
            </a:avLst>
          </a:prstGeom>
          <a:solidFill>
            <a:srgbClr val="F2F9F6"/>
          </a:solidFill>
          <a:ln>
            <a:solidFill>
              <a:srgbClr val="1F7A5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71" name="TextBox 8"/>
          <p:cNvSpPr/>
          <p:nvPr/>
        </p:nvSpPr>
        <p:spPr>
          <a:xfrm>
            <a:off x="941760" y="5897880"/>
            <a:ext cx="10277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1F7A56"/>
                </a:solidFill>
                <a:effectLst/>
                <a:uFillTx/>
                <a:latin typeface="Aptos"/>
              </a:rPr>
              <a:t>Each alert needs condition, duration, severity, scope, evidence, owner, and first response.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73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Hands-on Lab 1: MongoDB health and query performance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4" name="Rectangle 3"/>
          <p:cNvSpPr/>
          <p:nvPr/>
        </p:nvSpPr>
        <p:spPr>
          <a:xfrm>
            <a:off x="594360" y="86868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75" name="TextBox 4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6" name="TextBox 5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47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7" name="TextBox 6"/>
          <p:cNvSpPr/>
          <p:nvPr/>
        </p:nvSpPr>
        <p:spPr>
          <a:xfrm>
            <a:off x="685800" y="1234440"/>
            <a:ext cx="10789560" cy="507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18360" rIns="45720" bIns="45000" anchor="t">
            <a:spAutoFit/>
          </a:bodyPr>
          <a:p>
            <a:pPr defTabSz="457200">
              <a:lnSpc>
                <a:spcPct val="105000"/>
              </a:lnSpc>
              <a:spcAft>
                <a:spcPts val="1001"/>
              </a:spcAft>
            </a:pPr>
            <a:r>
              <a:rPr lang="en-US" sz="19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Review database, collection, index, and filesystem statistics in the sample environment.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001"/>
              </a:spcAft>
            </a:pPr>
            <a:r>
              <a:rPr lang="en-US" sz="19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Capture an inefficient customer lookup and identify its plan and examined:return ratio.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001"/>
              </a:spcAft>
            </a:pPr>
            <a:r>
              <a:rPr lang="en-US" sz="19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Propose and apply customer_id_1 as a controlled maintenance action.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001"/>
              </a:spcAft>
            </a:pPr>
            <a:r>
              <a:rPr lang="en-US" sz="19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Prove correct results, IXSCAN/FETCH, reduced work, index presence, and usage evidence.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001"/>
              </a:spcAft>
            </a:pPr>
            <a:r>
              <a:rPr lang="en-US" sz="19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Create a short health-check checklist covering availability, performance, capacity, and backup readiness.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8" name="Rounded Rectangle 7"/>
          <p:cNvSpPr/>
          <p:nvPr/>
        </p:nvSpPr>
        <p:spPr>
          <a:xfrm>
            <a:off x="777240" y="5532120"/>
            <a:ext cx="10606680" cy="502560"/>
          </a:xfrm>
          <a:prstGeom prst="roundRect">
            <a:avLst>
              <a:gd name="adj" fmla="val 16667"/>
            </a:avLst>
          </a:prstGeom>
          <a:solidFill>
            <a:srgbClr val="F2F9F6"/>
          </a:solidFill>
          <a:ln>
            <a:solidFill>
              <a:srgbClr val="1F7A5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79" name="TextBox 8"/>
          <p:cNvSpPr/>
          <p:nvPr/>
        </p:nvSpPr>
        <p:spPr>
          <a:xfrm>
            <a:off x="941760" y="5623560"/>
            <a:ext cx="10277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1F7A56"/>
                </a:solidFill>
                <a:effectLst/>
                <a:uFillTx/>
                <a:latin typeface="Aptos"/>
              </a:rPr>
              <a:t>Submit commands, raw evidence, interpretation, rollback, and post-change verification.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81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Lab 1 deliverable checklist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2" name="Rectangle 3"/>
          <p:cNvSpPr/>
          <p:nvPr/>
        </p:nvSpPr>
        <p:spPr>
          <a:xfrm>
            <a:off x="594360" y="86868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83" name="TextBox 4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4" name="TextBox 5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48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85" name="Table 6"/>
          <p:cNvGraphicFramePr/>
          <p:nvPr/>
        </p:nvGraphicFramePr>
        <p:xfrm>
          <a:off x="603360" y="1234440"/>
          <a:ext cx="10972440" cy="4983120"/>
        </p:xfrm>
        <a:graphic>
          <a:graphicData uri="http://schemas.openxmlformats.org/drawingml/2006/table">
            <a:tbl>
              <a:tblPr/>
              <a:tblGrid>
                <a:gridCol w="2286000"/>
                <a:gridCol w="8686800"/>
              </a:tblGrid>
              <a:tr h="711720">
                <a:tc>
                  <a:txBody>
                    <a:bodyPr lIns="73080" r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Evidence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74E"/>
                    </a:solidFill>
                  </a:tcPr>
                </a:tc>
                <a:tc>
                  <a:txBody>
                    <a:bodyPr lIns="73080" r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Minimum acceptance criteria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74E"/>
                    </a:solidFill>
                  </a:tcPr>
                </a:tc>
              </a:tr>
              <a:tr h="71172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Growth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Before/after document and byte deltas; explain filesystem difference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1172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Query regression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Namespace, shape, plan, returned/examined values, profiling disabled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  <a:tr h="71172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Index change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Justification, benefit/cost, IXSCAN proof, rollback, usage counter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1172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Restore readiness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Archive, isolated restore, count/index equivalence, stated limitations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  <a:tr h="71172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Health checklist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Storage, indexes, query, replication, connections, backup, logs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1172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Alerts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At least four with duration, owner, and first action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F37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87" name="TextBox 2"/>
          <p:cNvSpPr/>
          <p:nvPr/>
        </p:nvSpPr>
        <p:spPr>
          <a:xfrm>
            <a:off x="777240" y="960120"/>
            <a:ext cx="18284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03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8" name="TextBox 3"/>
          <p:cNvSpPr/>
          <p:nvPr/>
        </p:nvSpPr>
        <p:spPr>
          <a:xfrm>
            <a:off x="777240" y="1874520"/>
            <a:ext cx="1024092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Kafka Monitoring and Maintenance</a:t>
            </a:r>
            <a:endParaRPr lang="en-US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9" name="TextBox 4"/>
          <p:cNvSpPr/>
          <p:nvPr/>
        </p:nvSpPr>
        <p:spPr>
          <a:xfrm>
            <a:off x="804600" y="3246120"/>
            <a:ext cx="98751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100" b="0" u="none" strike="noStrike">
                <a:solidFill>
                  <a:srgbClr val="E6F0FA"/>
                </a:solidFill>
                <a:effectLst/>
                <a:uFillTx/>
                <a:latin typeface="Aptos"/>
              </a:rPr>
              <a:t>Prove topic health, interpret offset movement, manage lifecycle settings, and separate stalls from throughput deficits.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0" name="Rectangle 5"/>
          <p:cNvSpPr/>
          <p:nvPr/>
        </p:nvSpPr>
        <p:spPr>
          <a:xfrm>
            <a:off x="804600" y="5349240"/>
            <a:ext cx="1828440" cy="453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720" rIns="90000" bIns="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91" name="TextBox 6"/>
          <p:cNvSpPr/>
          <p:nvPr/>
        </p:nvSpPr>
        <p:spPr>
          <a:xfrm>
            <a:off x="804600" y="5596200"/>
            <a:ext cx="7772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Evidence first • change only what the evidence supports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93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Visual Kafka primer: Kafbat UI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4" name="TextBox 3"/>
          <p:cNvSpPr/>
          <p:nvPr/>
        </p:nvSpPr>
        <p:spPr>
          <a:xfrm>
            <a:off x="594360" y="749880"/>
            <a:ext cx="10881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KAFKA VISUAL PRIMER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5" name="Rectangle 4"/>
          <p:cNvSpPr/>
          <p:nvPr/>
        </p:nvSpPr>
        <p:spPr>
          <a:xfrm>
            <a:off x="594360" y="105156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96" name="TextBox 5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7" name="TextBox 6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50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8" name="TextBox 7"/>
          <p:cNvSpPr/>
          <p:nvPr/>
        </p:nvSpPr>
        <p:spPr>
          <a:xfrm>
            <a:off x="713160" y="1353240"/>
            <a:ext cx="10698120" cy="498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5000"/>
              </a:lnSpc>
              <a:spcAft>
                <a:spcPts val="1199"/>
              </a:spcAft>
            </a:pPr>
            <a:r>
              <a:rPr lang="en-US" sz="19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Kafbat UI provides a visual starting point for the same Kafka evidence used later at the command line.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199"/>
              </a:spcAft>
            </a:pPr>
            <a:r>
              <a:rPr lang="en-US" sz="19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Participants can inspect brokers, topics, partitions, records, consumer groups, lag, and topic configuration.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199"/>
              </a:spcAft>
            </a:pPr>
            <a:r>
              <a:rPr lang="en-US" sz="19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The workshop interface is write-enabled only for isolated kafbat-ui-* exercise resources.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199"/>
              </a:spcAft>
            </a:pPr>
            <a:r>
              <a:rPr lang="en-US" sz="19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Every visual observation is paired with a repeatable Kafka command before it enters an operations runbook.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9" name="Rounded Rectangle 8"/>
          <p:cNvSpPr/>
          <p:nvPr/>
        </p:nvSpPr>
        <p:spPr>
          <a:xfrm>
            <a:off x="768240" y="5468040"/>
            <a:ext cx="10652400" cy="456840"/>
          </a:xfrm>
          <a:prstGeom prst="roundRect">
            <a:avLst>
              <a:gd name="adj" fmla="val 16667"/>
            </a:avLst>
          </a:prstGeom>
          <a:solidFill>
            <a:srgbClr val="F2F9F6"/>
          </a:solidFill>
          <a:ln>
            <a:solidFill>
              <a:srgbClr val="1F7A5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00" name="TextBox 9"/>
          <p:cNvSpPr/>
          <p:nvPr/>
        </p:nvSpPr>
        <p:spPr>
          <a:xfrm>
            <a:off x="932760" y="5550480"/>
            <a:ext cx="10286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20" b="1" u="none" strike="noStrike">
                <a:solidFill>
                  <a:srgbClr val="1F7A56"/>
                </a:solidFill>
                <a:effectLst/>
                <a:uFillTx/>
                <a:latin typeface="Aptos"/>
              </a:rPr>
              <a:t>Open http://localhost:8080 and select the workshop cluster.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02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How the web interface reaches Kafka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3" name="TextBox 3"/>
          <p:cNvSpPr/>
          <p:nvPr/>
        </p:nvSpPr>
        <p:spPr>
          <a:xfrm>
            <a:off x="594360" y="749880"/>
            <a:ext cx="10881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KAFKA VISUAL PRIMER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4" name="Rectangle 4"/>
          <p:cNvSpPr/>
          <p:nvPr/>
        </p:nvSpPr>
        <p:spPr>
          <a:xfrm>
            <a:off x="594360" y="105156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05" name="TextBox 5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6" name="TextBox 6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51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7" name="Rounded Rectangle 7"/>
          <p:cNvSpPr/>
          <p:nvPr/>
        </p:nvSpPr>
        <p:spPr>
          <a:xfrm>
            <a:off x="640080" y="2057400"/>
            <a:ext cx="2285640" cy="1279800"/>
          </a:xfrm>
          <a:prstGeom prst="roundRect">
            <a:avLst>
              <a:gd name="adj" fmla="val 16667"/>
            </a:avLst>
          </a:prstGeom>
          <a:solidFill>
            <a:srgbClr val="E8F1FA"/>
          </a:solidFill>
          <a:ln>
            <a:solidFill>
              <a:srgbClr val="2B6C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08" name="TextBox 8"/>
          <p:cNvSpPr/>
          <p:nvPr/>
        </p:nvSpPr>
        <p:spPr>
          <a:xfrm>
            <a:off x="731520" y="2350080"/>
            <a:ext cx="210276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r>
              <a:rPr lang="en-US" sz="16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Participant browser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localhost:8080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9" name="TextBox 9"/>
          <p:cNvSpPr/>
          <p:nvPr/>
        </p:nvSpPr>
        <p:spPr>
          <a:xfrm>
            <a:off x="3145680" y="2487240"/>
            <a:ext cx="411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→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0" name="Rounded Rectangle 10"/>
          <p:cNvSpPr/>
          <p:nvPr/>
        </p:nvSpPr>
        <p:spPr>
          <a:xfrm>
            <a:off x="3675960" y="2057400"/>
            <a:ext cx="2422800" cy="1279800"/>
          </a:xfrm>
          <a:prstGeom prst="roundRect">
            <a:avLst>
              <a:gd name="adj" fmla="val 16667"/>
            </a:avLst>
          </a:prstGeom>
          <a:solidFill>
            <a:srgbClr val="F4F6F8"/>
          </a:solidFill>
          <a:ln>
            <a:solidFill>
              <a:srgbClr val="1F374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11" name="TextBox 11"/>
          <p:cNvSpPr/>
          <p:nvPr/>
        </p:nvSpPr>
        <p:spPr>
          <a:xfrm>
            <a:off x="3767400" y="2350080"/>
            <a:ext cx="22399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r>
              <a:rPr lang="en-US" sz="16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Kafbat UI container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kafbat-ui:8080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2" name="TextBox 12"/>
          <p:cNvSpPr/>
          <p:nvPr/>
        </p:nvSpPr>
        <p:spPr>
          <a:xfrm>
            <a:off x="6318360" y="2487240"/>
            <a:ext cx="411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→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3" name="Rounded Rectangle 13"/>
          <p:cNvSpPr/>
          <p:nvPr/>
        </p:nvSpPr>
        <p:spPr>
          <a:xfrm>
            <a:off x="6858000" y="2057400"/>
            <a:ext cx="2331360" cy="1279800"/>
          </a:xfrm>
          <a:prstGeom prst="roundRect">
            <a:avLst>
              <a:gd name="adj" fmla="val 16667"/>
            </a:avLst>
          </a:prstGeom>
          <a:solidFill>
            <a:srgbClr val="E8F1FA"/>
          </a:solidFill>
          <a:ln>
            <a:solidFill>
              <a:srgbClr val="2B6C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14" name="TextBox 14"/>
          <p:cNvSpPr/>
          <p:nvPr/>
        </p:nvSpPr>
        <p:spPr>
          <a:xfrm>
            <a:off x="6949440" y="2350080"/>
            <a:ext cx="21484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r>
              <a:rPr lang="en-US" sz="16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Internal listener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kafka:19092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5" name="TextBox 15"/>
          <p:cNvSpPr/>
          <p:nvPr/>
        </p:nvSpPr>
        <p:spPr>
          <a:xfrm>
            <a:off x="9409320" y="2487240"/>
            <a:ext cx="411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→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6" name="Rounded Rectangle 16"/>
          <p:cNvSpPr/>
          <p:nvPr/>
        </p:nvSpPr>
        <p:spPr>
          <a:xfrm>
            <a:off x="9948600" y="2057400"/>
            <a:ext cx="1645560" cy="1279800"/>
          </a:xfrm>
          <a:prstGeom prst="roundRect">
            <a:avLst>
              <a:gd name="adj" fmla="val 16667"/>
            </a:avLst>
          </a:prstGeom>
          <a:solidFill>
            <a:srgbClr val="EFF8F3"/>
          </a:solidFill>
          <a:ln>
            <a:solidFill>
              <a:srgbClr val="1F7A5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17" name="TextBox 17"/>
          <p:cNvSpPr/>
          <p:nvPr/>
        </p:nvSpPr>
        <p:spPr>
          <a:xfrm>
            <a:off x="10040040" y="2350080"/>
            <a:ext cx="14626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r>
              <a:rPr lang="en-US" sz="1600" b="1" u="none" strike="noStrike">
                <a:solidFill>
                  <a:srgbClr val="1F7A56"/>
                </a:solidFill>
                <a:effectLst/>
                <a:uFillTx/>
                <a:latin typeface="Aptos"/>
              </a:rPr>
              <a:t>Kafka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1F7A56"/>
                </a:solidFill>
                <a:effectLst/>
                <a:uFillTx/>
                <a:latin typeface="Aptos"/>
              </a:rPr>
              <a:t>broker 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8" name="Rounded Rectangle 18"/>
          <p:cNvSpPr/>
          <p:nvPr/>
        </p:nvSpPr>
        <p:spPr>
          <a:xfrm>
            <a:off x="1051560" y="4096440"/>
            <a:ext cx="3062880" cy="1261440"/>
          </a:xfrm>
          <a:prstGeom prst="roundRect">
            <a:avLst>
              <a:gd name="adj" fmla="val 16667"/>
            </a:avLst>
          </a:prstGeom>
          <a:solidFill>
            <a:srgbClr val="F4F6F8"/>
          </a:solidFill>
          <a:ln>
            <a:solidFill>
              <a:srgbClr val="DCE1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19" name="Rectangle 19"/>
          <p:cNvSpPr/>
          <p:nvPr/>
        </p:nvSpPr>
        <p:spPr>
          <a:xfrm>
            <a:off x="1051560" y="4096440"/>
            <a:ext cx="72720" cy="1261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0" name="TextBox 20"/>
          <p:cNvSpPr/>
          <p:nvPr/>
        </p:nvSpPr>
        <p:spPr>
          <a:xfrm>
            <a:off x="1261800" y="4260960"/>
            <a:ext cx="26697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Host applications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1" name="TextBox 21"/>
          <p:cNvSpPr/>
          <p:nvPr/>
        </p:nvSpPr>
        <p:spPr>
          <a:xfrm>
            <a:off x="1252800" y="4754880"/>
            <a:ext cx="26787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4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Use localhost:9092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4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Port bound to 127.0.0.1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2" name="Rounded Rectangle 22"/>
          <p:cNvSpPr/>
          <p:nvPr/>
        </p:nvSpPr>
        <p:spPr>
          <a:xfrm>
            <a:off x="4553640" y="4096440"/>
            <a:ext cx="3062880" cy="1261440"/>
          </a:xfrm>
          <a:prstGeom prst="roundRect">
            <a:avLst>
              <a:gd name="adj" fmla="val 16667"/>
            </a:avLst>
          </a:prstGeom>
          <a:solidFill>
            <a:srgbClr val="F4F6F8"/>
          </a:solidFill>
          <a:ln>
            <a:solidFill>
              <a:srgbClr val="DCE1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3" name="Rectangle 23"/>
          <p:cNvSpPr/>
          <p:nvPr/>
        </p:nvSpPr>
        <p:spPr>
          <a:xfrm>
            <a:off x="4553640" y="4096440"/>
            <a:ext cx="72720" cy="1261440"/>
          </a:xfrm>
          <a:prstGeom prst="rect">
            <a:avLst/>
          </a:prstGeom>
          <a:solidFill>
            <a:srgbClr val="1F7A5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4" name="TextBox 24"/>
          <p:cNvSpPr/>
          <p:nvPr/>
        </p:nvSpPr>
        <p:spPr>
          <a:xfrm>
            <a:off x="4763880" y="4260960"/>
            <a:ext cx="26697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F7A56"/>
                </a:solidFill>
                <a:effectLst/>
                <a:uFillTx/>
                <a:latin typeface="Aptos"/>
              </a:rPr>
              <a:t>Container applications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5" name="TextBox 25"/>
          <p:cNvSpPr/>
          <p:nvPr/>
        </p:nvSpPr>
        <p:spPr>
          <a:xfrm>
            <a:off x="4754880" y="4754880"/>
            <a:ext cx="26787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4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Use kafka:19092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4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localhost would mean the UI container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6" name="Rounded Rectangle 26"/>
          <p:cNvSpPr/>
          <p:nvPr/>
        </p:nvSpPr>
        <p:spPr>
          <a:xfrm>
            <a:off x="8055720" y="4096440"/>
            <a:ext cx="3062880" cy="1261440"/>
          </a:xfrm>
          <a:prstGeom prst="roundRect">
            <a:avLst>
              <a:gd name="adj" fmla="val 16667"/>
            </a:avLst>
          </a:prstGeom>
          <a:solidFill>
            <a:srgbClr val="F4F6F8"/>
          </a:solidFill>
          <a:ln>
            <a:solidFill>
              <a:srgbClr val="DCE1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7" name="Rectangle 27"/>
          <p:cNvSpPr/>
          <p:nvPr/>
        </p:nvSpPr>
        <p:spPr>
          <a:xfrm>
            <a:off x="8055720" y="4096440"/>
            <a:ext cx="72720" cy="1261440"/>
          </a:xfrm>
          <a:prstGeom prst="rect">
            <a:avLst/>
          </a:prstGeom>
          <a:solidFill>
            <a:srgbClr val="B4691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8" name="TextBox 28"/>
          <p:cNvSpPr/>
          <p:nvPr/>
        </p:nvSpPr>
        <p:spPr>
          <a:xfrm>
            <a:off x="8266320" y="4260960"/>
            <a:ext cx="26697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B46914"/>
                </a:solidFill>
                <a:effectLst/>
                <a:uFillTx/>
                <a:latin typeface="Aptos"/>
              </a:rPr>
              <a:t>Workshop security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9" name="TextBox 29"/>
          <p:cNvSpPr/>
          <p:nvPr/>
        </p:nvSpPr>
        <p:spPr>
          <a:xfrm>
            <a:off x="8256960" y="4754880"/>
            <a:ext cx="26787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4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No Kafka auth/TLS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4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Do not expose ports 8080 or 9092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1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What to inspect first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2" name="TextBox 3"/>
          <p:cNvSpPr/>
          <p:nvPr/>
        </p:nvSpPr>
        <p:spPr>
          <a:xfrm>
            <a:off x="594360" y="749880"/>
            <a:ext cx="10881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KAFKA VISUAL PRIMER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3" name="Rectangle 4"/>
          <p:cNvSpPr/>
          <p:nvPr/>
        </p:nvSpPr>
        <p:spPr>
          <a:xfrm>
            <a:off x="594360" y="105156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4" name="TextBox 5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5" name="TextBox 6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52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6" name="Rounded Rectangle 7"/>
          <p:cNvSpPr/>
          <p:nvPr/>
        </p:nvSpPr>
        <p:spPr>
          <a:xfrm>
            <a:off x="658440" y="1325880"/>
            <a:ext cx="3428640" cy="4251600"/>
          </a:xfrm>
          <a:prstGeom prst="roundRect">
            <a:avLst>
              <a:gd name="adj" fmla="val 16667"/>
            </a:avLst>
          </a:prstGeom>
          <a:solidFill>
            <a:srgbClr val="F4F6F8"/>
          </a:solidFill>
          <a:ln>
            <a:solidFill>
              <a:srgbClr val="DCE1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7" name="Rectangle 8"/>
          <p:cNvSpPr/>
          <p:nvPr/>
        </p:nvSpPr>
        <p:spPr>
          <a:xfrm>
            <a:off x="658440" y="1325880"/>
            <a:ext cx="72720" cy="425160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8" name="TextBox 9"/>
          <p:cNvSpPr/>
          <p:nvPr/>
        </p:nvSpPr>
        <p:spPr>
          <a:xfrm>
            <a:off x="868680" y="1490400"/>
            <a:ext cx="30355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Cluster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9" name="TextBox 10"/>
          <p:cNvSpPr/>
          <p:nvPr/>
        </p:nvSpPr>
        <p:spPr>
          <a:xfrm>
            <a:off x="859680" y="1984320"/>
            <a:ext cx="3044520" cy="344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Status ONLINE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One broker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KRaft controller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Read-only false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0" name="Rounded Rectangle 11"/>
          <p:cNvSpPr/>
          <p:nvPr/>
        </p:nvSpPr>
        <p:spPr>
          <a:xfrm>
            <a:off x="4370760" y="1325880"/>
            <a:ext cx="3428640" cy="4251600"/>
          </a:xfrm>
          <a:prstGeom prst="roundRect">
            <a:avLst>
              <a:gd name="adj" fmla="val 16667"/>
            </a:avLst>
          </a:prstGeom>
          <a:solidFill>
            <a:srgbClr val="F4F6F8"/>
          </a:solidFill>
          <a:ln>
            <a:solidFill>
              <a:srgbClr val="DCE1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1" name="Rectangle 12"/>
          <p:cNvSpPr/>
          <p:nvPr/>
        </p:nvSpPr>
        <p:spPr>
          <a:xfrm>
            <a:off x="4370760" y="1325880"/>
            <a:ext cx="72720" cy="4251600"/>
          </a:xfrm>
          <a:prstGeom prst="rect">
            <a:avLst/>
          </a:prstGeom>
          <a:solidFill>
            <a:srgbClr val="1F7A5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2" name="TextBox 13"/>
          <p:cNvSpPr/>
          <p:nvPr/>
        </p:nvSpPr>
        <p:spPr>
          <a:xfrm>
            <a:off x="4581000" y="1490400"/>
            <a:ext cx="30355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F7A56"/>
                </a:solidFill>
                <a:effectLst/>
                <a:uFillTx/>
                <a:latin typeface="Aptos"/>
              </a:rPr>
              <a:t>Topic and partitions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3" name="TextBox 14"/>
          <p:cNvSpPr/>
          <p:nvPr/>
        </p:nvSpPr>
        <p:spPr>
          <a:xfrm>
            <a:off x="4572000" y="1984320"/>
            <a:ext cx="3044520" cy="344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Expected partition count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Leader for every partition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Replica and ISR membership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Earliest and latest offsets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4" name="Rounded Rectangle 15"/>
          <p:cNvSpPr/>
          <p:nvPr/>
        </p:nvSpPr>
        <p:spPr>
          <a:xfrm>
            <a:off x="8083440" y="1325880"/>
            <a:ext cx="3428640" cy="4251600"/>
          </a:xfrm>
          <a:prstGeom prst="roundRect">
            <a:avLst>
              <a:gd name="adj" fmla="val 16667"/>
            </a:avLst>
          </a:prstGeom>
          <a:solidFill>
            <a:srgbClr val="F4F6F8"/>
          </a:solidFill>
          <a:ln>
            <a:solidFill>
              <a:srgbClr val="DCE1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5" name="Rectangle 16"/>
          <p:cNvSpPr/>
          <p:nvPr/>
        </p:nvSpPr>
        <p:spPr>
          <a:xfrm>
            <a:off x="8083440" y="1325880"/>
            <a:ext cx="72720" cy="4251600"/>
          </a:xfrm>
          <a:prstGeom prst="rect">
            <a:avLst/>
          </a:prstGeom>
          <a:solidFill>
            <a:srgbClr val="B4691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6" name="TextBox 17"/>
          <p:cNvSpPr/>
          <p:nvPr/>
        </p:nvSpPr>
        <p:spPr>
          <a:xfrm>
            <a:off x="8293680" y="1490400"/>
            <a:ext cx="30355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B46914"/>
                </a:solidFill>
                <a:effectLst/>
                <a:uFillTx/>
                <a:latin typeface="Aptos"/>
              </a:rPr>
              <a:t>Workload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7" name="TextBox 18"/>
          <p:cNvSpPr/>
          <p:nvPr/>
        </p:nvSpPr>
        <p:spPr>
          <a:xfrm>
            <a:off x="8284320" y="1984320"/>
            <a:ext cx="3044520" cy="344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Record key and value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Partition and offset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Consumer committed offset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Lag and movement over time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8" name="Rounded Rectangle 19"/>
          <p:cNvSpPr/>
          <p:nvPr/>
        </p:nvSpPr>
        <p:spPr>
          <a:xfrm>
            <a:off x="768240" y="5742360"/>
            <a:ext cx="10652400" cy="456840"/>
          </a:xfrm>
          <a:prstGeom prst="roundRect">
            <a:avLst>
              <a:gd name="adj" fmla="val 16667"/>
            </a:avLst>
          </a:prstGeom>
          <a:solidFill>
            <a:srgbClr val="F2F9F6"/>
          </a:solidFill>
          <a:ln>
            <a:solidFill>
              <a:srgbClr val="B4691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9" name="TextBox 20"/>
          <p:cNvSpPr/>
          <p:nvPr/>
        </p:nvSpPr>
        <p:spPr>
          <a:xfrm>
            <a:off x="932760" y="5824800"/>
            <a:ext cx="10286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20" b="1" u="none" strike="noStrike">
                <a:solidFill>
                  <a:srgbClr val="B46914"/>
                </a:solidFill>
                <a:effectLst/>
                <a:uFillTx/>
                <a:latin typeface="Aptos"/>
              </a:rPr>
              <a:t>A green UI proves reachability and metadata—not capacity, consumer success, or MongoDB correctness.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51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Create a topic and produce keyed records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2" name="TextBox 3"/>
          <p:cNvSpPr/>
          <p:nvPr/>
        </p:nvSpPr>
        <p:spPr>
          <a:xfrm>
            <a:off x="594360" y="749880"/>
            <a:ext cx="10881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KAFKA VISUAL PRIMER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3" name="Rectangle 4"/>
          <p:cNvSpPr/>
          <p:nvPr/>
        </p:nvSpPr>
        <p:spPr>
          <a:xfrm>
            <a:off x="594360" y="105156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54" name="TextBox 5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5" name="TextBox 6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53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6" name="Rounded Rectangle 7"/>
          <p:cNvSpPr/>
          <p:nvPr/>
        </p:nvSpPr>
        <p:spPr>
          <a:xfrm>
            <a:off x="585360" y="1874520"/>
            <a:ext cx="1874160" cy="1599840"/>
          </a:xfrm>
          <a:prstGeom prst="roundRect">
            <a:avLst>
              <a:gd name="adj" fmla="val 16667"/>
            </a:avLst>
          </a:prstGeom>
          <a:solidFill>
            <a:srgbClr val="F4F6F8"/>
          </a:solidFill>
          <a:ln>
            <a:solidFill>
              <a:srgbClr val="2B6C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57" name="TextBox 8"/>
          <p:cNvSpPr/>
          <p:nvPr/>
        </p:nvSpPr>
        <p:spPr>
          <a:xfrm>
            <a:off x="704160" y="2030040"/>
            <a:ext cx="347040" cy="347040"/>
          </a:xfrm>
          <a:prstGeom prst="rect">
            <a:avLst/>
          </a:prstGeom>
          <a:solidFill>
            <a:srgbClr val="2B6CB0"/>
          </a:solidFill>
          <a:ln w="0">
            <a:solidFill>
              <a:srgbClr val="2B6CB0"/>
            </a:solidFill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1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8" name="TextBox 9"/>
          <p:cNvSpPr/>
          <p:nvPr/>
        </p:nvSpPr>
        <p:spPr>
          <a:xfrm>
            <a:off x="731520" y="2578680"/>
            <a:ext cx="158148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r>
              <a:rPr lang="en-US" sz="155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Create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55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kafbat-ui-events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9" name="TextBox 10"/>
          <p:cNvSpPr/>
          <p:nvPr/>
        </p:nvSpPr>
        <p:spPr>
          <a:xfrm>
            <a:off x="2487240" y="2468880"/>
            <a:ext cx="347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→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0" name="Rounded Rectangle 11"/>
          <p:cNvSpPr/>
          <p:nvPr/>
        </p:nvSpPr>
        <p:spPr>
          <a:xfrm>
            <a:off x="2889360" y="1874520"/>
            <a:ext cx="1874160" cy="1599840"/>
          </a:xfrm>
          <a:prstGeom prst="roundRect">
            <a:avLst>
              <a:gd name="adj" fmla="val 16667"/>
            </a:avLst>
          </a:prstGeom>
          <a:solidFill>
            <a:srgbClr val="F4F6F8"/>
          </a:solidFill>
          <a:ln>
            <a:solidFill>
              <a:srgbClr val="2B6C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61" name="TextBox 12"/>
          <p:cNvSpPr/>
          <p:nvPr/>
        </p:nvSpPr>
        <p:spPr>
          <a:xfrm>
            <a:off x="3008520" y="2030040"/>
            <a:ext cx="347040" cy="347040"/>
          </a:xfrm>
          <a:prstGeom prst="rect">
            <a:avLst/>
          </a:prstGeom>
          <a:solidFill>
            <a:srgbClr val="2B6CB0"/>
          </a:solidFill>
          <a:ln w="0">
            <a:solidFill>
              <a:srgbClr val="2B6CB0"/>
            </a:solidFill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2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2" name="TextBox 13"/>
          <p:cNvSpPr/>
          <p:nvPr/>
        </p:nvSpPr>
        <p:spPr>
          <a:xfrm>
            <a:off x="3035880" y="2578680"/>
            <a:ext cx="158148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r>
              <a:rPr lang="en-US" sz="155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Set 3 partitions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55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and RF 1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3" name="TextBox 14"/>
          <p:cNvSpPr/>
          <p:nvPr/>
        </p:nvSpPr>
        <p:spPr>
          <a:xfrm>
            <a:off x="4791600" y="2468880"/>
            <a:ext cx="347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→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4" name="Rounded Rectangle 15"/>
          <p:cNvSpPr/>
          <p:nvPr/>
        </p:nvSpPr>
        <p:spPr>
          <a:xfrm>
            <a:off x="5193720" y="1874520"/>
            <a:ext cx="1874160" cy="1599840"/>
          </a:xfrm>
          <a:prstGeom prst="roundRect">
            <a:avLst>
              <a:gd name="adj" fmla="val 16667"/>
            </a:avLst>
          </a:prstGeom>
          <a:solidFill>
            <a:srgbClr val="F4F6F8"/>
          </a:solidFill>
          <a:ln>
            <a:solidFill>
              <a:srgbClr val="2B6C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65" name="TextBox 16"/>
          <p:cNvSpPr/>
          <p:nvPr/>
        </p:nvSpPr>
        <p:spPr>
          <a:xfrm>
            <a:off x="5312520" y="2030040"/>
            <a:ext cx="347040" cy="347040"/>
          </a:xfrm>
          <a:prstGeom prst="rect">
            <a:avLst/>
          </a:prstGeom>
          <a:solidFill>
            <a:srgbClr val="2B6CB0"/>
          </a:solidFill>
          <a:ln w="0">
            <a:solidFill>
              <a:srgbClr val="2B6CB0"/>
            </a:solidFill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3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6" name="TextBox 17"/>
          <p:cNvSpPr/>
          <p:nvPr/>
        </p:nvSpPr>
        <p:spPr>
          <a:xfrm>
            <a:off x="5340240" y="2578680"/>
            <a:ext cx="158148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r>
              <a:rPr lang="en-US" sz="155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Produce JSON with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55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customer key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7" name="TextBox 18"/>
          <p:cNvSpPr/>
          <p:nvPr/>
        </p:nvSpPr>
        <p:spPr>
          <a:xfrm>
            <a:off x="7095600" y="2468880"/>
            <a:ext cx="347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→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8" name="Rounded Rectangle 19"/>
          <p:cNvSpPr/>
          <p:nvPr/>
        </p:nvSpPr>
        <p:spPr>
          <a:xfrm>
            <a:off x="7498080" y="1874520"/>
            <a:ext cx="1874160" cy="1599840"/>
          </a:xfrm>
          <a:prstGeom prst="roundRect">
            <a:avLst>
              <a:gd name="adj" fmla="val 16667"/>
            </a:avLst>
          </a:prstGeom>
          <a:solidFill>
            <a:srgbClr val="F4F6F8"/>
          </a:solidFill>
          <a:ln>
            <a:solidFill>
              <a:srgbClr val="2B6C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69" name="TextBox 20"/>
          <p:cNvSpPr/>
          <p:nvPr/>
        </p:nvSpPr>
        <p:spPr>
          <a:xfrm>
            <a:off x="7616880" y="2030040"/>
            <a:ext cx="347040" cy="347040"/>
          </a:xfrm>
          <a:prstGeom prst="rect">
            <a:avLst/>
          </a:prstGeom>
          <a:solidFill>
            <a:srgbClr val="2B6CB0"/>
          </a:solidFill>
          <a:ln w="0">
            <a:solidFill>
              <a:srgbClr val="2B6CB0"/>
            </a:solidFill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4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0" name="TextBox 21"/>
          <p:cNvSpPr/>
          <p:nvPr/>
        </p:nvSpPr>
        <p:spPr>
          <a:xfrm>
            <a:off x="7644240" y="2578680"/>
            <a:ext cx="158148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r>
              <a:rPr lang="en-US" sz="155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Inspect partition,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55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offset, timestamp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1" name="TextBox 22"/>
          <p:cNvSpPr/>
          <p:nvPr/>
        </p:nvSpPr>
        <p:spPr>
          <a:xfrm>
            <a:off x="9399960" y="2468880"/>
            <a:ext cx="347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→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2" name="Rounded Rectangle 23"/>
          <p:cNvSpPr/>
          <p:nvPr/>
        </p:nvSpPr>
        <p:spPr>
          <a:xfrm>
            <a:off x="9802440" y="1874520"/>
            <a:ext cx="1874160" cy="1599840"/>
          </a:xfrm>
          <a:prstGeom prst="roundRect">
            <a:avLst>
              <a:gd name="adj" fmla="val 16667"/>
            </a:avLst>
          </a:prstGeom>
          <a:solidFill>
            <a:srgbClr val="F4F6F8"/>
          </a:solidFill>
          <a:ln>
            <a:solidFill>
              <a:srgbClr val="2B6C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73" name="TextBox 24"/>
          <p:cNvSpPr/>
          <p:nvPr/>
        </p:nvSpPr>
        <p:spPr>
          <a:xfrm>
            <a:off x="9921240" y="2030040"/>
            <a:ext cx="347040" cy="347040"/>
          </a:xfrm>
          <a:prstGeom prst="rect">
            <a:avLst/>
          </a:prstGeom>
          <a:solidFill>
            <a:srgbClr val="2B6CB0"/>
          </a:solidFill>
          <a:ln w="0">
            <a:solidFill>
              <a:srgbClr val="2B6CB0"/>
            </a:solidFill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5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4" name="TextBox 25"/>
          <p:cNvSpPr/>
          <p:nvPr/>
        </p:nvSpPr>
        <p:spPr>
          <a:xfrm>
            <a:off x="9948600" y="2578680"/>
            <a:ext cx="158148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r>
              <a:rPr lang="en-US" sz="155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Verify with Kafka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55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command-line tools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5" name="TextBox 26"/>
          <p:cNvSpPr/>
          <p:nvPr/>
        </p:nvSpPr>
        <p:spPr>
          <a:xfrm>
            <a:off x="841320" y="4224600"/>
            <a:ext cx="1033236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5000"/>
              </a:lnSpc>
              <a:spcAft>
                <a:spcPts val="601"/>
              </a:spcAf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Same key → same partition and per-key ordering while the partition count is unchanged.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601"/>
              </a:spcAf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Kafka stores bytes; a JSON-looking value is not automatically schema-validated.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77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Partitions, offsets, and message browsing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8" name="TextBox 3"/>
          <p:cNvSpPr/>
          <p:nvPr/>
        </p:nvSpPr>
        <p:spPr>
          <a:xfrm>
            <a:off x="594360" y="749880"/>
            <a:ext cx="10881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KAFKA VISUAL PRIMER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9" name="Rectangle 4"/>
          <p:cNvSpPr/>
          <p:nvPr/>
        </p:nvSpPr>
        <p:spPr>
          <a:xfrm>
            <a:off x="594360" y="105156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80" name="TextBox 5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1" name="TextBox 6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54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82" name="Table 7"/>
          <p:cNvGraphicFramePr/>
          <p:nvPr/>
        </p:nvGraphicFramePr>
        <p:xfrm>
          <a:off x="603360" y="1243440"/>
          <a:ext cx="10972440" cy="4525920"/>
        </p:xfrm>
        <a:graphic>
          <a:graphicData uri="http://schemas.openxmlformats.org/drawingml/2006/table">
            <a:tbl>
              <a:tblPr/>
              <a:tblGrid>
                <a:gridCol w="2148840"/>
                <a:gridCol w="4160520"/>
                <a:gridCol w="4663440"/>
              </a:tblGrid>
              <a:tr h="754200">
                <a:tc>
                  <a:txBody>
                    <a:bodyPr lIns="73080" r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6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Evidence</a:t>
                      </a:r>
                      <a:endParaRPr lang="en-US" sz="136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74E"/>
                    </a:solidFill>
                  </a:tcPr>
                </a:tc>
                <a:tc>
                  <a:txBody>
                    <a:bodyPr lIns="73080" r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6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Meaning</a:t>
                      </a:r>
                      <a:endParaRPr lang="en-US" sz="136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74E"/>
                    </a:solidFill>
                  </a:tcPr>
                </a:tc>
                <a:tc>
                  <a:txBody>
                    <a:bodyPr lIns="73080" r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6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Common mistake</a:t>
                      </a:r>
                      <a:endParaRPr lang="en-US" sz="136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74E"/>
                    </a:solidFill>
                  </a:tcPr>
                </a:tc>
              </a:tr>
              <a:tr h="75420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6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Partition</a:t>
                      </a:r>
                      <a:endParaRPr lang="en-US" sz="136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6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One ordered portion of a topic</a:t>
                      </a:r>
                      <a:endParaRPr lang="en-US" sz="136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6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Assuming global ordering across partitions</a:t>
                      </a:r>
                      <a:endParaRPr lang="en-US" sz="136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5420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6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Offset</a:t>
                      </a:r>
                      <a:endParaRPr lang="en-US" sz="136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6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Record position inside one partition</a:t>
                      </a:r>
                      <a:endParaRPr lang="en-US" sz="136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6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Treating the offset as topic-wide identity</a:t>
                      </a:r>
                      <a:endParaRPr lang="en-US" sz="136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  <a:tr h="75420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6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End offset</a:t>
                      </a:r>
                      <a:endParaRPr lang="en-US" sz="136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6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Next write position</a:t>
                      </a:r>
                      <a:endParaRPr lang="en-US" sz="136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6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Assuming it proves consumer progress</a:t>
                      </a:r>
                      <a:endParaRPr lang="en-US" sz="136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5420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6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Record key</a:t>
                      </a:r>
                      <a:endParaRPr lang="en-US" sz="136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6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Input to partition selection</a:t>
                      </a:r>
                      <a:endParaRPr lang="en-US" sz="136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6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Using one constant key and creating a hotspot</a:t>
                      </a:r>
                      <a:endParaRPr lang="en-US" sz="136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  <a:tr h="75420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6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Message view</a:t>
                      </a:r>
                      <a:endParaRPr lang="en-US" sz="136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6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Kafka can return the retained record</a:t>
                      </a:r>
                      <a:endParaRPr lang="en-US" sz="136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6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Assuming a sink processed it correctly</a:t>
                      </a:r>
                      <a:endParaRPr lang="en-US" sz="136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83" name="Rounded Rectangle 8"/>
          <p:cNvSpPr/>
          <p:nvPr/>
        </p:nvSpPr>
        <p:spPr>
          <a:xfrm>
            <a:off x="768240" y="5806440"/>
            <a:ext cx="10652400" cy="456840"/>
          </a:xfrm>
          <a:prstGeom prst="roundRect">
            <a:avLst>
              <a:gd name="adj" fmla="val 16667"/>
            </a:avLst>
          </a:prstGeom>
          <a:solidFill>
            <a:srgbClr val="F2F9F6"/>
          </a:solidFill>
          <a:ln>
            <a:solidFill>
              <a:srgbClr val="1F7A5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84" name="TextBox 9"/>
          <p:cNvSpPr/>
          <p:nvPr/>
        </p:nvSpPr>
        <p:spPr>
          <a:xfrm>
            <a:off x="932760" y="5888880"/>
            <a:ext cx="10286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20" b="1" u="none" strike="noStrike">
                <a:solidFill>
                  <a:srgbClr val="1F7A56"/>
                </a:solidFill>
                <a:effectLst/>
                <a:uFillTx/>
                <a:latin typeface="Aptos"/>
              </a:rPr>
              <a:t>Record topic + partition + offset together; repeat observations to understand movement.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86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Consumer groups and lag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7" name="TextBox 3"/>
          <p:cNvSpPr/>
          <p:nvPr/>
        </p:nvSpPr>
        <p:spPr>
          <a:xfrm>
            <a:off x="594360" y="749880"/>
            <a:ext cx="10881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KAFKA VISUAL PRIMER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8" name="Rectangle 4"/>
          <p:cNvSpPr/>
          <p:nvPr/>
        </p:nvSpPr>
        <p:spPr>
          <a:xfrm>
            <a:off x="594360" y="105156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89" name="TextBox 5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0" name="TextBox 6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55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91" name="Table 7"/>
          <p:cNvGraphicFramePr/>
          <p:nvPr/>
        </p:nvGraphicFramePr>
        <p:xfrm>
          <a:off x="603360" y="1243440"/>
          <a:ext cx="10972440" cy="4525920"/>
        </p:xfrm>
        <a:graphic>
          <a:graphicData uri="http://schemas.openxmlformats.org/drawingml/2006/table">
            <a:tbl>
              <a:tblPr/>
              <a:tblGrid>
                <a:gridCol w="2788920"/>
                <a:gridCol w="3246120"/>
                <a:gridCol w="4937760"/>
              </a:tblGrid>
              <a:tr h="754200">
                <a:tc>
                  <a:txBody>
                    <a:bodyPr lIns="73080" r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End offsets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74E"/>
                    </a:solidFill>
                  </a:tcPr>
                </a:tc>
                <a:tc>
                  <a:txBody>
                    <a:bodyPr lIns="73080" r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Committed offsets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74E"/>
                    </a:solidFill>
                  </a:tcPr>
                </a:tc>
                <a:tc>
                  <a:txBody>
                    <a:bodyPr lIns="73080" r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Interpretation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74E"/>
                    </a:solidFill>
                  </a:tcPr>
                </a:tc>
              </a:tr>
              <a:tr h="75420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Increasing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Increasing equally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Consumer is keeping up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5420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Increasing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Increasing more slowly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Sustained throughput deficit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  <a:tr h="75420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Fixed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Increasing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Existing backlog is draining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5420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Fixed or increasing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Fixed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Stopped, blocked, failed, or rebalancing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  <a:tr h="75420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Equal to commits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Fixed at end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Caught up; no Kafka backlog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92" name="Rounded Rectangle 8"/>
          <p:cNvSpPr/>
          <p:nvPr/>
        </p:nvSpPr>
        <p:spPr>
          <a:xfrm>
            <a:off x="768240" y="5806440"/>
            <a:ext cx="10652400" cy="456840"/>
          </a:xfrm>
          <a:prstGeom prst="roundRect">
            <a:avLst>
              <a:gd name="adj" fmla="val 16667"/>
            </a:avLst>
          </a:prstGeom>
          <a:solidFill>
            <a:srgbClr val="F2F9F6"/>
          </a:solidFill>
          <a:ln>
            <a:solidFill>
              <a:srgbClr val="1F7A5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93" name="TextBox 9"/>
          <p:cNvSpPr/>
          <p:nvPr/>
        </p:nvSpPr>
        <p:spPr>
          <a:xfrm>
            <a:off x="932760" y="5888880"/>
            <a:ext cx="10286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20" b="1" u="none" strike="noStrike">
                <a:solidFill>
                  <a:srgbClr val="1F7A56"/>
                </a:solidFill>
                <a:effectLst/>
                <a:uFillTx/>
                <a:latin typeface="Aptos"/>
              </a:rPr>
              <a:t>Use two or more time-separated observations; zero lag does not prove downstream data correctness.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95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Visual evidence and command-line evidence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6" name="TextBox 3"/>
          <p:cNvSpPr/>
          <p:nvPr/>
        </p:nvSpPr>
        <p:spPr>
          <a:xfrm>
            <a:off x="594360" y="749880"/>
            <a:ext cx="10881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KAFKA VISUAL PRIMER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7" name="Rectangle 4"/>
          <p:cNvSpPr/>
          <p:nvPr/>
        </p:nvSpPr>
        <p:spPr>
          <a:xfrm>
            <a:off x="594360" y="105156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98" name="TextBox 5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9" name="TextBox 6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56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700" name="Table 7"/>
          <p:cNvGraphicFramePr/>
          <p:nvPr/>
        </p:nvGraphicFramePr>
        <p:xfrm>
          <a:off x="603360" y="1243440"/>
          <a:ext cx="10972440" cy="4525920"/>
        </p:xfrm>
        <a:graphic>
          <a:graphicData uri="http://schemas.openxmlformats.org/drawingml/2006/table">
            <a:tbl>
              <a:tblPr/>
              <a:tblGrid>
                <a:gridCol w="2788920"/>
                <a:gridCol w="3291840"/>
                <a:gridCol w="4892040"/>
              </a:tblGrid>
              <a:tr h="646560">
                <a:tc>
                  <a:txBody>
                    <a:bodyPr lIns="73080" r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8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Question</a:t>
                      </a:r>
                      <a:endParaRPr lang="en-US" sz="128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74E"/>
                    </a:solidFill>
                  </a:tcPr>
                </a:tc>
                <a:tc>
                  <a:txBody>
                    <a:bodyPr lIns="73080" r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8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Kafbat view</a:t>
                      </a:r>
                      <a:endParaRPr lang="en-US" sz="128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74E"/>
                    </a:solidFill>
                  </a:tcPr>
                </a:tc>
                <a:tc>
                  <a:txBody>
                    <a:bodyPr lIns="73080" r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8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Repeatable command</a:t>
                      </a:r>
                      <a:endParaRPr lang="en-US" sz="128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74E"/>
                    </a:solidFill>
                  </a:tcPr>
                </a:tc>
              </a:tr>
              <a:tr h="64656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8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Is the cluster reachable?</a:t>
                      </a:r>
                      <a:endParaRPr lang="en-US" sz="12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8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Cluster overview</a:t>
                      </a:r>
                      <a:endParaRPr lang="en-US" sz="12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8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kafka-broker-api-versions.sh</a:t>
                      </a:r>
                      <a:endParaRPr lang="en-US" sz="12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656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8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Do partitions have leaders?</a:t>
                      </a:r>
                      <a:endParaRPr lang="en-US" sz="12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8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Topic partitions</a:t>
                      </a:r>
                      <a:endParaRPr lang="en-US" sz="12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8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kafka-topics.sh --describe</a:t>
                      </a:r>
                      <a:endParaRPr lang="en-US" sz="12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  <a:tr h="64656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8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Where are records stored?</a:t>
                      </a:r>
                      <a:endParaRPr lang="en-US" sz="12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8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Message partition/offset</a:t>
                      </a:r>
                      <a:endParaRPr lang="en-US" sz="12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8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kafka-console-consumer.sh</a:t>
                      </a:r>
                      <a:endParaRPr lang="en-US" sz="12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656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8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How far behind is a group?</a:t>
                      </a:r>
                      <a:endParaRPr lang="en-US" sz="12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8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Consumer-group lag</a:t>
                      </a:r>
                      <a:endParaRPr lang="en-US" sz="12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8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kafka-consumer-groups.sh --describe</a:t>
                      </a:r>
                      <a:endParaRPr lang="en-US" sz="12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  <a:tr h="64656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8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Are partitions balanced?</a:t>
                      </a:r>
                      <a:endParaRPr lang="en-US" sz="12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8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Partition record totals</a:t>
                      </a:r>
                      <a:endParaRPr lang="en-US" sz="12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8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kafka-get-offsets.sh</a:t>
                      </a:r>
                      <a:endParaRPr lang="en-US" sz="12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656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8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Which settings are explicit?</a:t>
                      </a:r>
                      <a:endParaRPr lang="en-US" sz="12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8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Topic configuration</a:t>
                      </a:r>
                      <a:endParaRPr lang="en-US" sz="12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8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kafka-configs.sh --describe</a:t>
                      </a:r>
                      <a:endParaRPr lang="en-US" sz="12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701" name="Rounded Rectangle 8"/>
          <p:cNvSpPr/>
          <p:nvPr/>
        </p:nvSpPr>
        <p:spPr>
          <a:xfrm>
            <a:off x="768240" y="5806440"/>
            <a:ext cx="10652400" cy="456840"/>
          </a:xfrm>
          <a:prstGeom prst="roundRect">
            <a:avLst>
              <a:gd name="adj" fmla="val 16667"/>
            </a:avLst>
          </a:prstGeom>
          <a:solidFill>
            <a:srgbClr val="F2F9F6"/>
          </a:solidFill>
          <a:ln>
            <a:solidFill>
              <a:srgbClr val="1F7A5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02" name="TextBox 9"/>
          <p:cNvSpPr/>
          <p:nvPr/>
        </p:nvSpPr>
        <p:spPr>
          <a:xfrm>
            <a:off x="932760" y="5888880"/>
            <a:ext cx="10286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20" b="1" u="none" strike="noStrike">
                <a:solidFill>
                  <a:srgbClr val="1F7A56"/>
                </a:solidFill>
                <a:effectLst/>
                <a:uFillTx/>
                <a:latin typeface="Aptos"/>
              </a:rPr>
              <a:t>Use the UI for discovery; use commands for timestamped, repeatable runbook evidence.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04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Independent Kafbat exercise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5" name="TextBox 3"/>
          <p:cNvSpPr/>
          <p:nvPr/>
        </p:nvSpPr>
        <p:spPr>
          <a:xfrm>
            <a:off x="594360" y="749880"/>
            <a:ext cx="10881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KAFKA VISUAL PRIMER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6" name="Rectangle 4"/>
          <p:cNvSpPr/>
          <p:nvPr/>
        </p:nvSpPr>
        <p:spPr>
          <a:xfrm>
            <a:off x="594360" y="105156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07" name="TextBox 5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8" name="TextBox 6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57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9" name="TextBox 7"/>
          <p:cNvSpPr/>
          <p:nvPr/>
        </p:nvSpPr>
        <p:spPr>
          <a:xfrm>
            <a:off x="713160" y="1188720"/>
            <a:ext cx="10698120" cy="498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5000"/>
              </a:lnSpc>
              <a:spcAft>
                <a:spcPts val="601"/>
              </a:spcAft>
            </a:pPr>
            <a:r>
              <a:rPr lang="en-US" sz="172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1. Build a visual cluster-health report without changing shared resources.</a:t>
            </a:r>
            <a:endParaRPr lang="en-US" sz="1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601"/>
              </a:spcAft>
            </a:pPr>
            <a:r>
              <a:rPr lang="en-US" sz="172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2. Create kafbat-ui-events with three partitions and produce six keyed JSON records.</a:t>
            </a:r>
            <a:endParaRPr lang="en-US" sz="1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601"/>
              </a:spcAft>
            </a:pPr>
            <a:r>
              <a:rPr lang="en-US" sz="172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3. Trace keys, partitions, offsets, timestamps, and headers.</a:t>
            </a:r>
            <a:endParaRPr lang="en-US" sz="1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601"/>
              </a:spcAft>
            </a:pPr>
            <a:r>
              <a:rPr lang="en-US" sz="172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4. Create partial consumer progress, observe lag, and drain the backlog.</a:t>
            </a:r>
            <a:endParaRPr lang="en-US" sz="1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601"/>
              </a:spcAft>
            </a:pPr>
            <a:r>
              <a:rPr lang="en-US" sz="172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5. Apply and roll back a seven-day retention override on kafbat-ui-lifecycle.</a:t>
            </a:r>
            <a:endParaRPr lang="en-US" sz="1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601"/>
              </a:spcAft>
            </a:pPr>
            <a:r>
              <a:rPr lang="en-US" sz="172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6. Stop only Kafbat, prove Kafka remains healthy, and recover the UI layer.</a:t>
            </a:r>
            <a:endParaRPr lang="en-US" sz="1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601"/>
              </a:spcAft>
            </a:pPr>
            <a:r>
              <a:rPr lang="en-US" sz="172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7. Delete only the isolated exercise topics and group; retain all workshop resources.</a:t>
            </a:r>
            <a:endParaRPr lang="en-US" sz="1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0" name="Rounded Rectangle 8"/>
          <p:cNvSpPr/>
          <p:nvPr/>
        </p:nvSpPr>
        <p:spPr>
          <a:xfrm>
            <a:off x="768240" y="5650920"/>
            <a:ext cx="10652400" cy="456840"/>
          </a:xfrm>
          <a:prstGeom prst="roundRect">
            <a:avLst>
              <a:gd name="adj" fmla="val 16667"/>
            </a:avLst>
          </a:prstGeom>
          <a:solidFill>
            <a:srgbClr val="F2F9F6"/>
          </a:solidFill>
          <a:ln>
            <a:solidFill>
              <a:srgbClr val="1F7A5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11" name="TextBox 9"/>
          <p:cNvSpPr/>
          <p:nvPr/>
        </p:nvSpPr>
        <p:spPr>
          <a:xfrm>
            <a:off x="932760" y="5733360"/>
            <a:ext cx="10286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20" b="1" u="none" strike="noStrike">
                <a:solidFill>
                  <a:srgbClr val="1F7A56"/>
                </a:solidFill>
                <a:effectLst/>
                <a:uFillTx/>
                <a:latin typeface="Aptos"/>
              </a:rPr>
              <a:t>Submit UI evidence, matching commands, interpretation, rollback, and final cleanup proof.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13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Module 3 objectives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4" name="TextBox 3"/>
          <p:cNvSpPr/>
          <p:nvPr/>
        </p:nvSpPr>
        <p:spPr>
          <a:xfrm>
            <a:off x="594360" y="749880"/>
            <a:ext cx="10881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KAFKA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5" name="Rectangle 4"/>
          <p:cNvSpPr/>
          <p:nvPr/>
        </p:nvSpPr>
        <p:spPr>
          <a:xfrm>
            <a:off x="594360" y="105156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16" name="TextBox 5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7" name="TextBox 6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58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8" name="TextBox 7"/>
          <p:cNvSpPr/>
          <p:nvPr/>
        </p:nvSpPr>
        <p:spPr>
          <a:xfrm>
            <a:off x="685800" y="1280160"/>
            <a:ext cx="10789560" cy="507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18360" rIns="45720" bIns="45000" anchor="t">
            <a:spAutoFit/>
          </a:bodyPr>
          <a:p>
            <a:pPr defTabSz="457200">
              <a:lnSpc>
                <a:spcPct val="105000"/>
              </a:lnSpc>
              <a:spcAft>
                <a:spcPts val="1001"/>
              </a:spcAft>
            </a:pPr>
            <a:r>
              <a:rPr lang="en-US" sz="19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Prove broker response, partition leader/replica/ISR state, topic structure, throughput, and disk evidence.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001"/>
              </a:spcAft>
            </a:pPr>
            <a:r>
              <a:rPr lang="en-US" sz="19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Explain lag through end-offset and committed-offset movement.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001"/>
              </a:spcAft>
            </a:pPr>
            <a:r>
              <a:rPr lang="en-US" sz="19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Review retention, compaction, and topic lifecycle changes safely.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001"/>
              </a:spcAft>
            </a:pPr>
            <a:r>
              <a:rPr lang="en-US" sz="19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Distinguish hot partitions, stalled consumers, throughput deficits, and actual broker pressure.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001"/>
              </a:spcAft>
            </a:pPr>
            <a:r>
              <a:rPr lang="en-US" sz="19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Design actionable Kafka alerts with duration, owner, and first response.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20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Broker and topic health are separate signals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1" name="TextBox 3"/>
          <p:cNvSpPr/>
          <p:nvPr/>
        </p:nvSpPr>
        <p:spPr>
          <a:xfrm>
            <a:off x="594360" y="749880"/>
            <a:ext cx="10881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KAFKA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2" name="Rectangle 4"/>
          <p:cNvSpPr/>
          <p:nvPr/>
        </p:nvSpPr>
        <p:spPr>
          <a:xfrm>
            <a:off x="594360" y="105156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23" name="TextBox 5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4" name="TextBox 6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59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5" name="Rounded Rectangle 7"/>
          <p:cNvSpPr/>
          <p:nvPr/>
        </p:nvSpPr>
        <p:spPr>
          <a:xfrm>
            <a:off x="658440" y="1325880"/>
            <a:ext cx="3428640" cy="4160160"/>
          </a:xfrm>
          <a:prstGeom prst="roundRect">
            <a:avLst>
              <a:gd name="adj" fmla="val 16667"/>
            </a:avLst>
          </a:prstGeom>
          <a:solidFill>
            <a:srgbClr val="F4F6F8"/>
          </a:solidFill>
          <a:ln>
            <a:solidFill>
              <a:srgbClr val="DCE1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26" name="Rectangle 8"/>
          <p:cNvSpPr/>
          <p:nvPr/>
        </p:nvSpPr>
        <p:spPr>
          <a:xfrm>
            <a:off x="658440" y="1325880"/>
            <a:ext cx="72720" cy="416016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27" name="TextBox 9"/>
          <p:cNvSpPr/>
          <p:nvPr/>
        </p:nvSpPr>
        <p:spPr>
          <a:xfrm>
            <a:off x="887040" y="1490400"/>
            <a:ext cx="30171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Broker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8" name="TextBox 10"/>
          <p:cNvSpPr/>
          <p:nvPr/>
        </p:nvSpPr>
        <p:spPr>
          <a:xfrm>
            <a:off x="859680" y="1965960"/>
            <a:ext cx="3044520" cy="33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18360" rIns="45720" bIns="45000" anchor="t">
            <a:spAutoFit/>
          </a:bodyPr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API responds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Controller/metadata available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CPU, memory, network, disk, errors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9" name="Rounded Rectangle 11"/>
          <p:cNvSpPr/>
          <p:nvPr/>
        </p:nvSpPr>
        <p:spPr>
          <a:xfrm>
            <a:off x="4370760" y="1325880"/>
            <a:ext cx="3428640" cy="4160160"/>
          </a:xfrm>
          <a:prstGeom prst="roundRect">
            <a:avLst>
              <a:gd name="adj" fmla="val 16667"/>
            </a:avLst>
          </a:prstGeom>
          <a:solidFill>
            <a:srgbClr val="F4F6F8"/>
          </a:solidFill>
          <a:ln>
            <a:solidFill>
              <a:srgbClr val="DCE1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0" name="Rectangle 12"/>
          <p:cNvSpPr/>
          <p:nvPr/>
        </p:nvSpPr>
        <p:spPr>
          <a:xfrm>
            <a:off x="4370760" y="1325880"/>
            <a:ext cx="72720" cy="4160160"/>
          </a:xfrm>
          <a:prstGeom prst="rect">
            <a:avLst/>
          </a:prstGeom>
          <a:solidFill>
            <a:srgbClr val="1F7A5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1" name="TextBox 13"/>
          <p:cNvSpPr/>
          <p:nvPr/>
        </p:nvSpPr>
        <p:spPr>
          <a:xfrm>
            <a:off x="4599360" y="1490400"/>
            <a:ext cx="30171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F7A56"/>
                </a:solidFill>
                <a:effectLst/>
                <a:uFillTx/>
                <a:latin typeface="Aptos"/>
              </a:rPr>
              <a:t>Topic / partitions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2" name="TextBox 14"/>
          <p:cNvSpPr/>
          <p:nvPr/>
        </p:nvSpPr>
        <p:spPr>
          <a:xfrm>
            <a:off x="4572000" y="1965960"/>
            <a:ext cx="3044520" cy="33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18360" rIns="45720" bIns="45000" anchor="t">
            <a:spAutoFit/>
          </a:bodyPr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Expected partition count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Leader for every partition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Approved replicas and ISR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Effective topic configuration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3" name="Rounded Rectangle 15"/>
          <p:cNvSpPr/>
          <p:nvPr/>
        </p:nvSpPr>
        <p:spPr>
          <a:xfrm>
            <a:off x="8083440" y="1325880"/>
            <a:ext cx="3428640" cy="4160160"/>
          </a:xfrm>
          <a:prstGeom prst="roundRect">
            <a:avLst>
              <a:gd name="adj" fmla="val 16667"/>
            </a:avLst>
          </a:prstGeom>
          <a:solidFill>
            <a:srgbClr val="F4F6F8"/>
          </a:solidFill>
          <a:ln>
            <a:solidFill>
              <a:srgbClr val="DCE1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4" name="Rectangle 16"/>
          <p:cNvSpPr/>
          <p:nvPr/>
        </p:nvSpPr>
        <p:spPr>
          <a:xfrm>
            <a:off x="8083440" y="1325880"/>
            <a:ext cx="72720" cy="4160160"/>
          </a:xfrm>
          <a:prstGeom prst="rect">
            <a:avLst/>
          </a:prstGeom>
          <a:solidFill>
            <a:srgbClr val="B4691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5" name="TextBox 17"/>
          <p:cNvSpPr/>
          <p:nvPr/>
        </p:nvSpPr>
        <p:spPr>
          <a:xfrm>
            <a:off x="8312040" y="1490400"/>
            <a:ext cx="30171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B46914"/>
                </a:solidFill>
                <a:effectLst/>
                <a:uFillTx/>
                <a:latin typeface="Aptos"/>
              </a:rPr>
              <a:t>Workload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6" name="TextBox 18"/>
          <p:cNvSpPr/>
          <p:nvPr/>
        </p:nvSpPr>
        <p:spPr>
          <a:xfrm>
            <a:off x="8284320" y="1965960"/>
            <a:ext cx="3044520" cy="33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18360" rIns="45720" bIns="45000" anchor="t">
            <a:spAutoFit/>
          </a:bodyPr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End-offset movement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Records/bytes per second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Per-partition distribution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Consumer progress and lag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7" name="Rounded Rectangle 19"/>
          <p:cNvSpPr/>
          <p:nvPr/>
        </p:nvSpPr>
        <p:spPr>
          <a:xfrm>
            <a:off x="777240" y="5715000"/>
            <a:ext cx="10606680" cy="411120"/>
          </a:xfrm>
          <a:prstGeom prst="roundRect">
            <a:avLst>
              <a:gd name="adj" fmla="val 16667"/>
            </a:avLst>
          </a:prstGeom>
          <a:solidFill>
            <a:srgbClr val="F2F9F6"/>
          </a:solidFill>
          <a:ln>
            <a:solidFill>
              <a:srgbClr val="B4691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8" name="TextBox 20"/>
          <p:cNvSpPr/>
          <p:nvPr/>
        </p:nvSpPr>
        <p:spPr>
          <a:xfrm>
            <a:off x="941760" y="5806440"/>
            <a:ext cx="10277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B46914"/>
                </a:solidFill>
                <a:effectLst/>
                <a:uFillTx/>
                <a:latin typeface="Aptos"/>
              </a:rPr>
              <a:t>A partition leader proves it can be served—not that consumers are current or MongoDB is correct.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40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Establish a topic baseline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1" name="TextBox 3"/>
          <p:cNvSpPr/>
          <p:nvPr/>
        </p:nvSpPr>
        <p:spPr>
          <a:xfrm>
            <a:off x="594360" y="749880"/>
            <a:ext cx="10881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KAFKA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2" name="Rectangle 4"/>
          <p:cNvSpPr/>
          <p:nvPr/>
        </p:nvSpPr>
        <p:spPr>
          <a:xfrm>
            <a:off x="594360" y="105156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43" name="TextBox 5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4" name="TextBox 6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60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5" name="Rounded Rectangle 7"/>
          <p:cNvSpPr/>
          <p:nvPr/>
        </p:nvSpPr>
        <p:spPr>
          <a:xfrm>
            <a:off x="685800" y="1325880"/>
            <a:ext cx="10789560" cy="3337200"/>
          </a:xfrm>
          <a:prstGeom prst="roundRect">
            <a:avLst>
              <a:gd name="adj" fmla="val 16667"/>
            </a:avLst>
          </a:prstGeom>
          <a:solidFill>
            <a:srgbClr val="F8F9FB"/>
          </a:solidFill>
          <a:ln>
            <a:solidFill>
              <a:srgbClr val="CDD2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46" name="TextBox 8"/>
          <p:cNvSpPr/>
          <p:nvPr/>
        </p:nvSpPr>
        <p:spPr>
          <a:xfrm>
            <a:off x="887040" y="1444680"/>
            <a:ext cx="103870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COMMAND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7" name="TextBox 9"/>
          <p:cNvSpPr/>
          <p:nvPr/>
        </p:nvSpPr>
        <p:spPr>
          <a:xfrm>
            <a:off x="887040" y="1783080"/>
            <a:ext cx="10387080" cy="275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kafka-broker-api-versions.sh --bootstrap-server localhost:9092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kafka-topics.sh --bootstrap-server localhost:9092 \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  --describe --topic workshop-orders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kafka-get-offsets.sh --bootstrap-server localhost:9092 \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  --topic workshop-orders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8" name="TextBox 10"/>
          <p:cNvSpPr/>
          <p:nvPr/>
        </p:nvSpPr>
        <p:spPr>
          <a:xfrm>
            <a:off x="777240" y="4892040"/>
            <a:ext cx="1042380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18360" rIns="45720" bIns="45000" anchor="t">
            <a:spAutoFit/>
          </a:bodyPr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lang="en-US" sz="16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Expected lab invariant: 3 partitions; broker 1 is leader, replica, and ISR for each.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00"/>
              </a:spcAft>
            </a:pPr>
            <a:r>
              <a:rPr lang="en-US" sz="16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Replication factor 1 is a local training constraint, not a production availability design.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50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Measure short-run record throughput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1" name="TextBox 3"/>
          <p:cNvSpPr/>
          <p:nvPr/>
        </p:nvSpPr>
        <p:spPr>
          <a:xfrm>
            <a:off x="594360" y="749880"/>
            <a:ext cx="10881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KAFKA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2" name="Rectangle 4"/>
          <p:cNvSpPr/>
          <p:nvPr/>
        </p:nvSpPr>
        <p:spPr>
          <a:xfrm>
            <a:off x="594360" y="105156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53" name="TextBox 5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4" name="TextBox 6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61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5" name="TextBox 7"/>
          <p:cNvSpPr/>
          <p:nvPr/>
        </p:nvSpPr>
        <p:spPr>
          <a:xfrm>
            <a:off x="685800" y="1261800"/>
            <a:ext cx="10789560" cy="507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18360" rIns="45720" bIns="45000" anchor="t">
            <a:spAutoFit/>
          </a:bodyPr>
          <a:p>
            <a:pPr defTabSz="457200">
              <a:lnSpc>
                <a:spcPct val="105000"/>
              </a:lnSpc>
              <a:spcAft>
                <a:spcPts val="901"/>
              </a:spcAft>
            </a:pPr>
            <a:r>
              <a:rPr lang="en-US" sz="19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Capture start timestamp and per-partition end offsets.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901"/>
              </a:spcAft>
            </a:pPr>
            <a:r>
              <a:rPr lang="en-US" sz="19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Produce a known batch—for example, 2,000 records.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901"/>
              </a:spcAft>
            </a:pPr>
            <a:r>
              <a:rPr lang="en-US" sz="19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Capture end timestamp and end offsets.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901"/>
              </a:spcAft>
            </a:pPr>
            <a:r>
              <a:rPr lang="en-US" sz="19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Estimate records/second = total offset delta ÷ elapsed seconds.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901"/>
              </a:spcAft>
            </a:pPr>
            <a:r>
              <a:rPr lang="en-US" sz="19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Correlate with disk bytes and process CPU/memory/I/O; this is not broker byte-rate telemetry.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6" name="Rounded Rectangle 8"/>
          <p:cNvSpPr/>
          <p:nvPr/>
        </p:nvSpPr>
        <p:spPr>
          <a:xfrm>
            <a:off x="777240" y="5440680"/>
            <a:ext cx="10606680" cy="502560"/>
          </a:xfrm>
          <a:prstGeom prst="roundRect">
            <a:avLst>
              <a:gd name="adj" fmla="val 16667"/>
            </a:avLst>
          </a:prstGeom>
          <a:solidFill>
            <a:srgbClr val="F2F9F6"/>
          </a:solidFill>
          <a:ln>
            <a:solidFill>
              <a:srgbClr val="B4691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57" name="TextBox 9"/>
          <p:cNvSpPr/>
          <p:nvPr/>
        </p:nvSpPr>
        <p:spPr>
          <a:xfrm>
            <a:off x="941760" y="5532120"/>
            <a:ext cx="10277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B46914"/>
                </a:solidFill>
                <a:effectLst/>
                <a:uFillTx/>
                <a:latin typeface="Aptos"/>
              </a:rPr>
              <a:t>Growing offsets prove Kafka accepted records; they do not prove downstream completion.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59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Diagnose lag from offset movement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0" name="Rectangle 3"/>
          <p:cNvSpPr/>
          <p:nvPr/>
        </p:nvSpPr>
        <p:spPr>
          <a:xfrm>
            <a:off x="594360" y="86868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61" name="TextBox 4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2" name="TextBox 5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62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763" name="Table 6"/>
          <p:cNvGraphicFramePr/>
          <p:nvPr/>
        </p:nvGraphicFramePr>
        <p:xfrm>
          <a:off x="603360" y="1234440"/>
          <a:ext cx="10972440" cy="4480200"/>
        </p:xfrm>
        <a:graphic>
          <a:graphicData uri="http://schemas.openxmlformats.org/drawingml/2006/table">
            <a:tbl>
              <a:tblPr/>
              <a:tblGrid>
                <a:gridCol w="2834640"/>
                <a:gridCol w="3200400"/>
                <a:gridCol w="4937760"/>
              </a:tblGrid>
              <a:tr h="746640">
                <a:tc>
                  <a:txBody>
                    <a:bodyPr lIns="73080" r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End offsets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74E"/>
                    </a:solidFill>
                  </a:tcPr>
                </a:tc>
                <a:tc>
                  <a:txBody>
                    <a:bodyPr lIns="73080" r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Committed offsets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74E"/>
                    </a:solidFill>
                  </a:tcPr>
                </a:tc>
                <a:tc>
                  <a:txBody>
                    <a:bodyPr lIns="73080" r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Likely interpretation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74E"/>
                    </a:solidFill>
                  </a:tcPr>
                </a:tc>
              </a:tr>
              <a:tr h="74664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Increasing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Increasing equally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Consumer is keeping up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4664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Increasing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Increasing more slowly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Consumer throughput deficit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  <a:tr h="74664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Fixed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Increasing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Existing backlog is draining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4664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Increasing or fixed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Fixed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Stopped, blocked, failed, or rebalancing consumer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  <a:tr h="74664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Fixed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Equal to end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Caught up; no Kafka backlog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64" name="Rounded Rectangle 7"/>
          <p:cNvSpPr/>
          <p:nvPr/>
        </p:nvSpPr>
        <p:spPr>
          <a:xfrm>
            <a:off x="777240" y="5806440"/>
            <a:ext cx="10606680" cy="411120"/>
          </a:xfrm>
          <a:prstGeom prst="roundRect">
            <a:avLst>
              <a:gd name="adj" fmla="val 16667"/>
            </a:avLst>
          </a:prstGeom>
          <a:solidFill>
            <a:srgbClr val="F2F9F6"/>
          </a:solidFill>
          <a:ln>
            <a:solidFill>
              <a:srgbClr val="1F7A5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65" name="TextBox 8"/>
          <p:cNvSpPr/>
          <p:nvPr/>
        </p:nvSpPr>
        <p:spPr>
          <a:xfrm>
            <a:off x="941760" y="5897880"/>
            <a:ext cx="10277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1F7A56"/>
                </a:solidFill>
                <a:effectLst/>
                <a:uFillTx/>
                <a:latin typeface="Aptos"/>
              </a:rPr>
              <a:t>Correlate lag with group membership, worker errors, downstream latency, and partition distribution.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67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Consumer-group membership and assignments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8" name="TextBox 3"/>
          <p:cNvSpPr/>
          <p:nvPr/>
        </p:nvSpPr>
        <p:spPr>
          <a:xfrm>
            <a:off x="594360" y="749880"/>
            <a:ext cx="10881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KAFKA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9" name="Rectangle 4"/>
          <p:cNvSpPr/>
          <p:nvPr/>
        </p:nvSpPr>
        <p:spPr>
          <a:xfrm>
            <a:off x="594360" y="105156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70" name="TextBox 5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1" name="TextBox 6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63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2" name="Rounded Rectangle 7"/>
          <p:cNvSpPr/>
          <p:nvPr/>
        </p:nvSpPr>
        <p:spPr>
          <a:xfrm>
            <a:off x="685800" y="1325880"/>
            <a:ext cx="10789560" cy="2331360"/>
          </a:xfrm>
          <a:prstGeom prst="roundRect">
            <a:avLst>
              <a:gd name="adj" fmla="val 16667"/>
            </a:avLst>
          </a:prstGeom>
          <a:solidFill>
            <a:srgbClr val="F8F9FB"/>
          </a:solidFill>
          <a:ln>
            <a:solidFill>
              <a:srgbClr val="CDD2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73" name="TextBox 8"/>
          <p:cNvSpPr/>
          <p:nvPr/>
        </p:nvSpPr>
        <p:spPr>
          <a:xfrm>
            <a:off x="887040" y="1444680"/>
            <a:ext cx="103870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COMMAND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4" name="TextBox 9"/>
          <p:cNvSpPr/>
          <p:nvPr/>
        </p:nvSpPr>
        <p:spPr>
          <a:xfrm>
            <a:off x="887040" y="1783080"/>
            <a:ext cx="10387080" cy="174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kafka-consumer-groups.sh --bootstrap-server localhost:9092 \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  --group workshop-order-processor --describe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kafka-consumer-groups.sh --bootstrap-server localhost:9092 \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  --group workshop-order-processor --describe --members --verbose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5" name="TextBox 10"/>
          <p:cNvSpPr/>
          <p:nvPr/>
        </p:nvSpPr>
        <p:spPr>
          <a:xfrm>
            <a:off x="777240" y="3959280"/>
            <a:ext cx="10469520" cy="159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18360" rIns="45720" bIns="45000" anchor="t">
            <a:spAutoFit/>
          </a:bodyPr>
          <a:p>
            <a:pPr defTabSz="457200">
              <a:lnSpc>
                <a:spcPct val="105000"/>
              </a:lnSpc>
              <a:spcAft>
                <a:spcPts val="601"/>
              </a:spcAf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While running, members own partition assignments; after exit, membership disappears but commits remain.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601"/>
              </a:spcAf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Before the first commit, the CLI may report that the group does not exist even when topic data exists.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601"/>
              </a:spcAf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Brief rebalances are normal; alert on sustained lack of progress, not every transition.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6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77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Partition skew and key choice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8" name="TextBox 3"/>
          <p:cNvSpPr/>
          <p:nvPr/>
        </p:nvSpPr>
        <p:spPr>
          <a:xfrm>
            <a:off x="594360" y="749880"/>
            <a:ext cx="10881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KAFKA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9" name="Rectangle 4"/>
          <p:cNvSpPr/>
          <p:nvPr/>
        </p:nvSpPr>
        <p:spPr>
          <a:xfrm>
            <a:off x="594360" y="105156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80" name="TextBox 5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1" name="TextBox 6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64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2" name="Rounded Rectangle 7"/>
          <p:cNvSpPr/>
          <p:nvPr/>
        </p:nvSpPr>
        <p:spPr>
          <a:xfrm>
            <a:off x="713160" y="1344240"/>
            <a:ext cx="5230080" cy="4297320"/>
          </a:xfrm>
          <a:prstGeom prst="roundRect">
            <a:avLst>
              <a:gd name="adj" fmla="val 16667"/>
            </a:avLst>
          </a:prstGeom>
          <a:solidFill>
            <a:srgbClr val="F4F6F8"/>
          </a:solidFill>
          <a:ln>
            <a:solidFill>
              <a:srgbClr val="DCE1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83" name="Rectangle 8"/>
          <p:cNvSpPr/>
          <p:nvPr/>
        </p:nvSpPr>
        <p:spPr>
          <a:xfrm>
            <a:off x="713160" y="1344240"/>
            <a:ext cx="72720" cy="4297320"/>
          </a:xfrm>
          <a:prstGeom prst="rect">
            <a:avLst/>
          </a:prstGeom>
          <a:solidFill>
            <a:srgbClr val="B4691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84" name="TextBox 9"/>
          <p:cNvSpPr/>
          <p:nvPr/>
        </p:nvSpPr>
        <p:spPr>
          <a:xfrm>
            <a:off x="941760" y="1508760"/>
            <a:ext cx="48186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B46914"/>
                </a:solidFill>
                <a:effectLst/>
                <a:uFillTx/>
                <a:latin typeface="Aptos"/>
              </a:rPr>
              <a:t>Hot key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5" name="TextBox 10"/>
          <p:cNvSpPr/>
          <p:nvPr/>
        </p:nvSpPr>
        <p:spPr>
          <a:xfrm>
            <a:off x="914400" y="1984320"/>
            <a:ext cx="4845960" cy="352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18360" rIns="45720" bIns="45000" anchor="t">
            <a:spAutoFit/>
          </a:bodyPr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Constant key sends nearly all 1,000 records to one partition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Limits consumer parallelism to that partition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Can concentrate bytes, requests, and lag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Evidence: per-partition offsets/bytes and skew ratio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6" name="Rounded Rectangle 11"/>
          <p:cNvSpPr/>
          <p:nvPr/>
        </p:nvSpPr>
        <p:spPr>
          <a:xfrm>
            <a:off x="6236280" y="1344240"/>
            <a:ext cx="5230080" cy="4297320"/>
          </a:xfrm>
          <a:prstGeom prst="roundRect">
            <a:avLst>
              <a:gd name="adj" fmla="val 16667"/>
            </a:avLst>
          </a:prstGeom>
          <a:solidFill>
            <a:srgbClr val="F4F6F8"/>
          </a:solidFill>
          <a:ln>
            <a:solidFill>
              <a:srgbClr val="DCE1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87" name="Rectangle 12"/>
          <p:cNvSpPr/>
          <p:nvPr/>
        </p:nvSpPr>
        <p:spPr>
          <a:xfrm>
            <a:off x="6236280" y="1344240"/>
            <a:ext cx="72720" cy="4297320"/>
          </a:xfrm>
          <a:prstGeom prst="rect">
            <a:avLst/>
          </a:prstGeom>
          <a:solidFill>
            <a:srgbClr val="1F7A5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88" name="TextBox 13"/>
          <p:cNvSpPr/>
          <p:nvPr/>
        </p:nvSpPr>
        <p:spPr>
          <a:xfrm>
            <a:off x="6464880" y="1508760"/>
            <a:ext cx="48186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F7A56"/>
                </a:solidFill>
                <a:effectLst/>
                <a:uFillTx/>
                <a:latin typeface="Aptos"/>
              </a:rPr>
              <a:t>Better key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9" name="TextBox 14"/>
          <p:cNvSpPr/>
          <p:nvPr/>
        </p:nvSpPr>
        <p:spPr>
          <a:xfrm>
            <a:off x="6437520" y="1984320"/>
            <a:ext cx="4845960" cy="352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18360" rIns="45720" bIns="45000" anchor="t">
            <a:spAutoFit/>
          </a:bodyPr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customer_id offers higher cardinality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Preserves per-customer ordering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Distributes load across more partitions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Good balance is measured, not assumed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0" name="Rounded Rectangle 15"/>
          <p:cNvSpPr/>
          <p:nvPr/>
        </p:nvSpPr>
        <p:spPr>
          <a:xfrm>
            <a:off x="777240" y="5742360"/>
            <a:ext cx="10606680" cy="392760"/>
          </a:xfrm>
          <a:prstGeom prst="roundRect">
            <a:avLst>
              <a:gd name="adj" fmla="val 16667"/>
            </a:avLst>
          </a:prstGeom>
          <a:solidFill>
            <a:srgbClr val="F2F9F6"/>
          </a:solidFill>
          <a:ln>
            <a:solidFill>
              <a:srgbClr val="2B6C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1" name="TextBox 16"/>
          <p:cNvSpPr/>
          <p:nvPr/>
        </p:nvSpPr>
        <p:spPr>
          <a:xfrm>
            <a:off x="941760" y="5833800"/>
            <a:ext cx="102776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Key cardinality and ordering requirements are producer/data-design decisions—not broker-restart problems.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3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Retention, compaction, and lifecycle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4" name="TextBox 3"/>
          <p:cNvSpPr/>
          <p:nvPr/>
        </p:nvSpPr>
        <p:spPr>
          <a:xfrm>
            <a:off x="594360" y="749880"/>
            <a:ext cx="10881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KAFKA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5" name="Rectangle 4"/>
          <p:cNvSpPr/>
          <p:nvPr/>
        </p:nvSpPr>
        <p:spPr>
          <a:xfrm>
            <a:off x="594360" y="105156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6" name="TextBox 5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7" name="TextBox 6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65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8" name="TextBox 7"/>
          <p:cNvSpPr/>
          <p:nvPr/>
        </p:nvSpPr>
        <p:spPr>
          <a:xfrm>
            <a:off x="685800" y="1234440"/>
            <a:ext cx="10789560" cy="507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18360" rIns="45720" bIns="45000" anchor="t">
            <a:spAutoFit/>
          </a:bodyPr>
          <a:p>
            <a:pPr defTabSz="457200">
              <a:lnSpc>
                <a:spcPct val="105000"/>
              </a:lnSpc>
              <a:spcAft>
                <a:spcPts val="901"/>
              </a:spcAft>
            </a:pPr>
            <a:r>
              <a:rPr lang="en-US" sz="18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Topic values may inherit broker defaults; an absent override does not mean unlimited retention.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901"/>
              </a:spcAft>
            </a:pPr>
            <a:r>
              <a:rPr lang="en-US" sz="18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delete removes eligible old segments according to retention; cleanup is asynchronous.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901"/>
              </a:spcAft>
            </a:pPr>
            <a:r>
              <a:rPr lang="en-US" sz="18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compact retains the latest value per key over time; tombstones represent deletions.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901"/>
              </a:spcAft>
            </a:pPr>
            <a:r>
              <a:rPr lang="en-US" sz="18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compact,delete combines latest-state compaction with time/size-based deletion.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901"/>
              </a:spcAft>
            </a:pPr>
            <a:r>
              <a:rPr lang="en-US" sz="18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Test risky lifecycle changes only on an isolated topic; record the old config and rollback by removing overrides.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9" name="Rounded Rectangle 8"/>
          <p:cNvSpPr/>
          <p:nvPr/>
        </p:nvSpPr>
        <p:spPr>
          <a:xfrm>
            <a:off x="685800" y="4892040"/>
            <a:ext cx="10789560" cy="959760"/>
          </a:xfrm>
          <a:prstGeom prst="roundRect">
            <a:avLst>
              <a:gd name="adj" fmla="val 16667"/>
            </a:avLst>
          </a:prstGeom>
          <a:solidFill>
            <a:srgbClr val="F8F9FB"/>
          </a:solidFill>
          <a:ln>
            <a:solidFill>
              <a:srgbClr val="CDD2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0" name="TextBox 9"/>
          <p:cNvSpPr/>
          <p:nvPr/>
        </p:nvSpPr>
        <p:spPr>
          <a:xfrm>
            <a:off x="887040" y="5010840"/>
            <a:ext cx="103870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REVIEWED EXAMPLE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1" name="TextBox 10"/>
          <p:cNvSpPr/>
          <p:nvPr/>
        </p:nvSpPr>
        <p:spPr>
          <a:xfrm>
            <a:off x="887040" y="5349240"/>
            <a:ext cx="10387080" cy="3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kafka-configs.sh ... --entity-name workshop-lifecycle --alter \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  --add-config 'cleanup.policy=[compact,delete],retention.ms=604800000'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3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Kafka failure signatures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4" name="Rectangle 3"/>
          <p:cNvSpPr/>
          <p:nvPr/>
        </p:nvSpPr>
        <p:spPr>
          <a:xfrm>
            <a:off x="594360" y="86868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5" name="TextBox 4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6" name="TextBox 5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66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07" name="Table 6"/>
          <p:cNvGraphicFramePr/>
          <p:nvPr/>
        </p:nvGraphicFramePr>
        <p:xfrm>
          <a:off x="603360" y="1234440"/>
          <a:ext cx="10972440" cy="4480200"/>
        </p:xfrm>
        <a:graphic>
          <a:graphicData uri="http://schemas.openxmlformats.org/drawingml/2006/table">
            <a:tbl>
              <a:tblPr/>
              <a:tblGrid>
                <a:gridCol w="2148840"/>
                <a:gridCol w="2331720"/>
                <a:gridCol w="3154680"/>
                <a:gridCol w="3337560"/>
              </a:tblGrid>
              <a:tr h="746640">
                <a:tc>
                  <a:txBody>
                    <a:bodyPr lIns="73080" r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6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Symptom</a:t>
                      </a:r>
                      <a:endParaRPr lang="en-US" sz="126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74E"/>
                    </a:solidFill>
                  </a:tcPr>
                </a:tc>
                <a:tc>
                  <a:txBody>
                    <a:bodyPr lIns="73080" r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6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Evidence</a:t>
                      </a:r>
                      <a:endParaRPr lang="en-US" sz="126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74E"/>
                    </a:solidFill>
                  </a:tcPr>
                </a:tc>
                <a:tc>
                  <a:txBody>
                    <a:bodyPr lIns="73080" r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6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Interpretation</a:t>
                      </a:r>
                      <a:endParaRPr lang="en-US" sz="126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74E"/>
                    </a:solidFill>
                  </a:tcPr>
                </a:tc>
                <a:tc>
                  <a:txBody>
                    <a:bodyPr lIns="73080" r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6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Recovery principle</a:t>
                      </a:r>
                      <a:endParaRPr lang="en-US" sz="126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74E"/>
                    </a:solidFill>
                  </a:tcPr>
                </a:tc>
              </a:tr>
              <a:tr h="74664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6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One partition dominates</a:t>
                      </a:r>
                      <a:endParaRPr lang="en-US" sz="126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6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Offsets/bytes/skew</a:t>
                      </a:r>
                      <a:endParaRPr lang="en-US" sz="126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6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Key-cardinality or partition design</a:t>
                      </a:r>
                      <a:endParaRPr lang="en-US" sz="126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6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Fix key or approved partition plan</a:t>
                      </a:r>
                      <a:endParaRPr lang="en-US" sz="126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4664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6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Lag fixed above zero</a:t>
                      </a:r>
                      <a:endParaRPr lang="en-US" sz="126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6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Two snapshots; commits fixed</a:t>
                      </a:r>
                      <a:endParaRPr lang="en-US" sz="126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6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Stopped/blocked/failed/rebalancing</a:t>
                      </a:r>
                      <a:endParaRPr lang="en-US" sz="126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6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Restore or unblock consumer</a:t>
                      </a:r>
                      <a:endParaRPr lang="en-US" sz="126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  <a:tr h="74664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6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Lag grows; commits move</a:t>
                      </a:r>
                      <a:endParaRPr lang="en-US" sz="126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6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End rate &gt; commit rate</a:t>
                      </a:r>
                      <a:endParaRPr lang="en-US" sz="126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6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Throughput deficit</a:t>
                      </a:r>
                      <a:endParaRPr lang="en-US" sz="126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6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Remove bottleneck/add capacity</a:t>
                      </a:r>
                      <a:endParaRPr lang="en-US" sz="126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4664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6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CPU/disk/errors high</a:t>
                      </a:r>
                      <a:endParaRPr lang="en-US" sz="126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6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Resource stats + logs</a:t>
                      </a:r>
                      <a:endParaRPr lang="en-US" sz="126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6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Measured broker pressure</a:t>
                      </a:r>
                      <a:endParaRPr lang="en-US" sz="126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6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Protect capacity; diagnose root cause</a:t>
                      </a:r>
                      <a:endParaRPr lang="en-US" sz="126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  <a:tr h="74664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6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Unexpected retention</a:t>
                      </a:r>
                      <a:endParaRPr lang="en-US" sz="126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6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Effective topic config</a:t>
                      </a:r>
                      <a:endParaRPr lang="en-US" sz="126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6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Lifecycle drift / data-loss risk</a:t>
                      </a:r>
                      <a:endParaRPr lang="en-US" sz="126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6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Restore approved override/default</a:t>
                      </a:r>
                      <a:endParaRPr lang="en-US" sz="126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08" name="Rounded Rectangle 7"/>
          <p:cNvSpPr/>
          <p:nvPr/>
        </p:nvSpPr>
        <p:spPr>
          <a:xfrm>
            <a:off x="777240" y="5806440"/>
            <a:ext cx="10606680" cy="411120"/>
          </a:xfrm>
          <a:prstGeom prst="roundRect">
            <a:avLst>
              <a:gd name="adj" fmla="val 16667"/>
            </a:avLst>
          </a:prstGeom>
          <a:solidFill>
            <a:srgbClr val="F2F9F6"/>
          </a:solidFill>
          <a:ln>
            <a:solidFill>
              <a:srgbClr val="1F7A5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9" name="TextBox 8"/>
          <p:cNvSpPr/>
          <p:nvPr/>
        </p:nvSpPr>
        <p:spPr>
          <a:xfrm>
            <a:off x="941760" y="5897880"/>
            <a:ext cx="10277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1F7A56"/>
                </a:solidFill>
                <a:effectLst/>
                <a:uFillTx/>
                <a:latin typeface="Aptos"/>
              </a:rPr>
              <a:t>Do not claim broker pressure from an imbalanced workload alone; require resource or error evidence.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11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Kafka alert design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2" name="Rectangle 3"/>
          <p:cNvSpPr/>
          <p:nvPr/>
        </p:nvSpPr>
        <p:spPr>
          <a:xfrm>
            <a:off x="594360" y="86868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13" name="TextBox 4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4" name="TextBox 5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67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15" name="Table 6"/>
          <p:cNvGraphicFramePr/>
          <p:nvPr/>
        </p:nvGraphicFramePr>
        <p:xfrm>
          <a:off x="603360" y="1234440"/>
          <a:ext cx="10972440" cy="4983120"/>
        </p:xfrm>
        <a:graphic>
          <a:graphicData uri="http://schemas.openxmlformats.org/drawingml/2006/table">
            <a:tbl>
              <a:tblPr/>
              <a:tblGrid>
                <a:gridCol w="1920240"/>
                <a:gridCol w="4754880"/>
                <a:gridCol w="4297680"/>
              </a:tblGrid>
              <a:tr h="622800">
                <a:tc>
                  <a:txBody>
                    <a:bodyPr lIns="73080" r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Signal</a:t>
                      </a:r>
                      <a:endParaRPr lang="en-US" sz="12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74E"/>
                    </a:solidFill>
                  </a:tcPr>
                </a:tc>
                <a:tc>
                  <a:txBody>
                    <a:bodyPr lIns="73080" r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Condition</a:t>
                      </a:r>
                      <a:endParaRPr lang="en-US" sz="12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74E"/>
                    </a:solidFill>
                  </a:tcPr>
                </a:tc>
                <a:tc>
                  <a:txBody>
                    <a:bodyPr lIns="73080" r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Owner / first action</a:t>
                      </a:r>
                      <a:endParaRPr lang="en-US" sz="12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74E"/>
                    </a:solidFill>
                  </a:tcPr>
                </a:tc>
              </a:tr>
              <a:tr h="62280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Leader availability</a:t>
                      </a:r>
                      <a:endParaRPr lang="en-US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Any expected partition has no leader</a:t>
                      </a:r>
                      <a:endParaRPr lang="en-US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Kafka owner: inspect broker/controller</a:t>
                      </a:r>
                      <a:endParaRPr lang="en-US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2280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ISR/replicas</a:t>
                      </a:r>
                      <a:endParaRPr lang="en-US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ISR below approved replica count</a:t>
                      </a:r>
                      <a:endParaRPr lang="en-US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Kafka owner: protect redundancy</a:t>
                      </a:r>
                      <a:endParaRPr lang="en-US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  <a:tr h="62280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Stalled group</a:t>
                      </a:r>
                      <a:endParaRPr lang="en-US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Lag sustained and commits do not move</a:t>
                      </a:r>
                      <a:endParaRPr lang="en-US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Consumer owner: inspect membership/errors</a:t>
                      </a:r>
                      <a:endParaRPr lang="en-US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2280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Throughput deficit</a:t>
                      </a:r>
                      <a:endParaRPr lang="en-US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Lag grows while commits and end move</a:t>
                      </a:r>
                      <a:endParaRPr lang="en-US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App/platform: compare rates/dependencies</a:t>
                      </a:r>
                      <a:endParaRPr lang="en-US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  <a:tr h="62280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Disk forecast</a:t>
                      </a:r>
                      <a:endParaRPr lang="en-US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Log-dir limit inside response window</a:t>
                      </a:r>
                      <a:endParaRPr lang="en-US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Kafka/platform: identify growth/add capacity</a:t>
                      </a:r>
                      <a:endParaRPr lang="en-US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2280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Partition skew</a:t>
                      </a:r>
                      <a:endParaRPr lang="en-US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One partition persistently dominates</a:t>
                      </a:r>
                      <a:endParaRPr lang="en-US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Producer/data owner: review key</a:t>
                      </a:r>
                      <a:endParaRPr lang="en-US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  <a:tr h="62280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Lifecycle drift</a:t>
                      </a:r>
                      <a:endParaRPr lang="en-US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Effective config differs from approved policy</a:t>
                      </a:r>
                      <a:endParaRPr lang="en-US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Kafka owner: review and roll back</a:t>
                      </a:r>
                      <a:endParaRPr lang="en-US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6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17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Hands-on Lab 2: Diagnose consumer lag and topic health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8" name="Rectangle 3"/>
          <p:cNvSpPr/>
          <p:nvPr/>
        </p:nvSpPr>
        <p:spPr>
          <a:xfrm>
            <a:off x="594360" y="86868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19" name="TextBox 4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0" name="TextBox 5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68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1" name="TextBox 6"/>
          <p:cNvSpPr/>
          <p:nvPr/>
        </p:nvSpPr>
        <p:spPr>
          <a:xfrm>
            <a:off x="685800" y="1188720"/>
            <a:ext cx="10789560" cy="507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18360" rIns="45720" bIns="45000" anchor="t">
            <a:spAutoFit/>
          </a:bodyPr>
          <a:p>
            <a:pPr defTabSz="457200">
              <a:lnSpc>
                <a:spcPct val="105000"/>
              </a:lnSpc>
              <a:spcAft>
                <a:spcPts val="700"/>
              </a:spcAft>
            </a:pPr>
            <a:r>
              <a:rPr lang="en-US" sz="18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Inspect brokers, topics, partitions, leaders, replicas/ISR, end offsets, disk, and process resources.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700"/>
              </a:spcAft>
            </a:pPr>
            <a:r>
              <a:rPr lang="en-US" sz="18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Create a backlog and classify it using two or more offset snapshots.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700"/>
              </a:spcAft>
            </a:pPr>
            <a:r>
              <a:rPr lang="en-US" sz="18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Distinguish a draining backlog, a stalled group, and a throughput deficit.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700"/>
              </a:spcAft>
            </a:pPr>
            <a:r>
              <a:rPr lang="en-US" sz="18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Create a hot-key workload and compare per-partition distribution with customer keying.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700"/>
              </a:spcAft>
            </a:pPr>
            <a:r>
              <a:rPr lang="en-US" sz="18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Review retention/compaction settings and identify lifecycle risks.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700"/>
              </a:spcAft>
            </a:pPr>
            <a:r>
              <a:rPr lang="en-US" sz="18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Create a short Kafka health-check and alert checklist.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2" name="Rounded Rectangle 7"/>
          <p:cNvSpPr/>
          <p:nvPr/>
        </p:nvSpPr>
        <p:spPr>
          <a:xfrm>
            <a:off x="777240" y="5641920"/>
            <a:ext cx="10606680" cy="420120"/>
          </a:xfrm>
          <a:prstGeom prst="roundRect">
            <a:avLst>
              <a:gd name="adj" fmla="val 16667"/>
            </a:avLst>
          </a:prstGeom>
          <a:solidFill>
            <a:srgbClr val="F2F9F6"/>
          </a:solidFill>
          <a:ln>
            <a:solidFill>
              <a:srgbClr val="1F7A5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3" name="TextBox 8"/>
          <p:cNvSpPr/>
          <p:nvPr/>
        </p:nvSpPr>
        <p:spPr>
          <a:xfrm>
            <a:off x="941760" y="5733360"/>
            <a:ext cx="1027764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1F7A56"/>
                </a:solidFill>
                <a:effectLst/>
                <a:uFillTx/>
                <a:latin typeface="Aptos"/>
              </a:rPr>
              <a:t>Record exact topic, group, partition, offsets, duration, interpretation, owner, and first action.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5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Lab 2 deliverable checklist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6" name="Rectangle 3"/>
          <p:cNvSpPr/>
          <p:nvPr/>
        </p:nvSpPr>
        <p:spPr>
          <a:xfrm>
            <a:off x="594360" y="86868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7" name="TextBox 4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8" name="TextBox 5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69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29" name="Table 6"/>
          <p:cNvGraphicFramePr/>
          <p:nvPr/>
        </p:nvGraphicFramePr>
        <p:xfrm>
          <a:off x="603360" y="1234440"/>
          <a:ext cx="10972440" cy="4983120"/>
        </p:xfrm>
        <a:graphic>
          <a:graphicData uri="http://schemas.openxmlformats.org/drawingml/2006/table">
            <a:tbl>
              <a:tblPr/>
              <a:tblGrid>
                <a:gridCol w="2240280"/>
                <a:gridCol w="8732520"/>
              </a:tblGrid>
              <a:tr h="711720">
                <a:tc>
                  <a:txBody>
                    <a:bodyPr lIns="73080" r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Evidence</a:t>
                      </a:r>
                      <a:endParaRPr lang="en-US" sz="14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74E"/>
                    </a:solidFill>
                  </a:tcPr>
                </a:tc>
                <a:tc>
                  <a:txBody>
                    <a:bodyPr lIns="73080" r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Minimum acceptance criteria</a:t>
                      </a:r>
                      <a:endParaRPr lang="en-US" sz="14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74E"/>
                    </a:solidFill>
                  </a:tcPr>
                </a:tc>
              </a:tr>
              <a:tr h="71172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Topic health</a:t>
                      </a:r>
                      <a:endParaRPr lang="en-US" sz="14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Leaders, replicas/ISR, partition count, offsets, disk/resource evidence</a:t>
                      </a:r>
                      <a:endParaRPr lang="en-US" sz="14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1172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Lag classification</a:t>
                      </a:r>
                      <a:endParaRPr lang="en-US" sz="14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At least two snapshots; end/commit movement and likely cause</a:t>
                      </a:r>
                      <a:endParaRPr lang="en-US" sz="14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  <a:tr h="71172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Partition skew</a:t>
                      </a:r>
                      <a:endParaRPr lang="en-US" sz="14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Per-partition distribution and key-cardinality explanation</a:t>
                      </a:r>
                      <a:endParaRPr lang="en-US" sz="14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1172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Lifecycle review</a:t>
                      </a:r>
                      <a:endParaRPr lang="en-US" sz="14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Effective settings, risk, reviewed change, rollback</a:t>
                      </a:r>
                      <a:endParaRPr lang="en-US" sz="14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  <a:tr h="71172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Restart/persistence</a:t>
                      </a:r>
                      <a:endParaRPr lang="en-US" sz="14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Explain retained records and durable committed progress</a:t>
                      </a:r>
                      <a:endParaRPr lang="en-US" sz="14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1172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Alert checklist</a:t>
                      </a:r>
                      <a:endParaRPr lang="en-US" sz="14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5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Leader, ISR, stall, deficit, disk, skew, lifecycle</a:t>
                      </a:r>
                      <a:endParaRPr lang="en-US" sz="14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0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31" name="TextBox 2"/>
          <p:cNvSpPr/>
          <p:nvPr/>
        </p:nvSpPr>
        <p:spPr>
          <a:xfrm>
            <a:off x="777240" y="960120"/>
            <a:ext cx="18284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04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2" name="TextBox 3"/>
          <p:cNvSpPr/>
          <p:nvPr/>
        </p:nvSpPr>
        <p:spPr>
          <a:xfrm>
            <a:off x="777240" y="1874520"/>
            <a:ext cx="1024092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Kafka Connect and MongoDB Connector Operations</a:t>
            </a:r>
            <a:endParaRPr lang="en-US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3" name="TextBox 4"/>
          <p:cNvSpPr/>
          <p:nvPr/>
        </p:nvSpPr>
        <p:spPr>
          <a:xfrm>
            <a:off x="804600" y="3246120"/>
            <a:ext cx="98751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100" b="0" u="none" strike="noStrike">
                <a:solidFill>
                  <a:srgbClr val="E6F0FA"/>
                </a:solidFill>
                <a:effectLst/>
                <a:uFillTx/>
                <a:latin typeface="Aptos"/>
              </a:rPr>
              <a:t>Inspect worker and task health, validate configuration, handle failures and DLQs, reconcile data, and plan safe upgrades.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4" name="Rectangle 5"/>
          <p:cNvSpPr/>
          <p:nvPr/>
        </p:nvSpPr>
        <p:spPr>
          <a:xfrm>
            <a:off x="804600" y="5349240"/>
            <a:ext cx="1828440" cy="453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720" rIns="90000" bIns="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35" name="TextBox 6"/>
          <p:cNvSpPr/>
          <p:nvPr/>
        </p:nvSpPr>
        <p:spPr>
          <a:xfrm>
            <a:off x="804600" y="5596200"/>
            <a:ext cx="7772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Evidence first • change only what the evidence supports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6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37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Module 4 architecture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8" name="TextBox 3"/>
          <p:cNvSpPr/>
          <p:nvPr/>
        </p:nvSpPr>
        <p:spPr>
          <a:xfrm>
            <a:off x="594360" y="749880"/>
            <a:ext cx="10881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KAFKA CONNECT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9" name="Rectangle 4"/>
          <p:cNvSpPr/>
          <p:nvPr/>
        </p:nvSpPr>
        <p:spPr>
          <a:xfrm>
            <a:off x="594360" y="105156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40" name="TextBox 5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1" name="TextBox 6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71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2" name="Rounded Rectangle 7"/>
          <p:cNvSpPr/>
          <p:nvPr/>
        </p:nvSpPr>
        <p:spPr>
          <a:xfrm>
            <a:off x="502920" y="2148840"/>
            <a:ext cx="1919880" cy="1234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1F7A5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43" name="TextBox 8"/>
          <p:cNvSpPr/>
          <p:nvPr/>
        </p:nvSpPr>
        <p:spPr>
          <a:xfrm>
            <a:off x="594360" y="2404800"/>
            <a:ext cx="17370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r>
              <a:rPr lang="en-US" sz="1450" b="1" u="none" strike="noStrike">
                <a:solidFill>
                  <a:srgbClr val="1F7A56"/>
                </a:solidFill>
                <a:effectLst/>
                <a:uFillTx/>
                <a:latin typeface="Aptos"/>
              </a:rPr>
              <a:t>MongoDB source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450" b="1" u="none" strike="noStrike">
                <a:solidFill>
                  <a:srgbClr val="1F7A56"/>
                </a:solidFill>
                <a:effectLst/>
                <a:uFillTx/>
                <a:latin typeface="Aptos"/>
              </a:rPr>
              <a:t>connector_source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4" name="TextBox 9"/>
          <p:cNvSpPr/>
          <p:nvPr/>
        </p:nvSpPr>
        <p:spPr>
          <a:xfrm>
            <a:off x="2477880" y="2587680"/>
            <a:ext cx="2923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→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5" name="Rounded Rectangle 10"/>
          <p:cNvSpPr/>
          <p:nvPr/>
        </p:nvSpPr>
        <p:spPr>
          <a:xfrm>
            <a:off x="2816280" y="2148840"/>
            <a:ext cx="1919880" cy="1234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2B6C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46" name="TextBox 11"/>
          <p:cNvSpPr/>
          <p:nvPr/>
        </p:nvSpPr>
        <p:spPr>
          <a:xfrm>
            <a:off x="2907720" y="2404800"/>
            <a:ext cx="17370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r>
              <a:rPr lang="en-US" sz="145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Source connector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45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workshop-mongo-source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7" name="TextBox 12"/>
          <p:cNvSpPr/>
          <p:nvPr/>
        </p:nvSpPr>
        <p:spPr>
          <a:xfrm>
            <a:off x="4791600" y="2587680"/>
            <a:ext cx="2923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→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8" name="Rounded Rectangle 13"/>
          <p:cNvSpPr/>
          <p:nvPr/>
        </p:nvSpPr>
        <p:spPr>
          <a:xfrm>
            <a:off x="5139000" y="2148840"/>
            <a:ext cx="1965600" cy="1234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1F374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49" name="TextBox 14"/>
          <p:cNvSpPr/>
          <p:nvPr/>
        </p:nvSpPr>
        <p:spPr>
          <a:xfrm>
            <a:off x="5230440" y="2404800"/>
            <a:ext cx="178272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r>
              <a:rPr lang="en-US" sz="145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Kafka CDC topic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45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workshop-cdc…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0" name="TextBox 15"/>
          <p:cNvSpPr/>
          <p:nvPr/>
        </p:nvSpPr>
        <p:spPr>
          <a:xfrm>
            <a:off x="7159680" y="2587680"/>
            <a:ext cx="2923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→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1" name="Rounded Rectangle 16"/>
          <p:cNvSpPr/>
          <p:nvPr/>
        </p:nvSpPr>
        <p:spPr>
          <a:xfrm>
            <a:off x="7498080" y="2148840"/>
            <a:ext cx="1919880" cy="1234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2B6C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2" name="TextBox 17"/>
          <p:cNvSpPr/>
          <p:nvPr/>
        </p:nvSpPr>
        <p:spPr>
          <a:xfrm>
            <a:off x="7589520" y="2404800"/>
            <a:ext cx="17370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r>
              <a:rPr lang="en-US" sz="145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Sink connector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45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workshop-mongo-sink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3" name="TextBox 18"/>
          <p:cNvSpPr/>
          <p:nvPr/>
        </p:nvSpPr>
        <p:spPr>
          <a:xfrm>
            <a:off x="9473040" y="2587680"/>
            <a:ext cx="2923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→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4" name="Rounded Rectangle 19"/>
          <p:cNvSpPr/>
          <p:nvPr/>
        </p:nvSpPr>
        <p:spPr>
          <a:xfrm>
            <a:off x="9811440" y="2148840"/>
            <a:ext cx="1874160" cy="1234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1F7A5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5" name="TextBox 20"/>
          <p:cNvSpPr/>
          <p:nvPr/>
        </p:nvSpPr>
        <p:spPr>
          <a:xfrm>
            <a:off x="9902880" y="2404800"/>
            <a:ext cx="16912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r>
              <a:rPr lang="en-US" sz="1450" b="1" u="none" strike="noStrike">
                <a:solidFill>
                  <a:srgbClr val="1F7A56"/>
                </a:solidFill>
                <a:effectLst/>
                <a:uFillTx/>
                <a:latin typeface="Aptos"/>
              </a:rPr>
              <a:t>MongoDB sink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450" b="1" u="none" strike="noStrike">
                <a:solidFill>
                  <a:srgbClr val="1F7A56"/>
                </a:solidFill>
                <a:effectLst/>
                <a:uFillTx/>
                <a:latin typeface="Aptos"/>
              </a:rPr>
              <a:t>connector_sink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6" name="Rounded Rectangle 21"/>
          <p:cNvSpPr/>
          <p:nvPr/>
        </p:nvSpPr>
        <p:spPr>
          <a:xfrm>
            <a:off x="7726680" y="4160520"/>
            <a:ext cx="1508400" cy="658080"/>
          </a:xfrm>
          <a:prstGeom prst="roundRect">
            <a:avLst>
              <a:gd name="adj" fmla="val 16667"/>
            </a:avLst>
          </a:prstGeom>
          <a:solidFill>
            <a:srgbClr val="FDF5EB"/>
          </a:solidFill>
          <a:ln>
            <a:solidFill>
              <a:srgbClr val="B4691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7" name="TextBox 22"/>
          <p:cNvSpPr/>
          <p:nvPr/>
        </p:nvSpPr>
        <p:spPr>
          <a:xfrm>
            <a:off x="7818120" y="4297680"/>
            <a:ext cx="13255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B46914"/>
                </a:solidFill>
                <a:effectLst/>
                <a:uFillTx/>
                <a:latin typeface="Aptos"/>
              </a:rPr>
              <a:t>Connect DLQ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8" name="TextBox 23"/>
          <p:cNvSpPr/>
          <p:nvPr/>
        </p:nvSpPr>
        <p:spPr>
          <a:xfrm>
            <a:off x="8357760" y="3538800"/>
            <a:ext cx="25560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↓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9" name="Rounded Rectangle 24"/>
          <p:cNvSpPr/>
          <p:nvPr/>
        </p:nvSpPr>
        <p:spPr>
          <a:xfrm>
            <a:off x="777240" y="5413320"/>
            <a:ext cx="10606680" cy="502560"/>
          </a:xfrm>
          <a:prstGeom prst="roundRect">
            <a:avLst>
              <a:gd name="adj" fmla="val 16667"/>
            </a:avLst>
          </a:prstGeom>
          <a:solidFill>
            <a:srgbClr val="F2F9F6"/>
          </a:solidFill>
          <a:ln>
            <a:solidFill>
              <a:srgbClr val="1F7A5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60" name="TextBox 25"/>
          <p:cNvSpPr/>
          <p:nvPr/>
        </p:nvSpPr>
        <p:spPr>
          <a:xfrm>
            <a:off x="941760" y="5504760"/>
            <a:ext cx="10277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1F7A56"/>
                </a:solidFill>
                <a:effectLst/>
                <a:uFillTx/>
                <a:latin typeface="Aptos"/>
              </a:rPr>
              <a:t>Source watches only connector_source; sink writes only connector_sink to prevent a change-stream loop.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1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62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Worker, connector, and task health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3" name="TextBox 3"/>
          <p:cNvSpPr/>
          <p:nvPr/>
        </p:nvSpPr>
        <p:spPr>
          <a:xfrm>
            <a:off x="594360" y="749880"/>
            <a:ext cx="10881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KAFKA CONNECT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4" name="Rectangle 4"/>
          <p:cNvSpPr/>
          <p:nvPr/>
        </p:nvSpPr>
        <p:spPr>
          <a:xfrm>
            <a:off x="594360" y="105156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65" name="TextBox 5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6" name="TextBox 6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72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7" name="TextBox 7"/>
          <p:cNvSpPr/>
          <p:nvPr/>
        </p:nvSpPr>
        <p:spPr>
          <a:xfrm>
            <a:off x="685800" y="1188720"/>
            <a:ext cx="10789560" cy="507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18360" rIns="45720" bIns="45000" anchor="t">
            <a:spAutoFit/>
          </a:bodyPr>
          <a:p>
            <a:pPr defTabSz="457200">
              <a:lnSpc>
                <a:spcPct val="105000"/>
              </a:lnSpc>
              <a:spcAft>
                <a:spcPts val="700"/>
              </a:spcAft>
            </a:pPr>
            <a:r>
              <a:rPr lang="en-US" sz="18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REST root available: worker API responds.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700"/>
              </a:spcAft>
            </a:pPr>
            <a:r>
              <a:rPr lang="en-US" sz="18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Plugin endpoint: required MongoDB source/sink classes and versions are discovered.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700"/>
              </a:spcAft>
            </a:pPr>
            <a:r>
              <a:rPr lang="en-US" sz="18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Connector state: logical connector lifecycle is visible.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700"/>
              </a:spcAft>
            </a:pPr>
            <a:r>
              <a:rPr lang="en-US" sz="18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Every task state: actual work unit is RUNNING, PAUSED, RESTARTING, or FAILED.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700"/>
              </a:spcAft>
            </a:pPr>
            <a:r>
              <a:rPr lang="en-US" sz="18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Logs and trace: stage, exception, dependency, topic/partition/offset, and restart history.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700"/>
              </a:spcAft>
            </a:pPr>
            <a:r>
              <a:rPr lang="en-US" sz="18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Last successful movement: offsets and source/sink records are still advancing.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8" name="Rounded Rectangle 8"/>
          <p:cNvSpPr/>
          <p:nvPr/>
        </p:nvSpPr>
        <p:spPr>
          <a:xfrm>
            <a:off x="777240" y="5577840"/>
            <a:ext cx="10606680" cy="502560"/>
          </a:xfrm>
          <a:prstGeom prst="roundRect">
            <a:avLst>
              <a:gd name="adj" fmla="val 16667"/>
            </a:avLst>
          </a:prstGeom>
          <a:solidFill>
            <a:srgbClr val="F2F9F6"/>
          </a:solidFill>
          <a:ln>
            <a:solidFill>
              <a:srgbClr val="B4691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69" name="TextBox 9"/>
          <p:cNvSpPr/>
          <p:nvPr/>
        </p:nvSpPr>
        <p:spPr>
          <a:xfrm>
            <a:off x="941760" y="5669280"/>
            <a:ext cx="10277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B46914"/>
                </a:solidFill>
                <a:effectLst/>
                <a:uFillTx/>
                <a:latin typeface="Aptos"/>
              </a:rPr>
              <a:t>A connector can report RUNNING while one of its tasks is FAILED; inspect every task.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1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Connect health commands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2" name="TextBox 3"/>
          <p:cNvSpPr/>
          <p:nvPr/>
        </p:nvSpPr>
        <p:spPr>
          <a:xfrm>
            <a:off x="594360" y="749880"/>
            <a:ext cx="10881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KAFKA CONNECT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3" name="Rectangle 4"/>
          <p:cNvSpPr/>
          <p:nvPr/>
        </p:nvSpPr>
        <p:spPr>
          <a:xfrm>
            <a:off x="594360" y="105156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4" name="TextBox 5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5" name="TextBox 6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73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6" name="Rounded Rectangle 7"/>
          <p:cNvSpPr/>
          <p:nvPr/>
        </p:nvSpPr>
        <p:spPr>
          <a:xfrm>
            <a:off x="685800" y="1261800"/>
            <a:ext cx="10789560" cy="3885840"/>
          </a:xfrm>
          <a:prstGeom prst="roundRect">
            <a:avLst>
              <a:gd name="adj" fmla="val 16667"/>
            </a:avLst>
          </a:prstGeom>
          <a:solidFill>
            <a:srgbClr val="F8F9FB"/>
          </a:solidFill>
          <a:ln>
            <a:solidFill>
              <a:srgbClr val="CDD2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7" name="TextBox 8"/>
          <p:cNvSpPr/>
          <p:nvPr/>
        </p:nvSpPr>
        <p:spPr>
          <a:xfrm>
            <a:off x="887040" y="1380600"/>
            <a:ext cx="103870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COMMAND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8" name="TextBox 9"/>
          <p:cNvSpPr/>
          <p:nvPr/>
        </p:nvSpPr>
        <p:spPr>
          <a:xfrm>
            <a:off x="887040" y="1719000"/>
            <a:ext cx="10387080" cy="330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360" tIns="27360" rIns="27360" bIns="27360" anchor="t">
            <a:spAutoFit/>
          </a:bodyPr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curl -fsS http://localhost:8083/ | jq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curl -fsS http://localhost:8083/connector-plugins | jq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curl -fsS 'http://localhost:8083/connectors?expand=status&amp;expand=info' | jq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curl -fsS http://localhost:8083/connectors/workshop-mongo-sink/status | jq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1E293B"/>
                </a:solidFill>
                <a:effectLst/>
                <a:uFillTx/>
                <a:latin typeface="Aptos Mono"/>
              </a:rPr>
              <a:t>docker compose -f connect/docker-compose.yml logs --tail=200 connect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9" name="Rounded Rectangle 10"/>
          <p:cNvSpPr/>
          <p:nvPr/>
        </p:nvSpPr>
        <p:spPr>
          <a:xfrm>
            <a:off x="777240" y="5394960"/>
            <a:ext cx="10606680" cy="502560"/>
          </a:xfrm>
          <a:prstGeom prst="roundRect">
            <a:avLst>
              <a:gd name="adj" fmla="val 16667"/>
            </a:avLst>
          </a:prstGeom>
          <a:solidFill>
            <a:srgbClr val="F2F9F6"/>
          </a:solidFill>
          <a:ln>
            <a:solidFill>
              <a:srgbClr val="1F7A5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80" name="TextBox 11"/>
          <p:cNvSpPr/>
          <p:nvPr/>
        </p:nvSpPr>
        <p:spPr>
          <a:xfrm>
            <a:off x="941760" y="5486400"/>
            <a:ext cx="10277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1F7A56"/>
                </a:solidFill>
                <a:effectLst/>
                <a:uFillTx/>
                <a:latin typeface="Aptos"/>
              </a:rPr>
              <a:t>Keep worker availability, connector state, task state, trace, and data movement as separate evidence.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1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82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Maintainable connector configuration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3" name="Rectangle 3"/>
          <p:cNvSpPr/>
          <p:nvPr/>
        </p:nvSpPr>
        <p:spPr>
          <a:xfrm>
            <a:off x="594360" y="86868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84" name="TextBox 4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5" name="TextBox 5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74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6" name="Rounded Rectangle 6"/>
          <p:cNvSpPr/>
          <p:nvPr/>
        </p:nvSpPr>
        <p:spPr>
          <a:xfrm>
            <a:off x="621720" y="1234440"/>
            <a:ext cx="5412960" cy="4891680"/>
          </a:xfrm>
          <a:prstGeom prst="roundRect">
            <a:avLst>
              <a:gd name="adj" fmla="val 16667"/>
            </a:avLst>
          </a:prstGeom>
          <a:solidFill>
            <a:srgbClr val="F4F6F8"/>
          </a:solidFill>
          <a:ln>
            <a:solidFill>
              <a:srgbClr val="DCE1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87" name="Rectangle 7"/>
          <p:cNvSpPr/>
          <p:nvPr/>
        </p:nvSpPr>
        <p:spPr>
          <a:xfrm>
            <a:off x="621720" y="1234440"/>
            <a:ext cx="72720" cy="489168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88" name="TextBox 8"/>
          <p:cNvSpPr/>
          <p:nvPr/>
        </p:nvSpPr>
        <p:spPr>
          <a:xfrm>
            <a:off x="850320" y="1398960"/>
            <a:ext cx="50014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Review before deployment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9" name="TextBox 9"/>
          <p:cNvSpPr/>
          <p:nvPr/>
        </p:nvSpPr>
        <p:spPr>
          <a:xfrm>
            <a:off x="822960" y="1874520"/>
            <a:ext cx="5028840" cy="411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18360" rIns="45720" bIns="45000" anchor="t">
            <a:spAutoFit/>
          </a:bodyPr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Connector class and tasks.max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MongoDB URI and narrow DB/collection scope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Explicit topic or naming policy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Key/value converters and schemas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Retry, error tolerance, logging, and DLQ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Credentials externalized from JSON and Git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0" name="Rounded Rectangle 10"/>
          <p:cNvSpPr/>
          <p:nvPr/>
        </p:nvSpPr>
        <p:spPr>
          <a:xfrm>
            <a:off x="6163200" y="1234440"/>
            <a:ext cx="5412960" cy="4891680"/>
          </a:xfrm>
          <a:prstGeom prst="roundRect">
            <a:avLst>
              <a:gd name="adj" fmla="val 16667"/>
            </a:avLst>
          </a:prstGeom>
          <a:solidFill>
            <a:srgbClr val="F4F6F8"/>
          </a:solidFill>
          <a:ln>
            <a:solidFill>
              <a:srgbClr val="DCE1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1" name="Rectangle 11"/>
          <p:cNvSpPr/>
          <p:nvPr/>
        </p:nvSpPr>
        <p:spPr>
          <a:xfrm>
            <a:off x="6163200" y="1234440"/>
            <a:ext cx="72720" cy="4891680"/>
          </a:xfrm>
          <a:prstGeom prst="rect">
            <a:avLst/>
          </a:prstGeom>
          <a:solidFill>
            <a:srgbClr val="1F7A5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2" name="TextBox 12"/>
          <p:cNvSpPr/>
          <p:nvPr/>
        </p:nvSpPr>
        <p:spPr>
          <a:xfrm>
            <a:off x="6391800" y="1398960"/>
            <a:ext cx="50014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F7A56"/>
                </a:solidFill>
                <a:effectLst/>
                <a:uFillTx/>
                <a:latin typeface="Aptos"/>
              </a:rPr>
              <a:t>Change controls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3" name="TextBox 13"/>
          <p:cNvSpPr/>
          <p:nvPr/>
        </p:nvSpPr>
        <p:spPr>
          <a:xfrm>
            <a:off x="6364080" y="1874520"/>
            <a:ext cx="5028840" cy="411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18360" rIns="45720" bIns="45000" anchor="t">
            <a:spAutoFit/>
          </a:bodyPr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Keep desired config in version control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Validate against the installed plugin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Capture current config and status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Use POST for new names; PUT for reviewed update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Wait for every task and reconcile new data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Rollback to the captured approved config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5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Validate, apply, then prove runtime movement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6" name="TextBox 3"/>
          <p:cNvSpPr/>
          <p:nvPr/>
        </p:nvSpPr>
        <p:spPr>
          <a:xfrm>
            <a:off x="594360" y="749880"/>
            <a:ext cx="10881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KAFKA CONNECT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7" name="Rectangle 4"/>
          <p:cNvSpPr/>
          <p:nvPr/>
        </p:nvSpPr>
        <p:spPr>
          <a:xfrm>
            <a:off x="594360" y="105156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8" name="TextBox 5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9" name="TextBox 6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75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0" name="Rounded Rectangle 7"/>
          <p:cNvSpPr/>
          <p:nvPr/>
        </p:nvSpPr>
        <p:spPr>
          <a:xfrm>
            <a:off x="594360" y="1828800"/>
            <a:ext cx="1874160" cy="1599840"/>
          </a:xfrm>
          <a:prstGeom prst="roundRect">
            <a:avLst>
              <a:gd name="adj" fmla="val 16667"/>
            </a:avLst>
          </a:prstGeom>
          <a:solidFill>
            <a:srgbClr val="F4F6F8"/>
          </a:solidFill>
          <a:ln>
            <a:solidFill>
              <a:srgbClr val="2B6C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01" name="TextBox 8"/>
          <p:cNvSpPr/>
          <p:nvPr/>
        </p:nvSpPr>
        <p:spPr>
          <a:xfrm>
            <a:off x="713160" y="1993320"/>
            <a:ext cx="347040" cy="347040"/>
          </a:xfrm>
          <a:prstGeom prst="rect">
            <a:avLst/>
          </a:prstGeom>
          <a:solidFill>
            <a:srgbClr val="2B6CB0"/>
          </a:solidFill>
          <a:ln w="0">
            <a:solidFill>
              <a:srgbClr val="2B6CB0"/>
            </a:solidFill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1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2" name="TextBox 9"/>
          <p:cNvSpPr/>
          <p:nvPr/>
        </p:nvSpPr>
        <p:spPr>
          <a:xfrm>
            <a:off x="740520" y="2560320"/>
            <a:ext cx="15814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r>
              <a:rPr lang="en-US" sz="155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Review JSON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55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and diff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3" name="TextBox 10"/>
          <p:cNvSpPr/>
          <p:nvPr/>
        </p:nvSpPr>
        <p:spPr>
          <a:xfrm>
            <a:off x="2496240" y="2450520"/>
            <a:ext cx="347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→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4" name="Rounded Rectangle 11"/>
          <p:cNvSpPr/>
          <p:nvPr/>
        </p:nvSpPr>
        <p:spPr>
          <a:xfrm>
            <a:off x="2898720" y="1828800"/>
            <a:ext cx="1874160" cy="1599840"/>
          </a:xfrm>
          <a:prstGeom prst="roundRect">
            <a:avLst>
              <a:gd name="adj" fmla="val 16667"/>
            </a:avLst>
          </a:prstGeom>
          <a:solidFill>
            <a:srgbClr val="F4F6F8"/>
          </a:solidFill>
          <a:ln>
            <a:solidFill>
              <a:srgbClr val="2B6C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05" name="TextBox 12"/>
          <p:cNvSpPr/>
          <p:nvPr/>
        </p:nvSpPr>
        <p:spPr>
          <a:xfrm>
            <a:off x="3017520" y="1993320"/>
            <a:ext cx="347040" cy="347040"/>
          </a:xfrm>
          <a:prstGeom prst="rect">
            <a:avLst/>
          </a:prstGeom>
          <a:solidFill>
            <a:srgbClr val="2B6CB0"/>
          </a:solidFill>
          <a:ln w="0">
            <a:solidFill>
              <a:srgbClr val="2B6CB0"/>
            </a:solidFill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2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6" name="TextBox 13"/>
          <p:cNvSpPr/>
          <p:nvPr/>
        </p:nvSpPr>
        <p:spPr>
          <a:xfrm>
            <a:off x="3044880" y="2560320"/>
            <a:ext cx="15814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r>
              <a:rPr lang="en-US" sz="155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Plugin config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55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validate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7" name="TextBox 14"/>
          <p:cNvSpPr/>
          <p:nvPr/>
        </p:nvSpPr>
        <p:spPr>
          <a:xfrm>
            <a:off x="4800600" y="2450520"/>
            <a:ext cx="347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→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8" name="Rounded Rectangle 15"/>
          <p:cNvSpPr/>
          <p:nvPr/>
        </p:nvSpPr>
        <p:spPr>
          <a:xfrm>
            <a:off x="5203080" y="1828800"/>
            <a:ext cx="1874160" cy="1599840"/>
          </a:xfrm>
          <a:prstGeom prst="roundRect">
            <a:avLst>
              <a:gd name="adj" fmla="val 16667"/>
            </a:avLst>
          </a:prstGeom>
          <a:solidFill>
            <a:srgbClr val="F4F6F8"/>
          </a:solidFill>
          <a:ln>
            <a:solidFill>
              <a:srgbClr val="2B6C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09" name="TextBox 16"/>
          <p:cNvSpPr/>
          <p:nvPr/>
        </p:nvSpPr>
        <p:spPr>
          <a:xfrm>
            <a:off x="5321880" y="1993320"/>
            <a:ext cx="347040" cy="347040"/>
          </a:xfrm>
          <a:prstGeom prst="rect">
            <a:avLst/>
          </a:prstGeom>
          <a:solidFill>
            <a:srgbClr val="2B6CB0"/>
          </a:solidFill>
          <a:ln w="0">
            <a:solidFill>
              <a:srgbClr val="2B6CB0"/>
            </a:solidFill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3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0" name="TextBox 17"/>
          <p:cNvSpPr/>
          <p:nvPr/>
        </p:nvSpPr>
        <p:spPr>
          <a:xfrm>
            <a:off x="5349240" y="2560320"/>
            <a:ext cx="15814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r>
              <a:rPr lang="en-US" sz="155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POST or PUT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55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desired config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1" name="TextBox 18"/>
          <p:cNvSpPr/>
          <p:nvPr/>
        </p:nvSpPr>
        <p:spPr>
          <a:xfrm>
            <a:off x="7104960" y="2450520"/>
            <a:ext cx="347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→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2" name="Rounded Rectangle 19"/>
          <p:cNvSpPr/>
          <p:nvPr/>
        </p:nvSpPr>
        <p:spPr>
          <a:xfrm>
            <a:off x="7507080" y="1828800"/>
            <a:ext cx="1874160" cy="1599840"/>
          </a:xfrm>
          <a:prstGeom prst="roundRect">
            <a:avLst>
              <a:gd name="adj" fmla="val 16667"/>
            </a:avLst>
          </a:prstGeom>
          <a:solidFill>
            <a:srgbClr val="F4F6F8"/>
          </a:solidFill>
          <a:ln>
            <a:solidFill>
              <a:srgbClr val="2B6C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13" name="TextBox 20"/>
          <p:cNvSpPr/>
          <p:nvPr/>
        </p:nvSpPr>
        <p:spPr>
          <a:xfrm>
            <a:off x="7626240" y="1993320"/>
            <a:ext cx="347040" cy="347040"/>
          </a:xfrm>
          <a:prstGeom prst="rect">
            <a:avLst/>
          </a:prstGeom>
          <a:solidFill>
            <a:srgbClr val="2B6CB0"/>
          </a:solidFill>
          <a:ln w="0">
            <a:solidFill>
              <a:srgbClr val="2B6CB0"/>
            </a:solidFill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4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4" name="TextBox 21"/>
          <p:cNvSpPr/>
          <p:nvPr/>
        </p:nvSpPr>
        <p:spPr>
          <a:xfrm>
            <a:off x="7653600" y="2560320"/>
            <a:ext cx="15814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r>
              <a:rPr lang="en-US" sz="155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Wait for every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55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task RUNNING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5" name="TextBox 22"/>
          <p:cNvSpPr/>
          <p:nvPr/>
        </p:nvSpPr>
        <p:spPr>
          <a:xfrm>
            <a:off x="9409320" y="2450520"/>
            <a:ext cx="347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→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6" name="Rounded Rectangle 23"/>
          <p:cNvSpPr/>
          <p:nvPr/>
        </p:nvSpPr>
        <p:spPr>
          <a:xfrm>
            <a:off x="9811440" y="1828800"/>
            <a:ext cx="1874160" cy="1599840"/>
          </a:xfrm>
          <a:prstGeom prst="roundRect">
            <a:avLst>
              <a:gd name="adj" fmla="val 16667"/>
            </a:avLst>
          </a:prstGeom>
          <a:solidFill>
            <a:srgbClr val="F4F6F8"/>
          </a:solidFill>
          <a:ln>
            <a:solidFill>
              <a:srgbClr val="2B6C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17" name="TextBox 24"/>
          <p:cNvSpPr/>
          <p:nvPr/>
        </p:nvSpPr>
        <p:spPr>
          <a:xfrm>
            <a:off x="9930240" y="1993320"/>
            <a:ext cx="347040" cy="347040"/>
          </a:xfrm>
          <a:prstGeom prst="rect">
            <a:avLst/>
          </a:prstGeom>
          <a:solidFill>
            <a:srgbClr val="2B6CB0"/>
          </a:solidFill>
          <a:ln w="0">
            <a:solidFill>
              <a:srgbClr val="2B6CB0"/>
            </a:solidFill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5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8" name="TextBox 25"/>
          <p:cNvSpPr/>
          <p:nvPr/>
        </p:nvSpPr>
        <p:spPr>
          <a:xfrm>
            <a:off x="9957960" y="2560320"/>
            <a:ext cx="15814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r>
              <a:rPr lang="en-US" sz="155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Trace record and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55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reconcile sink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9" name="TextBox 26"/>
          <p:cNvSpPr/>
          <p:nvPr/>
        </p:nvSpPr>
        <p:spPr>
          <a:xfrm>
            <a:off x="868680" y="4160520"/>
            <a:ext cx="1019520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18360" rIns="45720" bIns="45000" anchor="t">
            <a:spAutoFit/>
          </a:bodyPr>
          <a:p>
            <a:pPr defTabSz="457200">
              <a:lnSpc>
                <a:spcPct val="105000"/>
              </a:lnSpc>
              <a:spcAft>
                <a:spcPts val="601"/>
              </a:spcAf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Validation proves the installed plugin accepts values; it does not prove dependency access or data flow.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601"/>
              </a:spcAft>
            </a:pPr>
            <a:r>
              <a:rPr lang="en-US" sz="17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A successful PUT may reconfigure tasks; verify status, offsets, DLQ, and source-to-sink content.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0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21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Rejected change vs. failed running task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2" name="Rectangle 3"/>
          <p:cNvSpPr/>
          <p:nvPr/>
        </p:nvSpPr>
        <p:spPr>
          <a:xfrm>
            <a:off x="594360" y="86868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23" name="TextBox 4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4" name="TextBox 5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76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25" name="Table 6"/>
          <p:cNvGraphicFramePr/>
          <p:nvPr/>
        </p:nvGraphicFramePr>
        <p:xfrm>
          <a:off x="603360" y="1234440"/>
          <a:ext cx="10972440" cy="4983120"/>
        </p:xfrm>
        <a:graphic>
          <a:graphicData uri="http://schemas.openxmlformats.org/drawingml/2006/table">
            <a:tbl>
              <a:tblPr/>
              <a:tblGrid>
                <a:gridCol w="2148840"/>
                <a:gridCol w="3474720"/>
                <a:gridCol w="2743200"/>
                <a:gridCol w="2606040"/>
              </a:tblGrid>
              <a:tr h="996480">
                <a:tc>
                  <a:txBody>
                    <a:bodyPr lIns="73080" r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3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Case</a:t>
                      </a:r>
                      <a:endParaRPr lang="en-US" sz="123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74E"/>
                    </a:solidFill>
                  </a:tcPr>
                </a:tc>
                <a:tc>
                  <a:txBody>
                    <a:bodyPr lIns="73080" r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3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Evidence</a:t>
                      </a:r>
                      <a:endParaRPr lang="en-US" sz="123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74E"/>
                    </a:solidFill>
                  </a:tcPr>
                </a:tc>
                <a:tc>
                  <a:txBody>
                    <a:bodyPr lIns="73080" r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3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Meaning</a:t>
                      </a:r>
                      <a:endParaRPr lang="en-US" sz="123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74E"/>
                    </a:solidFill>
                  </a:tcPr>
                </a:tc>
                <a:tc>
                  <a:txBody>
                    <a:bodyPr lIns="73080" r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3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Correct response</a:t>
                      </a:r>
                      <a:endParaRPr lang="en-US" sz="123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74E"/>
                    </a:solidFill>
                  </a:tcPr>
                </a:tc>
              </a:tr>
              <a:tr h="99648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3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Bad URI rejected</a:t>
                      </a:r>
                      <a:endParaRPr lang="en-US" sz="12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3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HTTP 400; approved URI remains; task RUNNING</a:t>
                      </a:r>
                      <a:endParaRPr lang="en-US" sz="12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3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Desired change never replaced running config</a:t>
                      </a:r>
                      <a:endParaRPr lang="en-US" sz="12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3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Fix proposal; no service restart</a:t>
                      </a:r>
                      <a:endParaRPr lang="en-US" sz="12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9648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3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Strict policy + malformed JSON</a:t>
                      </a:r>
                      <a:endParaRPr lang="en-US" sz="12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3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Connector RUNNING; task FAILED; converter trace</a:t>
                      </a:r>
                      <a:endParaRPr lang="en-US" sz="12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3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Running task stopped at poison offset</a:t>
                      </a:r>
                      <a:endParaRPr lang="en-US" sz="12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3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Preserve trace; apply policy; restart failed task</a:t>
                      </a:r>
                      <a:endParaRPr lang="en-US" sz="12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  <a:tr h="99648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3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Worker REST unavailable</a:t>
                      </a:r>
                      <a:endParaRPr lang="en-US" sz="12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3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Root/health call fails; worker logs/process state</a:t>
                      </a:r>
                      <a:endParaRPr lang="en-US" sz="12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3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Worker or network unavailable</a:t>
                      </a:r>
                      <a:endParaRPr lang="en-US" sz="12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3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Restore worker/API; then inspect tasks</a:t>
                      </a:r>
                      <a:endParaRPr lang="en-US" sz="12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9648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3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Sink slow but task RUNNING</a:t>
                      </a:r>
                      <a:endParaRPr lang="en-US" sz="12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3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Offsets/lag and dependency latency</a:t>
                      </a:r>
                      <a:endParaRPr lang="en-US" sz="12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3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Throughput deficit or downstream bottleneck</a:t>
                      </a:r>
                      <a:endParaRPr lang="en-US" sz="12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3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Diagnose rates and dependency—not blind restart</a:t>
                      </a:r>
                      <a:endParaRPr lang="en-US" sz="12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6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27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Malformed records and the DLQ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8" name="TextBox 3"/>
          <p:cNvSpPr/>
          <p:nvPr/>
        </p:nvSpPr>
        <p:spPr>
          <a:xfrm>
            <a:off x="594360" y="749880"/>
            <a:ext cx="10881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KAFKA CONNECT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9" name="Rectangle 4"/>
          <p:cNvSpPr/>
          <p:nvPr/>
        </p:nvSpPr>
        <p:spPr>
          <a:xfrm>
            <a:off x="594360" y="105156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30" name="TextBox 5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1" name="TextBox 6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77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2" name="TextBox 7"/>
          <p:cNvSpPr/>
          <p:nvPr/>
        </p:nvSpPr>
        <p:spPr>
          <a:xfrm>
            <a:off x="685800" y="1234440"/>
            <a:ext cx="10789560" cy="507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18360" rIns="45720" bIns="45000" anchor="t">
            <a:spAutoFit/>
          </a:bodyPr>
          <a:p>
            <a:pPr defTabSz="457200">
              <a:lnSpc>
                <a:spcPct val="105000"/>
              </a:lnSpc>
              <a:spcAft>
                <a:spcPts val="799"/>
              </a:spcAft>
            </a:pPr>
            <a:r>
              <a:rPr lang="en-US" sz="18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Strict policy: the converter error can drive the sink task to FAILED without taking down Kafka, MongoDB, or the worker.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799"/>
              </a:spcAft>
            </a:pPr>
            <a:r>
              <a:rPr lang="en-US" sz="18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Tolerant policy: Connect preserves the raw record in workshop-connect-dlq and continues processing.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799"/>
              </a:spcAft>
            </a:pPr>
            <a:r>
              <a:rPr lang="en-US" sz="18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DLQ headers should include source topic, partition, offset, connector, task, stage, and exception context.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799"/>
              </a:spcAft>
            </a:pPr>
            <a:r>
              <a:rPr lang="en-US" sz="18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The source offset should advance only after the error policy has safely handled the record.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799"/>
              </a:spcAft>
            </a:pPr>
            <a:r>
              <a:rPr lang="en-US" sz="18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A running task plus an unmonitored DLQ silently hides lost business processing.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3" name="Rounded Rectangle 8"/>
          <p:cNvSpPr/>
          <p:nvPr/>
        </p:nvSpPr>
        <p:spPr>
          <a:xfrm>
            <a:off x="777240" y="5504760"/>
            <a:ext cx="10606680" cy="502560"/>
          </a:xfrm>
          <a:prstGeom prst="roundRect">
            <a:avLst>
              <a:gd name="adj" fmla="val 16667"/>
            </a:avLst>
          </a:prstGeom>
          <a:solidFill>
            <a:srgbClr val="F2F9F6"/>
          </a:solidFill>
          <a:ln>
            <a:solidFill>
              <a:srgbClr val="B4691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34" name="TextBox 9"/>
          <p:cNvSpPr/>
          <p:nvPr/>
        </p:nvSpPr>
        <p:spPr>
          <a:xfrm>
            <a:off x="941760" y="5596200"/>
            <a:ext cx="10277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B46914"/>
                </a:solidFill>
                <a:effectLst/>
                <a:uFillTx/>
                <a:latin typeface="Aptos"/>
              </a:rPr>
              <a:t>Define DLQ alerting, ownership, retention, correction, replay authorization, and audit.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5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36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Retry policy: bounded and observable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7" name="Rectangle 3"/>
          <p:cNvSpPr/>
          <p:nvPr/>
        </p:nvSpPr>
        <p:spPr>
          <a:xfrm>
            <a:off x="594360" y="86868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38" name="TextBox 4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9" name="TextBox 5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78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0" name="Rounded Rectangle 6"/>
          <p:cNvSpPr/>
          <p:nvPr/>
        </p:nvSpPr>
        <p:spPr>
          <a:xfrm>
            <a:off x="621720" y="1234440"/>
            <a:ext cx="5412960" cy="4891680"/>
          </a:xfrm>
          <a:prstGeom prst="roundRect">
            <a:avLst>
              <a:gd name="adj" fmla="val 16667"/>
            </a:avLst>
          </a:prstGeom>
          <a:solidFill>
            <a:srgbClr val="F4F6F8"/>
          </a:solidFill>
          <a:ln>
            <a:solidFill>
              <a:srgbClr val="DCE1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41" name="Rectangle 7"/>
          <p:cNvSpPr/>
          <p:nvPr/>
        </p:nvSpPr>
        <p:spPr>
          <a:xfrm>
            <a:off x="621720" y="1234440"/>
            <a:ext cx="72720" cy="4891680"/>
          </a:xfrm>
          <a:prstGeom prst="rect">
            <a:avLst/>
          </a:prstGeom>
          <a:solidFill>
            <a:srgbClr val="1F7A5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42" name="TextBox 8"/>
          <p:cNvSpPr/>
          <p:nvPr/>
        </p:nvSpPr>
        <p:spPr>
          <a:xfrm>
            <a:off x="850320" y="1398960"/>
            <a:ext cx="50014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F7A56"/>
                </a:solidFill>
                <a:effectLst/>
                <a:uFillTx/>
                <a:latin typeface="Aptos"/>
              </a:rPr>
              <a:t>Define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3" name="TextBox 9"/>
          <p:cNvSpPr/>
          <p:nvPr/>
        </p:nvSpPr>
        <p:spPr>
          <a:xfrm>
            <a:off x="822960" y="1874520"/>
            <a:ext cx="5028840" cy="411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18360" rIns="45720" bIns="45000" anchor="t">
            <a:spAutoFit/>
          </a:bodyPr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Which exceptions are retriable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Maximum retry window and backoff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When to fail versus route to DLQ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Alert threshold and escalation owner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Idempotency and replay behavior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4" name="Rounded Rectangle 10"/>
          <p:cNvSpPr/>
          <p:nvPr/>
        </p:nvSpPr>
        <p:spPr>
          <a:xfrm>
            <a:off x="6163200" y="1234440"/>
            <a:ext cx="5412960" cy="4891680"/>
          </a:xfrm>
          <a:prstGeom prst="roundRect">
            <a:avLst>
              <a:gd name="adj" fmla="val 16667"/>
            </a:avLst>
          </a:prstGeom>
          <a:solidFill>
            <a:srgbClr val="F4F6F8"/>
          </a:solidFill>
          <a:ln>
            <a:solidFill>
              <a:srgbClr val="DCE1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45" name="Rectangle 11"/>
          <p:cNvSpPr/>
          <p:nvPr/>
        </p:nvSpPr>
        <p:spPr>
          <a:xfrm>
            <a:off x="6163200" y="1234440"/>
            <a:ext cx="72720" cy="4891680"/>
          </a:xfrm>
          <a:prstGeom prst="rect">
            <a:avLst/>
          </a:prstGeom>
          <a:solidFill>
            <a:srgbClr val="B030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46" name="TextBox 12"/>
          <p:cNvSpPr/>
          <p:nvPr/>
        </p:nvSpPr>
        <p:spPr>
          <a:xfrm>
            <a:off x="6391800" y="1398960"/>
            <a:ext cx="50014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B03030"/>
                </a:solidFill>
                <a:effectLst/>
                <a:uFillTx/>
                <a:latin typeface="Aptos"/>
              </a:rPr>
              <a:t>Avoid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7" name="TextBox 13"/>
          <p:cNvSpPr/>
          <p:nvPr/>
        </p:nvSpPr>
        <p:spPr>
          <a:xfrm>
            <a:off x="6364080" y="1874520"/>
            <a:ext cx="5028840" cy="411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18360" rIns="45720" bIns="45000" anchor="t">
            <a:spAutoFit/>
          </a:bodyPr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Retrying every exception indefinitely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Assuming driver retries equal framework retries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Restarting the worker to repair bad config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Committing poison offsets before preservation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Replaying without correction and audit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8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49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Trace and reconcile MongoDB → Kafka → MongoDB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0" name="TextBox 3"/>
          <p:cNvSpPr/>
          <p:nvPr/>
        </p:nvSpPr>
        <p:spPr>
          <a:xfrm>
            <a:off x="594360" y="749880"/>
            <a:ext cx="10881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KAFKA CONNECT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1" name="Rectangle 4"/>
          <p:cNvSpPr/>
          <p:nvPr/>
        </p:nvSpPr>
        <p:spPr>
          <a:xfrm>
            <a:off x="594360" y="105156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52" name="TextBox 5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3" name="TextBox 6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79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4" name="TextBox 7"/>
          <p:cNvSpPr/>
          <p:nvPr/>
        </p:nvSpPr>
        <p:spPr>
          <a:xfrm>
            <a:off x="685800" y="1188720"/>
            <a:ext cx="10789560" cy="507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18360" rIns="45720" bIns="45000" anchor="t">
            <a:spAutoFit/>
          </a:bodyPr>
          <a:p>
            <a:pPr defTabSz="457200">
              <a:lnSpc>
                <a:spcPct val="105000"/>
              </a:lnSpc>
              <a:spcAft>
                <a:spcPts val="700"/>
              </a:spcAft>
            </a:pPr>
            <a:r>
              <a:rPr lang="en-US" sz="18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Insert uniquely identified documents into workshop.connector_source.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700"/>
              </a:spcAft>
            </a:pPr>
            <a:r>
              <a:rPr lang="en-US" sz="18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Confirm source connector and task are RUNNING and CDC topic end offsets increase.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700"/>
              </a:spcAft>
            </a:pPr>
            <a:r>
              <a:rPr lang="en-US" sz="18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Consume the CDC topic and locate the same order_id and expected fields.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700"/>
              </a:spcAft>
            </a:pPr>
            <a:r>
              <a:rPr lang="en-US" sz="18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Confirm sink connector and task are RUNNING; wait for asynchronous movement.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700"/>
              </a:spcAft>
            </a:pPr>
            <a:r>
              <a:rPr lang="en-US" sz="18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Compare source and sink counts for the test batch and field values by order_id.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700"/>
              </a:spcAft>
            </a:pPr>
            <a:r>
              <a:rPr lang="en-US" sz="18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Verify the DLQ did not grow for valid records.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5" name="Rounded Rectangle 8"/>
          <p:cNvSpPr/>
          <p:nvPr/>
        </p:nvSpPr>
        <p:spPr>
          <a:xfrm>
            <a:off x="777240" y="5596200"/>
            <a:ext cx="10606680" cy="411120"/>
          </a:xfrm>
          <a:prstGeom prst="roundRect">
            <a:avLst>
              <a:gd name="adj" fmla="val 16667"/>
            </a:avLst>
          </a:prstGeom>
          <a:solidFill>
            <a:srgbClr val="F2F9F6"/>
          </a:solidFill>
          <a:ln>
            <a:solidFill>
              <a:srgbClr val="B4691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56" name="TextBox 9"/>
          <p:cNvSpPr/>
          <p:nvPr/>
        </p:nvSpPr>
        <p:spPr>
          <a:xfrm>
            <a:off x="941760" y="5687640"/>
            <a:ext cx="10277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B46914"/>
                </a:solidFill>
                <a:effectLst/>
                <a:uFillTx/>
                <a:latin typeface="Aptos"/>
              </a:rPr>
              <a:t>Availability and zero lag do not prove semantic equivalence; reconciliation is a separate control.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7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58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Connector configuration and version changes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9" name="TextBox 3"/>
          <p:cNvSpPr/>
          <p:nvPr/>
        </p:nvSpPr>
        <p:spPr>
          <a:xfrm>
            <a:off x="594360" y="749880"/>
            <a:ext cx="10881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KAFKA CONNECT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0" name="Rectangle 4"/>
          <p:cNvSpPr/>
          <p:nvPr/>
        </p:nvSpPr>
        <p:spPr>
          <a:xfrm>
            <a:off x="594360" y="105156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61" name="TextBox 5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2" name="TextBox 6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80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3" name="TextBox 7"/>
          <p:cNvSpPr/>
          <p:nvPr/>
        </p:nvSpPr>
        <p:spPr>
          <a:xfrm>
            <a:off x="685800" y="1161360"/>
            <a:ext cx="10789560" cy="507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18360" rIns="45720" bIns="45000" anchor="t">
            <a:spAutoFit/>
          </a:bodyPr>
          <a:p>
            <a:pPr defTabSz="457200">
              <a:lnSpc>
                <a:spcPct val="105000"/>
              </a:lnSpc>
              <a:spcAft>
                <a:spcPts val="601"/>
              </a:spcAft>
            </a:pPr>
            <a:r>
              <a:rPr lang="en-US" sz="17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Capture approved connector config, task status, source/sink offsets, DLQ count, and reconciliation baseline.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601"/>
              </a:spcAft>
            </a:pPr>
            <a:r>
              <a:rPr lang="en-US" sz="17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Record Kafka worker version, connector/plugin version, container image/digest, MongoDB version, and compatibility evidence separately.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601"/>
              </a:spcAft>
            </a:pPr>
            <a:r>
              <a:rPr lang="en-US" sz="17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Test the pinned image and plugin with representative data outside production.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601"/>
              </a:spcAft>
            </a:pPr>
            <a:r>
              <a:rPr lang="en-US" sz="17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Roll workers one at a time only in a redundant distributed deployment.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601"/>
              </a:spcAft>
            </a:pPr>
            <a:r>
              <a:rPr lang="en-US" sz="17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Verify membership, every task, offset continuity, lag recovery, DLQ, and data reconciliation.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601"/>
              </a:spcAft>
            </a:pPr>
            <a:r>
              <a:rPr lang="en-US" sz="17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Rollback the image/plugin or config on an abort condition; do not blindly rewrite stored offsets.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4" name="Rounded Rectangle 8"/>
          <p:cNvSpPr/>
          <p:nvPr/>
        </p:nvSpPr>
        <p:spPr>
          <a:xfrm>
            <a:off x="777240" y="5650920"/>
            <a:ext cx="10606680" cy="402120"/>
          </a:xfrm>
          <a:prstGeom prst="roundRect">
            <a:avLst>
              <a:gd name="adj" fmla="val 16667"/>
            </a:avLst>
          </a:prstGeom>
          <a:solidFill>
            <a:srgbClr val="F2F9F6"/>
          </a:solidFill>
          <a:ln>
            <a:solidFill>
              <a:srgbClr val="B4691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65" name="TextBox 9"/>
          <p:cNvSpPr/>
          <p:nvPr/>
        </p:nvSpPr>
        <p:spPr>
          <a:xfrm>
            <a:off x="941760" y="5742360"/>
            <a:ext cx="1027764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B46914"/>
                </a:solidFill>
                <a:effectLst/>
                <a:uFillTx/>
                <a:latin typeface="Aptos"/>
              </a:rPr>
              <a:t>The lab has one worker; recreating it causes a Connect outage even though internal-topic state survives.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6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67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Kafka Connect alert design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8" name="Rectangle 3"/>
          <p:cNvSpPr/>
          <p:nvPr/>
        </p:nvSpPr>
        <p:spPr>
          <a:xfrm>
            <a:off x="594360" y="86868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69" name="TextBox 4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0" name="TextBox 5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81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71" name="Table 6"/>
          <p:cNvGraphicFramePr/>
          <p:nvPr/>
        </p:nvGraphicFramePr>
        <p:xfrm>
          <a:off x="603360" y="1234440"/>
          <a:ext cx="10972440" cy="4983120"/>
        </p:xfrm>
        <a:graphic>
          <a:graphicData uri="http://schemas.openxmlformats.org/drawingml/2006/table">
            <a:tbl>
              <a:tblPr/>
              <a:tblGrid>
                <a:gridCol w="1874160"/>
                <a:gridCol w="4709160"/>
                <a:gridCol w="4389120"/>
              </a:tblGrid>
              <a:tr h="622800">
                <a:tc>
                  <a:txBody>
                    <a:bodyPr lIns="73080" r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3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Signal</a:t>
                      </a:r>
                      <a:endParaRPr lang="en-US" sz="123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74E"/>
                    </a:solidFill>
                  </a:tcPr>
                </a:tc>
                <a:tc>
                  <a:txBody>
                    <a:bodyPr lIns="73080" r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3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Condition</a:t>
                      </a:r>
                      <a:endParaRPr lang="en-US" sz="123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74E"/>
                    </a:solidFill>
                  </a:tcPr>
                </a:tc>
                <a:tc>
                  <a:txBody>
                    <a:bodyPr lIns="73080" r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3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Owner / first action</a:t>
                      </a:r>
                      <a:endParaRPr lang="en-US" sz="123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74E"/>
                    </a:solidFill>
                  </a:tcPr>
                </a:tc>
              </a:tr>
              <a:tr h="62280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3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Worker/API loss</a:t>
                      </a:r>
                      <a:endParaRPr lang="en-US" sz="12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3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REST unavailable beyond tolerance</a:t>
                      </a:r>
                      <a:endParaRPr lang="en-US" sz="12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3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Platform: inspect worker/process/network</a:t>
                      </a:r>
                      <a:endParaRPr lang="en-US" sz="12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2280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3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Failed task</a:t>
                      </a:r>
                      <a:endParaRPr lang="en-US" sz="12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3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Any task FAILED</a:t>
                      </a:r>
                      <a:endParaRPr lang="en-US" sz="12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3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Connector owner: preserve trace and source offset</a:t>
                      </a:r>
                      <a:endParaRPr lang="en-US" sz="12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  <a:tr h="62280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3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Stalled movement</a:t>
                      </a:r>
                      <a:endParaRPr lang="en-US" sz="12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3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Offsets fixed with expected input</a:t>
                      </a:r>
                      <a:endParaRPr lang="en-US" sz="12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3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Connector/data owner: inspect task/dependency</a:t>
                      </a:r>
                      <a:endParaRPr lang="en-US" sz="12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2280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3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Retry exhaustion</a:t>
                      </a:r>
                      <a:endParaRPr lang="en-US" sz="12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3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Retries exceed bounded policy</a:t>
                      </a:r>
                      <a:endParaRPr lang="en-US" sz="12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3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Connector owner: classify exception</a:t>
                      </a:r>
                      <a:endParaRPr lang="en-US" sz="12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  <a:tr h="62280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3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DLQ growth</a:t>
                      </a:r>
                      <a:endParaRPr lang="en-US" sz="12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3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Any unexpected DLQ increase</a:t>
                      </a:r>
                      <a:endParaRPr lang="en-US" sz="12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3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Data owner: inspect headers/raw record</a:t>
                      </a:r>
                      <a:endParaRPr lang="en-US" sz="12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2280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3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Config/version drift</a:t>
                      </a:r>
                      <a:endParaRPr lang="en-US" sz="12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3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Runtime differs from approved state</a:t>
                      </a:r>
                      <a:endParaRPr lang="en-US" sz="12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3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Platform/change owner: review and restore</a:t>
                      </a:r>
                      <a:endParaRPr lang="en-US" sz="12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  <a:tr h="62280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3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Reconciliation failure</a:t>
                      </a:r>
                      <a:endParaRPr lang="en-US" sz="12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3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Count/field invariant breaks</a:t>
                      </a:r>
                      <a:endParaRPr lang="en-US" sz="12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3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Data/app owner: stop unsafe replay, investigate</a:t>
                      </a:r>
                      <a:endParaRPr lang="en-US" sz="12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73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Hands-on Lab 3: Troubleshoot the connector flow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4" name="Rectangle 3"/>
          <p:cNvSpPr/>
          <p:nvPr/>
        </p:nvSpPr>
        <p:spPr>
          <a:xfrm>
            <a:off x="594360" y="86868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75" name="TextBox 4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6" name="TextBox 5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82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7" name="TextBox 6"/>
          <p:cNvSpPr/>
          <p:nvPr/>
        </p:nvSpPr>
        <p:spPr>
          <a:xfrm>
            <a:off x="685800" y="1143000"/>
            <a:ext cx="10789560" cy="507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18360" rIns="45720" bIns="45000" anchor="t">
            <a:spAutoFit/>
          </a:bodyPr>
          <a:p>
            <a:pPr defTabSz="457200">
              <a:lnSpc>
                <a:spcPct val="105000"/>
              </a:lnSpc>
              <a:spcAft>
                <a:spcPts val="601"/>
              </a:spcAft>
            </a:pPr>
            <a:r>
              <a:rPr lang="en-US" sz="17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Prove worker REST health, installed plugins, connector states, and every task state.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601"/>
              </a:spcAft>
            </a:pPr>
            <a:r>
              <a:rPr lang="en-US" sz="17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Validate and apply source and sink configuration; trace a uniquely identified event end to end.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601"/>
              </a:spcAft>
            </a:pPr>
            <a:r>
              <a:rPr lang="en-US" sz="17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Attempt a bad-URI change and prove it was rejected without replacing the approved config.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601"/>
              </a:spcAft>
            </a:pPr>
            <a:r>
              <a:rPr lang="en-US" sz="17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Use strict error handling to create a FAILED task; preserve trace evidence before correction.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601"/>
              </a:spcAft>
            </a:pPr>
            <a:r>
              <a:rPr lang="en-US" sz="17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Restore the tolerant policy, restart only failed tasks, inspect the DLQ, and verify valid-record recovery.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601"/>
              </a:spcAft>
            </a:pPr>
            <a:r>
              <a:rPr lang="en-US" sz="17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Document recommended alerts and ownership for the connector flow.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8" name="Rounded Rectangle 7"/>
          <p:cNvSpPr/>
          <p:nvPr/>
        </p:nvSpPr>
        <p:spPr>
          <a:xfrm>
            <a:off x="777240" y="5605200"/>
            <a:ext cx="10606680" cy="420120"/>
          </a:xfrm>
          <a:prstGeom prst="roundRect">
            <a:avLst>
              <a:gd name="adj" fmla="val 16667"/>
            </a:avLst>
          </a:prstGeom>
          <a:solidFill>
            <a:srgbClr val="F2F9F6"/>
          </a:solidFill>
          <a:ln>
            <a:solidFill>
              <a:srgbClr val="B0303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79" name="TextBox 8"/>
          <p:cNvSpPr/>
          <p:nvPr/>
        </p:nvSpPr>
        <p:spPr>
          <a:xfrm>
            <a:off x="941760" y="5696640"/>
            <a:ext cx="1027764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B03030"/>
                </a:solidFill>
                <a:effectLst/>
                <a:uFillTx/>
                <a:latin typeface="Aptos"/>
              </a:rPr>
              <a:t>Do not restart Kafka or MongoDB when their evidence remains healthy.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0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81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Lab 3 deliverable checklist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2" name="Rectangle 3"/>
          <p:cNvSpPr/>
          <p:nvPr/>
        </p:nvSpPr>
        <p:spPr>
          <a:xfrm>
            <a:off x="594360" y="86868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83" name="TextBox 4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4" name="TextBox 5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83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85" name="Table 6"/>
          <p:cNvGraphicFramePr/>
          <p:nvPr/>
        </p:nvGraphicFramePr>
        <p:xfrm>
          <a:off x="603360" y="1234440"/>
          <a:ext cx="10972440" cy="4983120"/>
        </p:xfrm>
        <a:graphic>
          <a:graphicData uri="http://schemas.openxmlformats.org/drawingml/2006/table">
            <a:tbl>
              <a:tblPr/>
              <a:tblGrid>
                <a:gridCol w="2148840"/>
                <a:gridCol w="8823960"/>
              </a:tblGrid>
              <a:tr h="711720">
                <a:tc>
                  <a:txBody>
                    <a:bodyPr lIns="73080" r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8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Evidence</a:t>
                      </a:r>
                      <a:endParaRPr lang="en-US" sz="138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74E"/>
                    </a:solidFill>
                  </a:tcPr>
                </a:tc>
                <a:tc>
                  <a:txBody>
                    <a:bodyPr lIns="73080" r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8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Minimum acceptance criteria</a:t>
                      </a:r>
                      <a:endParaRPr lang="en-US" sz="138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74E"/>
                    </a:solidFill>
                  </a:tcPr>
                </a:tc>
              </a:tr>
              <a:tr h="71172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8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Layered health</a:t>
                      </a:r>
                      <a:endParaRPr lang="en-US" sz="13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8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Worker, plugins, connectors, every task, offsets, DLQ, source/sink counts</a:t>
                      </a:r>
                      <a:endParaRPr lang="en-US" sz="13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1172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8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End-to-end trace</a:t>
                      </a:r>
                      <a:endParaRPr lang="en-US" sz="13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8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One order_id across source, Kafka, sink; count and field reconciliation</a:t>
                      </a:r>
                      <a:endParaRPr lang="en-US" sz="13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  <a:tr h="71172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8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Rejected config</a:t>
                      </a:r>
                      <a:endParaRPr lang="en-US" sz="13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8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HTTP 400/bad dependency; approved config and task remain healthy</a:t>
                      </a:r>
                      <a:endParaRPr lang="en-US" sz="13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1172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8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Failed task</a:t>
                      </a:r>
                      <a:endParaRPr lang="en-US" sz="13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8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Converter-stage trace and poison topic/partition/offset preserved</a:t>
                      </a:r>
                      <a:endParaRPr lang="en-US" sz="13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  <a:tr h="71172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8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Recovery</a:t>
                      </a:r>
                      <a:endParaRPr lang="en-US" sz="13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8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Tolerant config, failed-task restart, DLQ context, later valid data</a:t>
                      </a:r>
                      <a:endParaRPr lang="en-US" sz="13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1172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8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Alert matrix</a:t>
                      </a:r>
                      <a:endParaRPr lang="en-US" sz="13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8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Worker, task, movement, retry, DLQ, drift, reconciliation</a:t>
                      </a:r>
                      <a:endParaRPr lang="en-US" sz="138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6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F7A5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87" name="TextBox 2"/>
          <p:cNvSpPr/>
          <p:nvPr/>
        </p:nvSpPr>
        <p:spPr>
          <a:xfrm>
            <a:off x="777240" y="960120"/>
            <a:ext cx="18284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05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8" name="TextBox 3"/>
          <p:cNvSpPr/>
          <p:nvPr/>
        </p:nvSpPr>
        <p:spPr>
          <a:xfrm>
            <a:off x="777240" y="1874520"/>
            <a:ext cx="1024092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Final Activity: Operations Runbook</a:t>
            </a:r>
            <a:endParaRPr lang="en-US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9" name="TextBox 4"/>
          <p:cNvSpPr/>
          <p:nvPr/>
        </p:nvSpPr>
        <p:spPr>
          <a:xfrm>
            <a:off x="804600" y="3246120"/>
            <a:ext cx="98751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100" b="0" u="none" strike="noStrike">
                <a:solidFill>
                  <a:srgbClr val="E6F0FA"/>
                </a:solidFill>
                <a:effectLst/>
                <a:uFillTx/>
                <a:latin typeface="Aptos"/>
              </a:rPr>
              <a:t>Turn commands and observations into routine checks, alerts, incident procedures, maintenance controls, and replay safeguards.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0" name="Rectangle 5"/>
          <p:cNvSpPr/>
          <p:nvPr/>
        </p:nvSpPr>
        <p:spPr>
          <a:xfrm>
            <a:off x="804600" y="5349240"/>
            <a:ext cx="1828440" cy="453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720" rIns="90000" bIns="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91" name="TextBox 6"/>
          <p:cNvSpPr/>
          <p:nvPr/>
        </p:nvSpPr>
        <p:spPr>
          <a:xfrm>
            <a:off x="804600" y="5596200"/>
            <a:ext cx="7772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Evidence first • change only what the evidence supports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2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93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What makes a runbook operational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4" name="Rectangle 3"/>
          <p:cNvSpPr/>
          <p:nvPr/>
        </p:nvSpPr>
        <p:spPr>
          <a:xfrm>
            <a:off x="594360" y="86868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95" name="TextBox 4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6" name="TextBox 5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85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7" name="TextBox 6"/>
          <p:cNvSpPr/>
          <p:nvPr/>
        </p:nvSpPr>
        <p:spPr>
          <a:xfrm>
            <a:off x="685800" y="1234440"/>
            <a:ext cx="10789560" cy="507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18360" rIns="45720" bIns="45000" anchor="t">
            <a:spAutoFit/>
          </a:bodyPr>
          <a:p>
            <a:pPr defTabSz="457200">
              <a:lnSpc>
                <a:spcPct val="105000"/>
              </a:lnSpc>
              <a:spcAft>
                <a:spcPts val="799"/>
              </a:spcAft>
            </a:pPr>
            <a:r>
              <a:rPr lang="en-US" sz="18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Scope and purpose: exact environment, resource, and business outcome.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799"/>
              </a:spcAft>
            </a:pPr>
            <a:r>
              <a:rPr lang="en-US" sz="18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Signal or command: how the responder obtains evidence.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799"/>
              </a:spcAft>
            </a:pPr>
            <a:r>
              <a:rPr lang="en-US" sz="18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Normal condition and actionable threshold: what requires a decision.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799"/>
              </a:spcAft>
            </a:pPr>
            <a:r>
              <a:rPr lang="en-US" sz="18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Owner and escalation path: who acts and when responsibility moves.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799"/>
              </a:spcAft>
            </a:pPr>
            <a:r>
              <a:rPr lang="en-US" sz="18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First response, recovery, and verification: preserve evidence and prove the outcome.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799"/>
              </a:spcAft>
            </a:pPr>
            <a:r>
              <a:rPr lang="en-US" sz="18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Risk warning: destructive scope, single-node limitation, secrets, or replay authorization.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8" name="Rounded Rectangle 7"/>
          <p:cNvSpPr/>
          <p:nvPr/>
        </p:nvSpPr>
        <p:spPr>
          <a:xfrm>
            <a:off x="777240" y="5559480"/>
            <a:ext cx="10606680" cy="502560"/>
          </a:xfrm>
          <a:prstGeom prst="roundRect">
            <a:avLst>
              <a:gd name="adj" fmla="val 16667"/>
            </a:avLst>
          </a:prstGeom>
          <a:solidFill>
            <a:srgbClr val="F2F9F6"/>
          </a:solidFill>
          <a:ln>
            <a:solidFill>
              <a:srgbClr val="B4691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99" name="TextBox 8"/>
          <p:cNvSpPr/>
          <p:nvPr/>
        </p:nvSpPr>
        <p:spPr>
          <a:xfrm>
            <a:off x="941760" y="5650920"/>
            <a:ext cx="10277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B46914"/>
                </a:solidFill>
                <a:effectLst/>
                <a:uFillTx/>
                <a:latin typeface="Aptos"/>
              </a:rPr>
              <a:t>A command list without decisions, owners, thresholds, and verification is not a runbook.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01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Daily operational checks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2" name="Rectangle 3"/>
          <p:cNvSpPr/>
          <p:nvPr/>
        </p:nvSpPr>
        <p:spPr>
          <a:xfrm>
            <a:off x="594360" y="86868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03" name="TextBox 4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4" name="TextBox 5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86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05" name="Table 6"/>
          <p:cNvGraphicFramePr/>
          <p:nvPr/>
        </p:nvGraphicFramePr>
        <p:xfrm>
          <a:off x="603360" y="1234440"/>
          <a:ext cx="10972440" cy="4480560"/>
        </p:xfrm>
        <a:graphic>
          <a:graphicData uri="http://schemas.openxmlformats.org/drawingml/2006/table">
            <a:tbl>
              <a:tblPr/>
              <a:tblGrid>
                <a:gridCol w="3657600"/>
                <a:gridCol w="3657600"/>
                <a:gridCol w="3657600"/>
              </a:tblGrid>
              <a:tr h="640080">
                <a:tc>
                  <a:txBody>
                    <a:bodyPr lIns="73080" r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MongoDB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74E"/>
                    </a:solidFill>
                  </a:tcPr>
                </a:tc>
                <a:tc>
                  <a:txBody>
                    <a:bodyPr lIns="73080" r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Kafka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74E"/>
                    </a:solidFill>
                  </a:tcPr>
                </a:tc>
                <a:tc>
                  <a:txBody>
                    <a:bodyPr lIns="73080" rIns="7308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Kafka Connect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74E"/>
                    </a:solidFill>
                  </a:tcPr>
                </a:tc>
              </a:tr>
              <a:tr h="64008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Writable primary / members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Broker/controller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Worker REST / membership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Storage growth / forecast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Leaders, replicas, ISR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Connector and every task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  <a:tr h="64008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Important query plans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Disk forecast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Retry/error logs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Index presence / usage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Topic lifecycle config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DLQ movement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  <a:tr h="64008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Connections / errors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Throughput / skew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Config/version drift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Backup and restore-test age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Consumer offset / lag movement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lIns="73080" tIns="36360" rIns="7308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Source-to-sink reconciliation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73080" marR="73080" marT="36360" marB="36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1006" name="Rounded Rectangle 7"/>
          <p:cNvSpPr/>
          <p:nvPr/>
        </p:nvSpPr>
        <p:spPr>
          <a:xfrm>
            <a:off x="777240" y="5806440"/>
            <a:ext cx="10606680" cy="411120"/>
          </a:xfrm>
          <a:prstGeom prst="roundRect">
            <a:avLst>
              <a:gd name="adj" fmla="val 16667"/>
            </a:avLst>
          </a:prstGeom>
          <a:solidFill>
            <a:srgbClr val="F2F9F6"/>
          </a:solidFill>
          <a:ln>
            <a:solidFill>
              <a:srgbClr val="1F7A5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07" name="TextBox 8"/>
          <p:cNvSpPr/>
          <p:nvPr/>
        </p:nvSpPr>
        <p:spPr>
          <a:xfrm>
            <a:off x="941760" y="5897880"/>
            <a:ext cx="10277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1F7A56"/>
                </a:solidFill>
                <a:effectLst/>
                <a:uFillTx/>
                <a:latin typeface="Aptos"/>
              </a:rPr>
              <a:t>For every check, document command/signal, normal state, alert/owner, and first action.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8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09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Alert matrix template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0" name="Rectangle 3"/>
          <p:cNvSpPr/>
          <p:nvPr/>
        </p:nvSpPr>
        <p:spPr>
          <a:xfrm>
            <a:off x="594360" y="86868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11" name="TextBox 4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2" name="TextBox 5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87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13" name="Table 6"/>
          <p:cNvGraphicFramePr/>
          <p:nvPr/>
        </p:nvGraphicFramePr>
        <p:xfrm>
          <a:off x="594360" y="1280160"/>
          <a:ext cx="10972440" cy="4251600"/>
        </p:xfrm>
        <a:graphic>
          <a:graphicData uri="http://schemas.openxmlformats.org/drawingml/2006/table">
            <a:tbl>
              <a:tblPr/>
              <a:tblGrid>
                <a:gridCol w="1828800"/>
                <a:gridCol w="2971800"/>
                <a:gridCol w="1188720"/>
                <a:gridCol w="2743200"/>
                <a:gridCol w="2240280"/>
              </a:tblGrid>
              <a:tr h="850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Alert</a:t>
                      </a:r>
                      <a:endParaRPr lang="en-US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74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Condition + duration</a:t>
                      </a:r>
                      <a:endParaRPr lang="en-US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74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Severity</a:t>
                      </a:r>
                      <a:endParaRPr lang="en-US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74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Evidence in notification</a:t>
                      </a:r>
                      <a:endParaRPr lang="en-US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74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Owner / escalation</a:t>
                      </a:r>
                      <a:endParaRPr lang="en-US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74E"/>
                    </a:solidFill>
                  </a:tcPr>
                </a:tc>
              </a:tr>
              <a:tr h="850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Stalled consumer</a:t>
                      </a:r>
                      <a:endParaRPr lang="en-US" sz="11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Lag &gt; threshold and no commit movement for N min</a:t>
                      </a:r>
                      <a:endParaRPr lang="en-US" sz="11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High</a:t>
                      </a:r>
                      <a:endParaRPr lang="en-US" sz="11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Topic, group, partition, current/end, lag</a:t>
                      </a:r>
                      <a:endParaRPr lang="en-US" sz="11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Consumer owner → platform</a:t>
                      </a:r>
                      <a:endParaRPr lang="en-US" sz="11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50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Failed task</a:t>
                      </a:r>
                      <a:endParaRPr lang="en-US" sz="11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Any task FAILED for &gt; grace period</a:t>
                      </a:r>
                      <a:endParaRPr lang="en-US" sz="11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High</a:t>
                      </a:r>
                      <a:endParaRPr lang="en-US" sz="11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Connector, task, worker, trace, source offset</a:t>
                      </a:r>
                      <a:endParaRPr lang="en-US" sz="11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Connector owner</a:t>
                      </a:r>
                      <a:endParaRPr lang="en-US" sz="11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  <a:tr h="850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DLQ growth</a:t>
                      </a:r>
                      <a:endParaRPr lang="en-US" sz="11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Unexpected increase in interval</a:t>
                      </a:r>
                      <a:endParaRPr lang="en-US" sz="11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Medium/High</a:t>
                      </a:r>
                      <a:endParaRPr lang="en-US" sz="11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DLQ offset delta, error stage/type</a:t>
                      </a:r>
                      <a:endParaRPr lang="en-US" sz="11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Data owner → application</a:t>
                      </a:r>
                      <a:endParaRPr lang="en-US" sz="11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50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Capacity forecast</a:t>
                      </a:r>
                      <a:endParaRPr lang="en-US" sz="11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Limit crossed inside response window</a:t>
                      </a:r>
                      <a:endParaRPr lang="en-US" sz="11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High</a:t>
                      </a:r>
                      <a:endParaRPr lang="en-US" sz="11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Used/free, growth rate, time-to-limit</a:t>
                      </a:r>
                      <a:endParaRPr lang="en-US" sz="11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2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Platform/DB owner</a:t>
                      </a:r>
                      <a:endParaRPr lang="en-US" sz="112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1014" name="Rounded Rectangle 7"/>
          <p:cNvSpPr/>
          <p:nvPr/>
        </p:nvSpPr>
        <p:spPr>
          <a:xfrm>
            <a:off x="777240" y="5760720"/>
            <a:ext cx="10606680" cy="392760"/>
          </a:xfrm>
          <a:prstGeom prst="roundRect">
            <a:avLst>
              <a:gd name="adj" fmla="val 16667"/>
            </a:avLst>
          </a:prstGeom>
          <a:solidFill>
            <a:srgbClr val="F2F9F6"/>
          </a:solidFill>
          <a:ln>
            <a:solidFill>
              <a:srgbClr val="1F7A5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15" name="TextBox 8"/>
          <p:cNvSpPr/>
          <p:nvPr/>
        </p:nvSpPr>
        <p:spPr>
          <a:xfrm>
            <a:off x="941760" y="5852160"/>
            <a:ext cx="102776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1F7A56"/>
                </a:solidFill>
                <a:effectLst/>
                <a:uFillTx/>
                <a:latin typeface="Aptos"/>
              </a:rPr>
              <a:t>Separate availability, performance, capacity, and correctness alerts; include a runbook link.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6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17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Incident procedure template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8" name="Rectangle 3"/>
          <p:cNvSpPr/>
          <p:nvPr/>
        </p:nvSpPr>
        <p:spPr>
          <a:xfrm>
            <a:off x="594360" y="86868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19" name="TextBox 4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0" name="TextBox 5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88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1" name="TextBox 6"/>
          <p:cNvSpPr/>
          <p:nvPr/>
        </p:nvSpPr>
        <p:spPr>
          <a:xfrm>
            <a:off x="685800" y="1234440"/>
            <a:ext cx="10789560" cy="507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18360" rIns="45720" bIns="45000" anchor="t">
            <a:spAutoFit/>
          </a:bodyPr>
          <a:p>
            <a:pPr defTabSz="457200">
              <a:lnSpc>
                <a:spcPct val="105000"/>
              </a:lnSpc>
              <a:spcAft>
                <a:spcPts val="901"/>
              </a:spcAft>
            </a:pPr>
            <a:r>
              <a:rPr lang="en-US" sz="18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Detection: exact symptom, affected resources, time window, and business impact.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901"/>
              </a:spcAft>
            </a:pPr>
            <a:r>
              <a:rPr lang="en-US" sz="18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Triage order: first five evidence checks across producer, Kafka, worker, MongoDB, and data.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901"/>
              </a:spcAft>
            </a:pPr>
            <a:r>
              <a:rPr lang="en-US" sz="18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Evidence preservation: logs, status, offsets, configs, query plans, counts, and timestamps.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901"/>
              </a:spcAft>
            </a:pPr>
            <a:r>
              <a:rPr lang="en-US" sz="18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Correction: targeted action for the first unhealthy layer; prohibited or risky reactions.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901"/>
              </a:spcAft>
            </a:pPr>
            <a:r>
              <a:rPr lang="en-US" sz="18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Verification: service signals plus end-to-end identity, count, fields, lag, and DLQ.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901"/>
              </a:spcAft>
            </a:pPr>
            <a:r>
              <a:rPr lang="en-US" sz="18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Escalation and communication: owner, trigger, status message, and next update time.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2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23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Integrated incident: recent orders are missing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4" name="Rectangle 3"/>
          <p:cNvSpPr/>
          <p:nvPr/>
        </p:nvSpPr>
        <p:spPr>
          <a:xfrm>
            <a:off x="594360" y="86868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25" name="TextBox 4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6" name="TextBox 5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89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7" name="Rounded Rectangle 6"/>
          <p:cNvSpPr/>
          <p:nvPr/>
        </p:nvSpPr>
        <p:spPr>
          <a:xfrm>
            <a:off x="658440" y="1280160"/>
            <a:ext cx="5257440" cy="4525920"/>
          </a:xfrm>
          <a:prstGeom prst="roundRect">
            <a:avLst>
              <a:gd name="adj" fmla="val 16667"/>
            </a:avLst>
          </a:prstGeom>
          <a:solidFill>
            <a:srgbClr val="F4F6F8"/>
          </a:solidFill>
          <a:ln>
            <a:solidFill>
              <a:srgbClr val="DCE1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28" name="Rectangle 7"/>
          <p:cNvSpPr/>
          <p:nvPr/>
        </p:nvSpPr>
        <p:spPr>
          <a:xfrm>
            <a:off x="658440" y="1280160"/>
            <a:ext cx="72720" cy="4525920"/>
          </a:xfrm>
          <a:prstGeom prst="rect">
            <a:avLst/>
          </a:prstGeom>
          <a:solidFill>
            <a:srgbClr val="B4691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29" name="TextBox 8"/>
          <p:cNvSpPr/>
          <p:nvPr/>
        </p:nvSpPr>
        <p:spPr>
          <a:xfrm>
            <a:off x="887040" y="1444680"/>
            <a:ext cx="48459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B46914"/>
                </a:solidFill>
                <a:effectLst/>
                <a:uFillTx/>
                <a:latin typeface="Aptos"/>
              </a:rPr>
              <a:t>Known evidence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0" name="TextBox 9"/>
          <p:cNvSpPr/>
          <p:nvPr/>
        </p:nvSpPr>
        <p:spPr>
          <a:xfrm>
            <a:off x="859680" y="1920240"/>
            <a:ext cx="4873320" cy="374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18360" rIns="45720" bIns="45000" anchor="t">
            <a:spAutoFit/>
          </a:bodyPr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Checkout publishes succeed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Kafka end offsets increase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Committed offsets have not moved for 10 minutes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MongoDB is writable primary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Recent orders are absent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Connect sink task FAILED after config change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1" name="Rounded Rectangle 10"/>
          <p:cNvSpPr/>
          <p:nvPr/>
        </p:nvSpPr>
        <p:spPr>
          <a:xfrm>
            <a:off x="6217920" y="1280160"/>
            <a:ext cx="5303160" cy="4525920"/>
          </a:xfrm>
          <a:prstGeom prst="roundRect">
            <a:avLst>
              <a:gd name="adj" fmla="val 16667"/>
            </a:avLst>
          </a:prstGeom>
          <a:solidFill>
            <a:srgbClr val="F4F6F8"/>
          </a:solidFill>
          <a:ln>
            <a:solidFill>
              <a:srgbClr val="DCE1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32" name="Rectangle 11"/>
          <p:cNvSpPr/>
          <p:nvPr/>
        </p:nvSpPr>
        <p:spPr>
          <a:xfrm>
            <a:off x="6217920" y="1280160"/>
            <a:ext cx="72720" cy="4525920"/>
          </a:xfrm>
          <a:prstGeom prst="rect">
            <a:avLst/>
          </a:prstGeom>
          <a:solidFill>
            <a:srgbClr val="1F7A5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33" name="TextBox 12"/>
          <p:cNvSpPr/>
          <p:nvPr/>
        </p:nvSpPr>
        <p:spPr>
          <a:xfrm>
            <a:off x="6446520" y="1444680"/>
            <a:ext cx="48916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F7A56"/>
                </a:solidFill>
                <a:effectLst/>
                <a:uFillTx/>
                <a:latin typeface="Aptos"/>
              </a:rPr>
              <a:t>Required response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4" name="TextBox 13"/>
          <p:cNvSpPr/>
          <p:nvPr/>
        </p:nvSpPr>
        <p:spPr>
          <a:xfrm>
            <a:off x="6419160" y="1920240"/>
            <a:ext cx="4919040" cy="374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18360" rIns="45720" bIns="45000" anchor="t">
            <a:spAutoFit/>
          </a:bodyPr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Preserve failed task trace and pre/post config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Confirm worker, source connector, topic, and MongoDB remain healthy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Rollback/correct the sink config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Restart only failed task(s)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Verify commits resume, lag drains, DLQ is understood, orders reconcile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0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Do not restart healthy Kafka or MongoDB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5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36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Maintenance proposal review: rewrite every unsafe step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7" name="Rectangle 3"/>
          <p:cNvSpPr/>
          <p:nvPr/>
        </p:nvSpPr>
        <p:spPr>
          <a:xfrm>
            <a:off x="594360" y="86868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38" name="TextBox 4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9" name="TextBox 5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90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40" name="Table 6"/>
          <p:cNvGraphicFramePr/>
          <p:nvPr/>
        </p:nvGraphicFramePr>
        <p:xfrm>
          <a:off x="612720" y="1243440"/>
          <a:ext cx="10954080" cy="4800240"/>
        </p:xfrm>
        <a:graphic>
          <a:graphicData uri="http://schemas.openxmlformats.org/drawingml/2006/table">
            <a:tbl>
              <a:tblPr/>
              <a:tblGrid>
                <a:gridCol w="3657600"/>
                <a:gridCol w="2743200"/>
                <a:gridCol w="4553640"/>
              </a:tblGrid>
              <a:tr h="7999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3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Unsafe proposal</a:t>
                      </a:r>
                      <a:endParaRPr lang="en-US" sz="123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3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Why it is unsafe</a:t>
                      </a:r>
                      <a:endParaRPr lang="en-US" sz="123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3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Required rewrite</a:t>
                      </a:r>
                      <a:endParaRPr lang="en-US" sz="123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B03030"/>
                    </a:solidFill>
                  </a:tcPr>
                </a:tc>
              </a:tr>
              <a:tr h="7999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Drop customer index during peak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Known query regression and workload risk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Baseline, approved window, validate plan, rollback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999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Set Kafka retention to 30 seconds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Acknowledged data may expire before recovery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Derive from replay requirement; isolated test; rollback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  <a:tr h="7999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Put password in connector JSON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Secret exposure in Git/API/history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External secret provider; restricted REST; rotation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999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Deploy unpinned latest plugin everywhere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Compatibility and simultaneous outage risk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Pinned version; nonprod test; rolling redundant workers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</a:tr>
              <a:tr h="7999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Validate only command success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No proof of health or business correctness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1E293B"/>
                          </a:solidFill>
                          <a:effectLst/>
                          <a:uFillTx/>
                          <a:latin typeface="Aptos"/>
                        </a:rPr>
                        <a:t>Tasks, offsets, lag, DLQ, counts, field reconciliation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1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42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Replay and data repair controls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3" name="Rectangle 3"/>
          <p:cNvSpPr/>
          <p:nvPr/>
        </p:nvSpPr>
        <p:spPr>
          <a:xfrm>
            <a:off x="594360" y="86868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44" name="TextBox 4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5" name="TextBox 5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91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6" name="TextBox 6"/>
          <p:cNvSpPr/>
          <p:nvPr/>
        </p:nvSpPr>
        <p:spPr>
          <a:xfrm>
            <a:off x="685800" y="1234440"/>
            <a:ext cx="10789560" cy="507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18360" rIns="45720" bIns="45000" anchor="t">
            <a:spAutoFit/>
          </a:bodyPr>
          <a:p>
            <a:pPr defTabSz="457200">
              <a:lnSpc>
                <a:spcPct val="105000"/>
              </a:lnSpc>
              <a:spcAft>
                <a:spcPts val="799"/>
              </a:spcAft>
            </a:pPr>
            <a:r>
              <a:rPr lang="en-US" sz="18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Obtain explicit authorization and define the source of truth.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799"/>
              </a:spcAft>
            </a:pPr>
            <a:r>
              <a:rPr lang="en-US" sz="18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Select the smallest replay range, key set, or DLQ records required.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799"/>
              </a:spcAft>
            </a:pPr>
            <a:r>
              <a:rPr lang="en-US" sz="18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Confirm retention still contains the source data and downstream writes are idempotent.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799"/>
              </a:spcAft>
            </a:pPr>
            <a:r>
              <a:rPr lang="en-US" sz="18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Correct malformed data or configuration before replaying; preserve the original and audit trail.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799"/>
              </a:spcAft>
            </a:pPr>
            <a:r>
              <a:rPr lang="en-US" sz="18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Observe offsets, rate, downstream capacity, errors, and DLQ during replay.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799"/>
              </a:spcAft>
            </a:pPr>
            <a:r>
              <a:rPr lang="en-US" sz="18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Reconcile counts and business fields; record completion evidence and residual exceptions.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7" name="Rounded Rectangle 7"/>
          <p:cNvSpPr/>
          <p:nvPr/>
        </p:nvSpPr>
        <p:spPr>
          <a:xfrm>
            <a:off x="777240" y="5577840"/>
            <a:ext cx="10606680" cy="502560"/>
          </a:xfrm>
          <a:prstGeom prst="roundRect">
            <a:avLst>
              <a:gd name="adj" fmla="val 16667"/>
            </a:avLst>
          </a:prstGeom>
          <a:solidFill>
            <a:srgbClr val="F2F9F6"/>
          </a:solidFill>
          <a:ln>
            <a:solidFill>
              <a:srgbClr val="B0303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48" name="TextBox 8"/>
          <p:cNvSpPr/>
          <p:nvPr/>
        </p:nvSpPr>
        <p:spPr>
          <a:xfrm>
            <a:off x="941760" y="5669280"/>
            <a:ext cx="10277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B03030"/>
                </a:solidFill>
                <a:effectLst/>
                <a:uFillTx/>
                <a:latin typeface="Aptos"/>
              </a:rPr>
              <a:t>Never reset or rewrite offsets blindly; define the exact partition/offset scope and rollback implications.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9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50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Production controls beyond the lab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1" name="Rectangle 3"/>
          <p:cNvSpPr/>
          <p:nvPr/>
        </p:nvSpPr>
        <p:spPr>
          <a:xfrm>
            <a:off x="594360" y="86868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52" name="TextBox 4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3" name="TextBox 5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92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4" name="Rounded Rectangle 6"/>
          <p:cNvSpPr/>
          <p:nvPr/>
        </p:nvSpPr>
        <p:spPr>
          <a:xfrm>
            <a:off x="621720" y="1234440"/>
            <a:ext cx="5412960" cy="4891680"/>
          </a:xfrm>
          <a:prstGeom prst="roundRect">
            <a:avLst>
              <a:gd name="adj" fmla="val 16667"/>
            </a:avLst>
          </a:prstGeom>
          <a:solidFill>
            <a:srgbClr val="F4F6F8"/>
          </a:solidFill>
          <a:ln>
            <a:solidFill>
              <a:srgbClr val="DCE1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55" name="Rectangle 7"/>
          <p:cNvSpPr/>
          <p:nvPr/>
        </p:nvSpPr>
        <p:spPr>
          <a:xfrm>
            <a:off x="621720" y="1234440"/>
            <a:ext cx="72720" cy="489168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56" name="TextBox 8"/>
          <p:cNvSpPr/>
          <p:nvPr/>
        </p:nvSpPr>
        <p:spPr>
          <a:xfrm>
            <a:off x="850320" y="1398960"/>
            <a:ext cx="50014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2B6CB0"/>
                </a:solidFill>
                <a:effectLst/>
                <a:uFillTx/>
                <a:latin typeface="Aptos"/>
              </a:rPr>
              <a:t>Resilience and security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7" name="TextBox 9"/>
          <p:cNvSpPr/>
          <p:nvPr/>
        </p:nvSpPr>
        <p:spPr>
          <a:xfrm>
            <a:off x="822960" y="1874520"/>
            <a:ext cx="5028840" cy="411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18360" rIns="45720" bIns="45000" anchor="t">
            <a:spAutoFit/>
          </a:bodyPr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Kafka replication and redundant brokers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MongoDB redundant members and tested failover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Redundant distributed Connect workers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TLS, authentication, authorization, network controls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External secrets, rotation, and audit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8" name="Rounded Rectangle 10"/>
          <p:cNvSpPr/>
          <p:nvPr/>
        </p:nvSpPr>
        <p:spPr>
          <a:xfrm>
            <a:off x="6163200" y="1234440"/>
            <a:ext cx="5412960" cy="4891680"/>
          </a:xfrm>
          <a:prstGeom prst="roundRect">
            <a:avLst>
              <a:gd name="adj" fmla="val 16667"/>
            </a:avLst>
          </a:prstGeom>
          <a:solidFill>
            <a:srgbClr val="F4F6F8"/>
          </a:solidFill>
          <a:ln>
            <a:solidFill>
              <a:srgbClr val="DCE1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59" name="Rectangle 11"/>
          <p:cNvSpPr/>
          <p:nvPr/>
        </p:nvSpPr>
        <p:spPr>
          <a:xfrm>
            <a:off x="6163200" y="1234440"/>
            <a:ext cx="72720" cy="4891680"/>
          </a:xfrm>
          <a:prstGeom prst="rect">
            <a:avLst/>
          </a:prstGeom>
          <a:solidFill>
            <a:srgbClr val="1F7A5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0" name="TextBox 12"/>
          <p:cNvSpPr/>
          <p:nvPr/>
        </p:nvSpPr>
        <p:spPr>
          <a:xfrm>
            <a:off x="6391800" y="1398960"/>
            <a:ext cx="50014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F7A56"/>
                </a:solidFill>
                <a:effectLst/>
                <a:uFillTx/>
                <a:latin typeface="Aptos"/>
              </a:rPr>
              <a:t>Operational maturity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1" name="TextBox 13"/>
          <p:cNvSpPr/>
          <p:nvPr/>
        </p:nvSpPr>
        <p:spPr>
          <a:xfrm>
            <a:off x="6364080" y="1874520"/>
            <a:ext cx="5028840" cy="411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18360" rIns="45720" bIns="45000" anchor="t">
            <a:spAutoFit/>
          </a:bodyPr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SLOs for delay, availability, data correctness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Central metrics, logs, dashboards, and paging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Automated backup/PITR and off-host retention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Schema and compatibility management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6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Capacity forecasting and tested change/recovery procedures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2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3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Final activity deliverables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4" name="Rectangle 3"/>
          <p:cNvSpPr/>
          <p:nvPr/>
        </p:nvSpPr>
        <p:spPr>
          <a:xfrm>
            <a:off x="594360" y="86868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5" name="TextBox 4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6" name="TextBox 5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93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7" name="TextBox 6"/>
          <p:cNvSpPr/>
          <p:nvPr/>
        </p:nvSpPr>
        <p:spPr>
          <a:xfrm>
            <a:off x="685800" y="1225440"/>
            <a:ext cx="10789560" cy="507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18360" rIns="45720" bIns="45000" anchor="t">
            <a:spAutoFit/>
          </a:bodyPr>
          <a:p>
            <a:pPr defTabSz="457200">
              <a:lnSpc>
                <a:spcPct val="105000"/>
              </a:lnSpc>
              <a:spcAft>
                <a:spcPts val="799"/>
              </a:spcAft>
            </a:pPr>
            <a:r>
              <a:rPr lang="en-US" sz="18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Complete at least 3 MongoDB checks, 4 Kafka checks, and 4 Kafka Connect checks.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799"/>
              </a:spcAft>
            </a:pPr>
            <a:r>
              <a:rPr lang="en-US" sz="18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Define at least 6 alerts with condition/duration, evidence, severity, owner, and escalation.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799"/>
              </a:spcAft>
            </a:pPr>
            <a:r>
              <a:rPr lang="en-US" sz="18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Write at least 4 incident procedures and 3 maintenance procedures.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799"/>
              </a:spcAft>
            </a:pPr>
            <a:r>
              <a:rPr lang="en-US" sz="18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Complete the integrated missing-orders incident and unsafe maintenance review.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799"/>
              </a:spcAft>
            </a:pPr>
            <a:r>
              <a:rPr lang="en-US" sz="18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Exchange runbooks; identify the first five evidence checks and escalation owner without asking the author.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799"/>
              </a:spcAft>
            </a:pPr>
            <a:r>
              <a:rPr lang="en-US" sz="185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Revise every ambiguity found during the peer test.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8" name="Rounded Rectangle 7"/>
          <p:cNvSpPr/>
          <p:nvPr/>
        </p:nvSpPr>
        <p:spPr>
          <a:xfrm>
            <a:off x="777240" y="5559480"/>
            <a:ext cx="10606680" cy="502560"/>
          </a:xfrm>
          <a:prstGeom prst="roundRect">
            <a:avLst>
              <a:gd name="adj" fmla="val 16667"/>
            </a:avLst>
          </a:prstGeom>
          <a:solidFill>
            <a:srgbClr val="F2F9F6"/>
          </a:solidFill>
          <a:ln>
            <a:solidFill>
              <a:srgbClr val="1F7A5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9" name="TextBox 8"/>
          <p:cNvSpPr/>
          <p:nvPr/>
        </p:nvSpPr>
        <p:spPr>
          <a:xfrm>
            <a:off x="941760" y="5650920"/>
            <a:ext cx="10277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1F7A56"/>
                </a:solidFill>
                <a:effectLst/>
                <a:uFillTx/>
                <a:latin typeface="Aptos"/>
              </a:rPr>
              <a:t>Deliverable standard: another operator can execute it correctly without workshop context.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0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1" name="TextBox 2"/>
          <p:cNvSpPr/>
          <p:nvPr/>
        </p:nvSpPr>
        <p:spPr>
          <a:xfrm>
            <a:off x="567000" y="274320"/>
            <a:ext cx="11018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F374E"/>
                </a:solidFill>
                <a:effectLst/>
                <a:uFillTx/>
                <a:latin typeface="Aptos"/>
              </a:rPr>
              <a:t>Course summary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2" name="Rectangle 3"/>
          <p:cNvSpPr/>
          <p:nvPr/>
        </p:nvSpPr>
        <p:spPr>
          <a:xfrm>
            <a:off x="594360" y="868680"/>
            <a:ext cx="10972440" cy="13320"/>
          </a:xfrm>
          <a:prstGeom prst="rect">
            <a:avLst/>
          </a:prstGeom>
          <a:solidFill>
            <a:srgbClr val="D2D7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3" name="TextBox 4"/>
          <p:cNvSpPr/>
          <p:nvPr/>
        </p:nvSpPr>
        <p:spPr>
          <a:xfrm>
            <a:off x="594360" y="6537960"/>
            <a:ext cx="9875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4" name="TextBox 5"/>
          <p:cNvSpPr/>
          <p:nvPr/>
        </p:nvSpPr>
        <p:spPr>
          <a:xfrm>
            <a:off x="11109960" y="65106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B7280"/>
                </a:solidFill>
                <a:effectLst/>
                <a:uFillTx/>
                <a:latin typeface="Aptos"/>
              </a:rPr>
              <a:t>94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5" name="TextBox 6"/>
          <p:cNvSpPr/>
          <p:nvPr/>
        </p:nvSpPr>
        <p:spPr>
          <a:xfrm>
            <a:off x="685800" y="1170360"/>
            <a:ext cx="10789560" cy="507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18360" rIns="45720" bIns="45000" anchor="t">
            <a:spAutoFit/>
          </a:bodyPr>
          <a:p>
            <a:pPr defTabSz="457200">
              <a:lnSpc>
                <a:spcPct val="105000"/>
              </a:lnSpc>
              <a:spcAft>
                <a:spcPts val="700"/>
              </a:spcAft>
            </a:pPr>
            <a:r>
              <a:rPr lang="en-US" sz="182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Healthy components are proven separately; no single green signal proves the pipeline.</a:t>
            </a:r>
            <a:endParaRPr lang="en-US" sz="1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700"/>
              </a:spcAft>
            </a:pPr>
            <a:r>
              <a:rPr lang="en-US" sz="182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Offset movement distinguishes backlog, progress, stalls, and throughput deficits.</a:t>
            </a:r>
            <a:endParaRPr lang="en-US" sz="1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700"/>
              </a:spcAft>
            </a:pPr>
            <a:r>
              <a:rPr lang="en-US" sz="182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Query plans and examined:return ratios reveal inefficient MongoDB work even when latency is low.</a:t>
            </a:r>
            <a:endParaRPr lang="en-US" sz="1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700"/>
              </a:spcAft>
            </a:pPr>
            <a:r>
              <a:rPr lang="en-US" sz="182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Controlled changes start with a baseline and end with business-flow verification and a recorded rollback path.</a:t>
            </a:r>
            <a:endParaRPr lang="en-US" sz="1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700"/>
              </a:spcAft>
            </a:pPr>
            <a:r>
              <a:rPr lang="en-US" sz="182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DLQs preserve failures but require alerts, ownership, correction, replay controls, and audit.</a:t>
            </a:r>
            <a:endParaRPr lang="en-US" sz="1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700"/>
              </a:spcAft>
            </a:pPr>
            <a:r>
              <a:rPr lang="en-US" sz="1820" b="0" u="none" strike="noStrike">
                <a:solidFill>
                  <a:srgbClr val="1E293B"/>
                </a:solidFill>
                <a:effectLst/>
                <a:uFillTx/>
                <a:latin typeface="Aptos"/>
              </a:rPr>
              <a:t>Reconciliation is the control that detects semantic drift after availability and lag look normal.</a:t>
            </a:r>
            <a:endParaRPr lang="en-US" sz="1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6" name="Rounded Rectangle 7"/>
          <p:cNvSpPr/>
          <p:nvPr/>
        </p:nvSpPr>
        <p:spPr>
          <a:xfrm>
            <a:off x="777240" y="5577840"/>
            <a:ext cx="10606680" cy="502560"/>
          </a:xfrm>
          <a:prstGeom prst="roundRect">
            <a:avLst>
              <a:gd name="adj" fmla="val 16667"/>
            </a:avLst>
          </a:prstGeom>
          <a:solidFill>
            <a:srgbClr val="F2F9F6"/>
          </a:solidFill>
          <a:ln>
            <a:solidFill>
              <a:srgbClr val="1F7A5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7" name="TextBox 8"/>
          <p:cNvSpPr/>
          <p:nvPr/>
        </p:nvSpPr>
        <p:spPr>
          <a:xfrm>
            <a:off x="941760" y="5669280"/>
            <a:ext cx="10277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1" u="none" strike="noStrike">
                <a:solidFill>
                  <a:srgbClr val="1F7A56"/>
                </a:solidFill>
                <a:effectLst/>
                <a:uFillTx/>
                <a:latin typeface="Aptos"/>
              </a:rPr>
              <a:t>Operate from evidence. Change the smallest necessary scope. Verify the business outcome.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8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F37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9" name="TextBox 2"/>
          <p:cNvSpPr/>
          <p:nvPr/>
        </p:nvSpPr>
        <p:spPr>
          <a:xfrm>
            <a:off x="822960" y="1417320"/>
            <a:ext cx="105152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Questions and next steps</a:t>
            </a:r>
            <a:endParaRPr lang="en-US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0" name="TextBox 3"/>
          <p:cNvSpPr/>
          <p:nvPr/>
        </p:nvSpPr>
        <p:spPr>
          <a:xfrm>
            <a:off x="1234440" y="2788920"/>
            <a:ext cx="9692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E6F0FA"/>
                </a:solidFill>
                <a:effectLst/>
                <a:uFillTx/>
                <a:latin typeface="Aptos"/>
              </a:rPr>
              <a:t>Complete the labs, retain your evidence, and turn it into the operations runbook.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1" name="TextBox 4"/>
          <p:cNvSpPr/>
          <p:nvPr/>
        </p:nvSpPr>
        <p:spPr>
          <a:xfrm>
            <a:off x="1645920" y="5074920"/>
            <a:ext cx="8869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tIns="45000" rIns="4572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Monitoring MongoDB and Apache Kafka for Event-Driven Data Applications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</TotalTime>
  <Application>LibreOffice/26.2.5.2$Linux_X86_64 LibreOffice_project/620$Build-2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>Raphael Alampay</dc:creator>
  <dc:description>Generated from the draft course PDF and repository modules; includes MongoDB and Kafbat UI primers.</dc:description>
  <cp:keywords>MongoDB Apache Kafka Kafka Connect monitoring operations</cp:keywords>
  <dc:language>en-US</dc:language>
  <cp:lastModifiedBy/>
  <dcterms:modified xsi:type="dcterms:W3CDTF">2026-08-28T09:26:00Z</dcterms:modified>
  <cp:revision>2</cp:revision>
  <dc:subject>One-day course instructor deck</dc:subject>
  <dc:title>Monitoring MongoDB and Apache Kafka for Event-Driven Data Applications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